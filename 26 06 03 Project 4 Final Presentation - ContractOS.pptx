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0" r:id="rId5"/>
    <p:sldId id="261" r:id="rId6"/>
    <p:sldId id="263" r:id="rId7"/>
    <p:sldId id="264" r:id="rId8"/>
    <p:sldId id="265" r:id="rId9"/>
    <p:sldId id="267" r:id="rId10"/>
    <p:sldId id="270" r:id="rId11"/>
    <p:sldId id="271" r:id="rId12"/>
    <p:sldId id="268" r:id="rId13"/>
    <p:sldId id="269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208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22680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5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30768" y="4681728"/>
            <a:ext cx="53035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8430768" y="4681728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ContractOS</a:t>
            </a:r>
            <a:endParaRPr lang="en-US" sz="6800" dirty="0"/>
          </a:p>
        </p:txBody>
      </p:sp>
      <p:sp>
        <p:nvSpPr>
          <p:cNvPr id="5" name="Shape 3"/>
          <p:cNvSpPr/>
          <p:nvPr/>
        </p:nvSpPr>
        <p:spPr>
          <a:xfrm>
            <a:off x="548640" y="2176272"/>
            <a:ext cx="274320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548640" y="230428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A8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Contract &amp; Payroll Intelligence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272491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A8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Oracle Game Studio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2186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AA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Daria Bystrova &amp; Julian Granados  ·  SilverTrust  ·  Final Pitch — ContractOS v1.1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4005072"/>
            <a:ext cx="9144000" cy="1152144"/>
          </a:xfrm>
          <a:prstGeom prst="rect">
            <a:avLst/>
          </a:prstGeom>
          <a:solidFill>
            <a:srgbClr val="003FA8"/>
          </a:solidFill>
          <a:ln w="12700">
            <a:solidFill>
              <a:srgbClr val="003FA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201168" y="4114800"/>
            <a:ext cx="1371600" cy="914400"/>
          </a:xfrm>
          <a:prstGeom prst="rect">
            <a:avLst/>
          </a:prstGeom>
          <a:solidFill>
            <a:srgbClr val="1A50C0"/>
          </a:solidFill>
          <a:ln w="12700">
            <a:solidFill>
              <a:srgbClr val="3D6AD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201168" y="415137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1168" y="448056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&amp; Problem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682496" y="4114800"/>
            <a:ext cx="1371600" cy="914400"/>
          </a:xfrm>
          <a:prstGeom prst="rect">
            <a:avLst/>
          </a:prstGeom>
          <a:solidFill>
            <a:srgbClr val="1A50C0"/>
          </a:solidFill>
          <a:ln w="12700">
            <a:solidFill>
              <a:srgbClr val="3D6AD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1682496" y="415137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682496" y="448056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163824" y="4114800"/>
            <a:ext cx="1371600" cy="914400"/>
          </a:xfrm>
          <a:prstGeom prst="rect">
            <a:avLst/>
          </a:prstGeom>
          <a:solidFill>
            <a:srgbClr val="1A50C0"/>
          </a:solidFill>
          <a:ln w="12700">
            <a:solidFill>
              <a:srgbClr val="3D6AD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3163824" y="415137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163824" y="448056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45152" y="4114800"/>
            <a:ext cx="1371600" cy="914400"/>
          </a:xfrm>
          <a:prstGeom prst="rect">
            <a:avLst/>
          </a:prstGeom>
          <a:solidFill>
            <a:srgbClr val="1A50C0"/>
          </a:solidFill>
          <a:ln w="12700">
            <a:solidFill>
              <a:srgbClr val="3D6AD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4645152" y="415137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45152" y="448056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26480" y="4114800"/>
            <a:ext cx="1371600" cy="914400"/>
          </a:xfrm>
          <a:prstGeom prst="rect">
            <a:avLst/>
          </a:prstGeom>
          <a:solidFill>
            <a:srgbClr val="1A50C0"/>
          </a:solidFill>
          <a:ln w="12700">
            <a:solidFill>
              <a:srgbClr val="3D6AD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/>
          <p:nvPr/>
        </p:nvSpPr>
        <p:spPr>
          <a:xfrm>
            <a:off x="6126480" y="415137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26480" y="448056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607808" y="4114800"/>
            <a:ext cx="1371600" cy="914400"/>
          </a:xfrm>
          <a:prstGeom prst="rect">
            <a:avLst/>
          </a:prstGeom>
          <a:solidFill>
            <a:srgbClr val="2A6A30"/>
          </a:solidFill>
          <a:ln w="12700">
            <a:solidFill>
              <a:srgbClr val="3A804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7607808" y="415137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607808" y="448056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EE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Revised Proposal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180576" y="4114800"/>
            <a:ext cx="0" cy="0"/>
          </a:xfrm>
          <a:prstGeom prst="rect">
            <a:avLst/>
          </a:prstGeom>
          <a:noFill/>
          <a:ln/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/>
          <p:nvPr/>
        </p:nvSpPr>
        <p:spPr>
          <a:xfrm>
            <a:off x="182880" y="4864608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7AA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v1.1 = updated · green = new</a:t>
            </a:r>
            <a:endParaRPr lang="en-US" sz="850" dirty="0"/>
          </a:p>
        </p:txBody>
      </p:sp>
      <p:pic>
        <p:nvPicPr>
          <p:cNvPr id="1026" name="Picture 2" descr="Ironhack Reviews | Course Report">
            <a:extLst>
              <a:ext uri="{FF2B5EF4-FFF2-40B4-BE49-F238E27FC236}">
                <a16:creationId xmlns:a16="http://schemas.microsoft.com/office/drawing/2014/main" id="{B580192B-4FB5-8947-CF64-7E45CE8381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8021" y="1176718"/>
            <a:ext cx="1730759" cy="1871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 6">
            <a:extLst>
              <a:ext uri="{FF2B5EF4-FFF2-40B4-BE49-F238E27FC236}">
                <a16:creationId xmlns:a16="http://schemas.microsoft.com/office/drawing/2014/main" id="{1D036E98-97FF-AAD5-882A-C063CADDD848}"/>
              </a:ext>
            </a:extLst>
          </p:cNvPr>
          <p:cNvSpPr/>
          <p:nvPr/>
        </p:nvSpPr>
        <p:spPr>
          <a:xfrm>
            <a:off x="548640" y="3523297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7AAAEE"/>
                </a:solidFill>
                <a:latin typeface="Arial" pitchFamily="34" charset="0"/>
                <a:cs typeface="Arial" pitchFamily="34" charset="-120"/>
              </a:rPr>
              <a:t>03.06.2026</a:t>
            </a:r>
            <a:endParaRPr lang="en-US" sz="16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430768" y="4681728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&lt;#&gt;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7955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recommendation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261872"/>
            <a:ext cx="8229600" cy="566928"/>
          </a:xfrm>
          <a:prstGeom prst="rect">
            <a:avLst/>
          </a:prstGeom>
          <a:solidFill>
            <a:srgbClr val="E8F0FD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457200" y="1261872"/>
            <a:ext cx="45720" cy="566928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621792" y="1261872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i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Oracle's burn crisis is a cost visibility problem — ContractOS solves it with five AI agents that read every contract, catch every invoice error, and show exactly where the money is going.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196596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supporting arguments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359152"/>
            <a:ext cx="2633472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457200" y="2359152"/>
            <a:ext cx="2633472" cy="64008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Shape 11"/>
          <p:cNvSpPr/>
          <p:nvPr/>
        </p:nvSpPr>
        <p:spPr>
          <a:xfrm>
            <a:off x="1481328" y="2542032"/>
            <a:ext cx="585216" cy="585216"/>
          </a:xfrm>
          <a:prstGeom prst="ellipse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1481328" y="25420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85216" y="324612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is real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85216" y="3730752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pain points discovered blind — all confirmed by verbatim transcript. Revenue side cannot be fixed. Only lever is cost.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46120" y="2359152"/>
            <a:ext cx="2633472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8" name="Shape 16"/>
          <p:cNvSpPr/>
          <p:nvPr/>
        </p:nvSpPr>
        <p:spPr>
          <a:xfrm>
            <a:off x="3246120" y="2359152"/>
            <a:ext cx="2633472" cy="64008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Shape 17"/>
          <p:cNvSpPr/>
          <p:nvPr/>
        </p:nvSpPr>
        <p:spPr>
          <a:xfrm>
            <a:off x="4270248" y="2542032"/>
            <a:ext cx="585216" cy="585216"/>
          </a:xfrm>
          <a:prstGeom prst="ellipse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4270248" y="25420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374136" y="324612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 is defensible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374136" y="3730752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AI agents, one per capability. Human-in-the-loop technically enforced. EU AI Act minimal/limited risk.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035040" y="2359152"/>
            <a:ext cx="2633472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4" name="Shape 22"/>
          <p:cNvSpPr/>
          <p:nvPr/>
        </p:nvSpPr>
        <p:spPr>
          <a:xfrm>
            <a:off x="6035040" y="2359152"/>
            <a:ext cx="2633472" cy="64008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Shape 23"/>
          <p:cNvSpPr/>
          <p:nvPr/>
        </p:nvSpPr>
        <p:spPr>
          <a:xfrm>
            <a:off x="7059168" y="2542032"/>
            <a:ext cx="585216" cy="585216"/>
          </a:xfrm>
          <a:prstGeom prst="ellipse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7059168" y="25420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163056" y="324612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is observable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163056" y="3730752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LangSmith live — 6 runs complete, all 5 agents traced, PII redacted, full audit trail for regulators.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430768" y="4681728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7955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 has no visibility over where the money goes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Discovered blind — 10 indirect questions, 0 direct pain-point asks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CLIENT &amp; PROBLEM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7200" y="1261872"/>
            <a:ext cx="8229600" cy="384048"/>
          </a:xfrm>
          <a:prstGeom prst="rect">
            <a:avLst/>
          </a:prstGeom>
          <a:solidFill>
            <a:srgbClr val="E8F0FD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457200" y="1261872"/>
            <a:ext cx="45720" cy="384048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621792" y="126187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i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900 people · 5 jurisdictions · high burn · no contract register · no single cost view.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17830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 / CTO: </a:t>
            </a: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Eugen (CEO, co-founder)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18541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CFO: </a:t>
            </a: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Thibaud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58775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</a:t>
            </a: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~900 FTEs, part-time, contractors, interns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99008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Countries: </a:t>
            </a: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Russia · India · Pakistan · Bangladesh · Philippines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39242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Revenue: </a:t>
            </a: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B2C indie games, one-time purchase — no subscriptions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7947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Lever: </a:t>
            </a: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side is structurally fixed — only cost can move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178308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points uncovered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46320" y="2176272"/>
            <a:ext cx="182880" cy="1828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5120640" y="2157984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contract visibility — 900 contracts unread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46320" y="2514600"/>
            <a:ext cx="182880" cy="1828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5120640" y="2496312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invoicing — amounts not matching contracts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46320" y="2852928"/>
            <a:ext cx="182880" cy="1828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/>
          <p:nvPr/>
        </p:nvSpPr>
        <p:spPr>
          <a:xfrm>
            <a:off x="5120640" y="2834640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contractors — duplicate or inactive payments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46320" y="3191256"/>
            <a:ext cx="182880" cy="1828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5120640" y="3172968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Paying twice — contractor = internal role scope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46320" y="3529584"/>
            <a:ext cx="182880" cy="1828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Text 25"/>
          <p:cNvSpPr/>
          <p:nvPr/>
        </p:nvSpPr>
        <p:spPr>
          <a:xfrm>
            <a:off x="5120640" y="3511296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cost visibility — burn untraceable by category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46320" y="3867912"/>
            <a:ext cx="182880" cy="1828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/>
          <p:nvPr/>
        </p:nvSpPr>
        <p:spPr>
          <a:xfrm>
            <a:off x="5120640" y="3849624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Multi-country payroll bottleneck + intermediaries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46320" y="4206240"/>
            <a:ext cx="182880" cy="1828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1" name="Text 29"/>
          <p:cNvSpPr/>
          <p:nvPr/>
        </p:nvSpPr>
        <p:spPr>
          <a:xfrm>
            <a:off x="5120640" y="4187952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unknown — asked unprompted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846320" y="4544568"/>
            <a:ext cx="182880" cy="1828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3" name="Text 31"/>
          <p:cNvSpPr/>
          <p:nvPr/>
        </p:nvSpPr>
        <p:spPr>
          <a:xfrm>
            <a:off x="5120640" y="4526280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at risk — ambiguous contractor IP clauses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7955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ContractOS — five agents, one per capability, zero automated decisions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THE SOLUTION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261872"/>
            <a:ext cx="8229600" cy="420624"/>
          </a:xfrm>
          <a:prstGeom prst="rect">
            <a:avLst/>
          </a:prstGeom>
          <a:solidFill>
            <a:srgbClr val="E8F0FD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457200" y="1261872"/>
            <a:ext cx="45720" cy="420624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621792" y="1261872"/>
            <a:ext cx="7955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i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interface. Five AI agents orchestrated by LangGraph. Every output goes to a human before any action.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92608" y="1828800"/>
            <a:ext cx="1591056" cy="2852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292608" y="1828800"/>
            <a:ext cx="1591056" cy="54864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795528" y="1975104"/>
            <a:ext cx="585216" cy="585216"/>
          </a:xfrm>
          <a:prstGeom prst="ellipse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795528" y="197510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9184" y="2897924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9184" y="3409988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" y="3529584"/>
            <a:ext cx="144475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>
              <a:solidFill>
                <a:srgbClr val="4A4A4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ctr">
              <a:buNone/>
            </a:pPr>
            <a:endParaRPr lang="en-US" sz="800" dirty="0">
              <a:solidFill>
                <a:srgbClr val="4A4A4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ingests contracts, extracts JSON: name, role, rate, currency, jurisdiction, notice period, IP clause, GDPR clause, working arrangement. Output to Contract Register DB.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011680" y="1828800"/>
            <a:ext cx="1591056" cy="2852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8" name="Shape 16"/>
          <p:cNvSpPr/>
          <p:nvPr/>
        </p:nvSpPr>
        <p:spPr>
          <a:xfrm>
            <a:off x="2011680" y="1828800"/>
            <a:ext cx="1591056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Shape 17"/>
          <p:cNvSpPr/>
          <p:nvPr/>
        </p:nvSpPr>
        <p:spPr>
          <a:xfrm>
            <a:off x="2514600" y="1975104"/>
            <a:ext cx="585216" cy="58521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2514600" y="197510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304288" y="2670048"/>
            <a:ext cx="1005840" cy="219456"/>
          </a:xfrm>
          <a:prstGeom prst="rect">
            <a:avLst/>
          </a:prstGeom>
          <a:solidFill>
            <a:srgbClr val="FFF7ED"/>
          </a:solidFill>
          <a:ln w="12700">
            <a:solidFill>
              <a:srgbClr val="D97706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2304288" y="267004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UPDATED v1.1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084832" y="2926080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084832" y="3401568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084832" y="3675888"/>
            <a:ext cx="144475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Validates invoices vs contract terms. Flags amount, currency, scope mismatches. </a:t>
            </a:r>
            <a:r>
              <a:rPr lang="en-US" sz="800" b="1" u="sng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also</a:t>
            </a:r>
            <a:r>
              <a:rPr lang="en-US" sz="8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PO matching + local accounting rules per jurisdiction.</a:t>
            </a:r>
            <a:endParaRPr lang="en-US" sz="800" b="1" dirty="0"/>
          </a:p>
        </p:txBody>
      </p:sp>
      <p:sp>
        <p:nvSpPr>
          <p:cNvPr id="26" name="Shape 24"/>
          <p:cNvSpPr/>
          <p:nvPr/>
        </p:nvSpPr>
        <p:spPr>
          <a:xfrm>
            <a:off x="3730752" y="1828800"/>
            <a:ext cx="1591056" cy="2852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7" name="Shape 25"/>
          <p:cNvSpPr/>
          <p:nvPr/>
        </p:nvSpPr>
        <p:spPr>
          <a:xfrm>
            <a:off x="3730752" y="1828800"/>
            <a:ext cx="1591056" cy="54864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Shape 26"/>
          <p:cNvSpPr/>
          <p:nvPr/>
        </p:nvSpPr>
        <p:spPr>
          <a:xfrm>
            <a:off x="4233672" y="1975104"/>
            <a:ext cx="585216" cy="585216"/>
          </a:xfrm>
          <a:prstGeom prst="ellipse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/>
          <p:nvPr/>
        </p:nvSpPr>
        <p:spPr>
          <a:xfrm>
            <a:off x="4233672" y="197510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840480" y="2898648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840480" y="3410712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803904" y="3529584"/>
            <a:ext cx="144475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>
              <a:solidFill>
                <a:srgbClr val="4A4A4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ctr">
              <a:buNone/>
            </a:pPr>
            <a:endParaRPr lang="en-US" sz="800" dirty="0">
              <a:solidFill>
                <a:srgbClr val="4A4A4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similarity: contractor scope vs internal job roles. Flags pairs where overlap exceeds threshold. Output: overlap alert + estimated duplicate cost.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449824" y="1828800"/>
            <a:ext cx="1591056" cy="2852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4" name="Shape 32"/>
          <p:cNvSpPr/>
          <p:nvPr/>
        </p:nvSpPr>
        <p:spPr>
          <a:xfrm>
            <a:off x="5449824" y="1828800"/>
            <a:ext cx="1591056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5" name="Shape 33"/>
          <p:cNvSpPr/>
          <p:nvPr/>
        </p:nvSpPr>
        <p:spPr>
          <a:xfrm>
            <a:off x="5952744" y="1975104"/>
            <a:ext cx="585216" cy="58521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6" name="Text 34"/>
          <p:cNvSpPr/>
          <p:nvPr/>
        </p:nvSpPr>
        <p:spPr>
          <a:xfrm>
            <a:off x="5952744" y="197510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742432" y="2670048"/>
            <a:ext cx="1005840" cy="219456"/>
          </a:xfrm>
          <a:prstGeom prst="rect">
            <a:avLst/>
          </a:prstGeom>
          <a:solidFill>
            <a:srgbClr val="FFF7ED"/>
          </a:solidFill>
          <a:ln w="12700">
            <a:solidFill>
              <a:srgbClr val="D97706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8" name="Text 36"/>
          <p:cNvSpPr/>
          <p:nvPr/>
        </p:nvSpPr>
        <p:spPr>
          <a:xfrm>
            <a:off x="5742432" y="267004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UPDATED v1.1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522976" y="2926080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Flagging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522976" y="3401568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4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22976" y="3675888"/>
            <a:ext cx="144475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Red/Amber/Green per contract: GDPR, IP, misclassification (NL DBA, German rules). </a:t>
            </a:r>
            <a:r>
              <a:rPr lang="en-US" sz="800" b="1" u="sng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also:</a:t>
            </a:r>
            <a:r>
              <a:rPr lang="en-US" sz="8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EOR flag for countries where Oracle has no legal entity.</a:t>
            </a:r>
            <a:endParaRPr lang="en-US" sz="800" b="1" dirty="0"/>
          </a:p>
        </p:txBody>
      </p:sp>
      <p:sp>
        <p:nvSpPr>
          <p:cNvPr id="42" name="Shape 40"/>
          <p:cNvSpPr/>
          <p:nvPr/>
        </p:nvSpPr>
        <p:spPr>
          <a:xfrm>
            <a:off x="7168896" y="1828800"/>
            <a:ext cx="1591056" cy="2852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3" name="Shape 41"/>
          <p:cNvSpPr/>
          <p:nvPr/>
        </p:nvSpPr>
        <p:spPr>
          <a:xfrm>
            <a:off x="7168896" y="1828800"/>
            <a:ext cx="1591056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4" name="Shape 42"/>
          <p:cNvSpPr/>
          <p:nvPr/>
        </p:nvSpPr>
        <p:spPr>
          <a:xfrm>
            <a:off x="7671816" y="1975104"/>
            <a:ext cx="585216" cy="58521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5" name="Text 43"/>
          <p:cNvSpPr/>
          <p:nvPr/>
        </p:nvSpPr>
        <p:spPr>
          <a:xfrm>
            <a:off x="7671816" y="197510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7461504" y="2670048"/>
            <a:ext cx="1005840" cy="219456"/>
          </a:xfrm>
          <a:prstGeom prst="rect">
            <a:avLst/>
          </a:prstGeom>
          <a:solidFill>
            <a:srgbClr val="FFF7ED"/>
          </a:solidFill>
          <a:ln w="12700">
            <a:solidFill>
              <a:srgbClr val="D97706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7" name="Text 45"/>
          <p:cNvSpPr/>
          <p:nvPr/>
        </p:nvSpPr>
        <p:spPr>
          <a:xfrm>
            <a:off x="7461504" y="267004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UPDATED v1.1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7242048" y="2926080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Categorisation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242048" y="3401568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5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242048" y="3675888"/>
            <a:ext cx="144475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Categorises all spend by country, type, team, intermediary. </a:t>
            </a:r>
            <a:r>
              <a:rPr lang="en-US" sz="800" b="1" u="sng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includes</a:t>
            </a:r>
            <a:r>
              <a:rPr lang="en-US" sz="8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EOR fees + intermediary subcategories. Alert if intermediary &gt; 30% of country spend.</a:t>
            </a:r>
            <a:endParaRPr lang="en-US" sz="800" b="1" dirty="0"/>
          </a:p>
        </p:txBody>
      </p:sp>
      <p:sp>
        <p:nvSpPr>
          <p:cNvPr id="51" name="Shape 49"/>
          <p:cNvSpPr/>
          <p:nvPr/>
        </p:nvSpPr>
        <p:spPr>
          <a:xfrm>
            <a:off x="0" y="4809744"/>
            <a:ext cx="9144000" cy="347472"/>
          </a:xfrm>
          <a:prstGeom prst="rect">
            <a:avLst/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2" name="Shape 50"/>
          <p:cNvSpPr/>
          <p:nvPr/>
        </p:nvSpPr>
        <p:spPr>
          <a:xfrm>
            <a:off x="0" y="4809744"/>
            <a:ext cx="9144000" cy="365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3" name="Text 51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Human approves every flag before any payment is sent or any contractor is reclassified — this is technically enforced, not just policy.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430768" y="4681728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7955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only where language understanding is required — everything else is plain software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AI vs SOFTWARE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261872"/>
            <a:ext cx="8229600" cy="402336"/>
          </a:xfrm>
          <a:prstGeom prst="rect">
            <a:avLst/>
          </a:prstGeom>
          <a:solidFill>
            <a:srgbClr val="E8F0FD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457200" y="1261872"/>
            <a:ext cx="45720" cy="402336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621792" y="1261872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i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boundary is what keeps the system auditable, maintainable, and cost-efficient.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1773936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LLM reasoning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1773936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 software sufficient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157984"/>
            <a:ext cx="4023360" cy="457200"/>
          </a:xfrm>
          <a:prstGeom prst="rect">
            <a:avLst/>
          </a:prstGeom>
          <a:solidFill>
            <a:srgbClr val="E8F0FD"/>
          </a:solidFill>
          <a:ln w="12700">
            <a:solidFill>
              <a:srgbClr val="C5D9F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Shape 11"/>
          <p:cNvSpPr/>
          <p:nvPr/>
        </p:nvSpPr>
        <p:spPr>
          <a:xfrm>
            <a:off x="457200" y="2157984"/>
            <a:ext cx="45720" cy="457200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594360" y="2157984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Extracting data from unstructured multilingual contract templates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670048"/>
            <a:ext cx="4023360" cy="457200"/>
          </a:xfrm>
          <a:prstGeom prst="rect">
            <a:avLst/>
          </a:prstGeom>
          <a:solidFill>
            <a:srgbClr val="E8F0FD"/>
          </a:solidFill>
          <a:ln w="12700">
            <a:solidFill>
              <a:srgbClr val="C5D9F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Shape 14"/>
          <p:cNvSpPr/>
          <p:nvPr/>
        </p:nvSpPr>
        <p:spPr>
          <a:xfrm>
            <a:off x="457200" y="2670048"/>
            <a:ext cx="45720" cy="457200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594360" y="267004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Semantic overlap: contractor scope vs internal job role descriptions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182112"/>
            <a:ext cx="4023360" cy="457200"/>
          </a:xfrm>
          <a:prstGeom prst="rect">
            <a:avLst/>
          </a:prstGeom>
          <a:solidFill>
            <a:srgbClr val="E8F0FD"/>
          </a:solidFill>
          <a:ln w="12700">
            <a:solidFill>
              <a:srgbClr val="C5D9F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Shape 17"/>
          <p:cNvSpPr/>
          <p:nvPr/>
        </p:nvSpPr>
        <p:spPr>
          <a:xfrm>
            <a:off x="457200" y="3182112"/>
            <a:ext cx="45720" cy="457200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594360" y="3182112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Misclassification risk from natural language working arrangements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694176"/>
            <a:ext cx="4023360" cy="457200"/>
          </a:xfrm>
          <a:prstGeom prst="rect">
            <a:avLst/>
          </a:prstGeom>
          <a:solidFill>
            <a:srgbClr val="E8F0FD"/>
          </a:solidFill>
          <a:ln w="12700">
            <a:solidFill>
              <a:srgbClr val="C5D9F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Shape 20"/>
          <p:cNvSpPr/>
          <p:nvPr/>
        </p:nvSpPr>
        <p:spPr>
          <a:xfrm>
            <a:off x="457200" y="3694176"/>
            <a:ext cx="45720" cy="457200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/>
          <p:nvPr/>
        </p:nvSpPr>
        <p:spPr>
          <a:xfrm>
            <a:off x="594360" y="3694176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Missing clause detection using jurisdiction-specific legal knowledge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4206240"/>
            <a:ext cx="4023360" cy="457200"/>
          </a:xfrm>
          <a:prstGeom prst="rect">
            <a:avLst/>
          </a:prstGeom>
          <a:solidFill>
            <a:srgbClr val="E8F0FD"/>
          </a:solidFill>
          <a:ln w="12700">
            <a:solidFill>
              <a:srgbClr val="C5D9F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Shape 23"/>
          <p:cNvSpPr/>
          <p:nvPr/>
        </p:nvSpPr>
        <p:spPr>
          <a:xfrm>
            <a:off x="457200" y="4206240"/>
            <a:ext cx="45720" cy="457200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594360" y="420624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Invoice anomaly detection across inconsistent multilingual formats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54880" y="2157984"/>
            <a:ext cx="4023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Text 26"/>
          <p:cNvSpPr/>
          <p:nvPr/>
        </p:nvSpPr>
        <p:spPr>
          <a:xfrm>
            <a:off x="4892040" y="2157984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Structured database storage of extracted fields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54880" y="2670048"/>
            <a:ext cx="4023360" cy="457200"/>
          </a:xfrm>
          <a:prstGeom prst="rect">
            <a:avLst/>
          </a:prstGeom>
          <a:solidFill>
            <a:srgbClr val="F5F6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Text 28"/>
          <p:cNvSpPr/>
          <p:nvPr/>
        </p:nvSpPr>
        <p:spPr>
          <a:xfrm>
            <a:off x="4892040" y="267004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Cost dashboard charts and aggregation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54880" y="3182112"/>
            <a:ext cx="4023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2" name="Text 30"/>
          <p:cNvSpPr/>
          <p:nvPr/>
        </p:nvSpPr>
        <p:spPr>
          <a:xfrm>
            <a:off x="4892040" y="3182112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Payment routing via Wise API or local intermediary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754880" y="3694176"/>
            <a:ext cx="4023360" cy="457200"/>
          </a:xfrm>
          <a:prstGeom prst="rect">
            <a:avLst/>
          </a:prstGeom>
          <a:solidFill>
            <a:srgbClr val="F5F6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4" name="Text 32"/>
          <p:cNvSpPr/>
          <p:nvPr/>
        </p:nvSpPr>
        <p:spPr>
          <a:xfrm>
            <a:off x="4892040" y="3694176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Access control and role-based permissions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754880" y="4206240"/>
            <a:ext cx="4023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6" name="Text 34"/>
          <p:cNvSpPr/>
          <p:nvPr/>
        </p:nvSpPr>
        <p:spPr>
          <a:xfrm>
            <a:off x="4892040" y="420624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Audit trail logging and notification alerts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430768" y="4681728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7955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ContractOS is minimal/limited risk — justified, not asserted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COMPLIANCE — EU AI ACT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261872"/>
            <a:ext cx="8229600" cy="512064"/>
          </a:xfrm>
          <a:prstGeom prst="rect">
            <a:avLst/>
          </a:prstGeom>
          <a:solidFill>
            <a:srgbClr val="E8F0FD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457200" y="1261872"/>
            <a:ext cx="45720" cy="512064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621792" y="1261872"/>
            <a:ext cx="7955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i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agent executes a decision. Every output goes to a named human before action. This is what keeps the classification defensible.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1883664"/>
            <a:ext cx="3931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457200" y="1883664"/>
            <a:ext cx="393192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457200" y="188366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 RISK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" y="23957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extraction · Cost dashboard · Payment tracking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27614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Surfaces information only. No decisions affecting individuals.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00600" y="1883664"/>
            <a:ext cx="3931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Shape 14"/>
          <p:cNvSpPr/>
          <p:nvPr/>
        </p:nvSpPr>
        <p:spPr>
          <a:xfrm>
            <a:off x="4800600" y="1883664"/>
            <a:ext cx="3931920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4800600" y="188366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RISK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37760" y="23957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Overlap detection · Misclassification flagging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27614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Touches Annex III pt.4 territory — human legal review required before any reclassification.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342900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&amp; Obligations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822192"/>
            <a:ext cx="3931920" cy="1261872"/>
          </a:xfrm>
          <a:prstGeom prst="rect">
            <a:avLst/>
          </a:prstGeom>
          <a:solidFill>
            <a:srgbClr val="F5F6F8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2" name="Shape 20"/>
          <p:cNvSpPr/>
          <p:nvPr/>
        </p:nvSpPr>
        <p:spPr>
          <a:xfrm>
            <a:off x="457200" y="3822192"/>
            <a:ext cx="45720" cy="1261872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/>
          <p:nvPr/>
        </p:nvSpPr>
        <p:spPr>
          <a:xfrm>
            <a:off x="658368" y="387705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SilverTrust = PROVIDER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" y="42062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Maintain technical documentation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58368" y="44805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Implement quality management + logging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58368" y="47548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Ensure human oversight is technically enforced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00600" y="3822192"/>
            <a:ext cx="3931920" cy="1261872"/>
          </a:xfrm>
          <a:prstGeom prst="rect">
            <a:avLst/>
          </a:prstGeom>
          <a:solidFill>
            <a:srgbClr val="F5F6F8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8" name="Shape 26"/>
          <p:cNvSpPr/>
          <p:nvPr/>
        </p:nvSpPr>
        <p:spPr>
          <a:xfrm>
            <a:off x="4800600" y="3822192"/>
            <a:ext cx="45720" cy="1261872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/>
          <p:nvPr/>
        </p:nvSpPr>
        <p:spPr>
          <a:xfrm>
            <a:off x="5001768" y="387705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 Game Studio = DEPLOYER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01768" y="42062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Maintain human review for all flags before action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01768" y="44805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Inform workers AI analyses their contracts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01768" y="47548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Conduct own DPIA before deployment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430768" y="4681728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7955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data use has a named lawful basis — three LIAs completed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GDPR &amp; OTHER LAW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261872"/>
            <a:ext cx="8229600" cy="402336"/>
          </a:xfrm>
          <a:prstGeom prst="rect">
            <a:avLst/>
          </a:prstGeom>
          <a:solidFill>
            <a:srgbClr val="E8F0FD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457200" y="1261872"/>
            <a:ext cx="45720" cy="402336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621792" y="1261872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i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personal data leaves EU infrastructure. LLM processing runs under documented legitimate interest.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1773936"/>
            <a:ext cx="2788920" cy="347472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530352" y="1773936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data use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46120" y="1773936"/>
            <a:ext cx="1874520" cy="347472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3319272" y="1773936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Lawful basis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20640" y="1773936"/>
            <a:ext cx="1280160" cy="347472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5193792" y="177393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Article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0" y="1773936"/>
            <a:ext cx="2286000" cy="347472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6473952" y="177393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 / Action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157984"/>
            <a:ext cx="2788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530352" y="2157984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Employment contracts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46120" y="2157984"/>
            <a:ext cx="18745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3319272" y="2157984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performance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120640" y="2157984"/>
            <a:ext cx="12801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/>
          <p:nvPr/>
        </p:nvSpPr>
        <p:spPr>
          <a:xfrm>
            <a:off x="5193792" y="215798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6(1)(b)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0" y="2157984"/>
            <a:ext cx="22860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6473952" y="215798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consent needed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2523744"/>
            <a:ext cx="2788920" cy="347472"/>
          </a:xfrm>
          <a:prstGeom prst="rect">
            <a:avLst/>
          </a:prstGeom>
          <a:solidFill>
            <a:srgbClr val="F5F6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Text 25"/>
          <p:cNvSpPr/>
          <p:nvPr/>
        </p:nvSpPr>
        <p:spPr>
          <a:xfrm>
            <a:off x="530352" y="2523744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Payroll records &amp; invoices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46120" y="2523744"/>
            <a:ext cx="1874520" cy="347472"/>
          </a:xfrm>
          <a:prstGeom prst="rect">
            <a:avLst/>
          </a:prstGeom>
          <a:solidFill>
            <a:srgbClr val="F5F6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/>
          <p:nvPr/>
        </p:nvSpPr>
        <p:spPr>
          <a:xfrm>
            <a:off x="3319272" y="2523744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obligation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120640" y="2523744"/>
            <a:ext cx="1280160" cy="347472"/>
          </a:xfrm>
          <a:prstGeom prst="rect">
            <a:avLst/>
          </a:prstGeom>
          <a:solidFill>
            <a:srgbClr val="F5F6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1" name="Text 29"/>
          <p:cNvSpPr/>
          <p:nvPr/>
        </p:nvSpPr>
        <p:spPr>
          <a:xfrm>
            <a:off x="5193792" y="252374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6(1)(c)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00800" y="2523744"/>
            <a:ext cx="2286000" cy="347472"/>
          </a:xfrm>
          <a:prstGeom prst="rect">
            <a:avLst/>
          </a:prstGeom>
          <a:solidFill>
            <a:srgbClr val="F5F6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3" name="Text 31"/>
          <p:cNvSpPr/>
          <p:nvPr/>
        </p:nvSpPr>
        <p:spPr>
          <a:xfrm>
            <a:off x="6473952" y="252374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 + labour law retention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2889504"/>
            <a:ext cx="2788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5" name="Text 33"/>
          <p:cNvSpPr/>
          <p:nvPr/>
        </p:nvSpPr>
        <p:spPr>
          <a:xfrm>
            <a:off x="530352" y="2889504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contract processing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46120" y="2889504"/>
            <a:ext cx="18745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7" name="Text 35"/>
          <p:cNvSpPr/>
          <p:nvPr/>
        </p:nvSpPr>
        <p:spPr>
          <a:xfrm>
            <a:off x="3319272" y="2889504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Legitimate interest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120640" y="2889504"/>
            <a:ext cx="12801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9" name="Text 37"/>
          <p:cNvSpPr/>
          <p:nvPr/>
        </p:nvSpPr>
        <p:spPr>
          <a:xfrm>
            <a:off x="5193792" y="288950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6(1)(f)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400800" y="2889504"/>
            <a:ext cx="22860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1" name="Text 39"/>
          <p:cNvSpPr/>
          <p:nvPr/>
        </p:nvSpPr>
        <p:spPr>
          <a:xfrm>
            <a:off x="6473952" y="288950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LIA completed · EU infra · DPA signed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57200" y="3255264"/>
            <a:ext cx="2788920" cy="347472"/>
          </a:xfrm>
          <a:prstGeom prst="rect">
            <a:avLst/>
          </a:prstGeom>
          <a:solidFill>
            <a:srgbClr val="F5F6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3" name="Text 41"/>
          <p:cNvSpPr/>
          <p:nvPr/>
        </p:nvSpPr>
        <p:spPr>
          <a:xfrm>
            <a:off x="530352" y="3255264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LangSmith traces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246120" y="3255264"/>
            <a:ext cx="1874520" cy="347472"/>
          </a:xfrm>
          <a:prstGeom prst="rect">
            <a:avLst/>
          </a:prstGeom>
          <a:solidFill>
            <a:srgbClr val="F5F6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5" name="Text 43"/>
          <p:cNvSpPr/>
          <p:nvPr/>
        </p:nvSpPr>
        <p:spPr>
          <a:xfrm>
            <a:off x="3319272" y="3255264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Legitimate interest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120640" y="3255264"/>
            <a:ext cx="1280160" cy="347472"/>
          </a:xfrm>
          <a:prstGeom prst="rect">
            <a:avLst/>
          </a:prstGeom>
          <a:solidFill>
            <a:srgbClr val="F5F6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7" name="Text 45"/>
          <p:cNvSpPr/>
          <p:nvPr/>
        </p:nvSpPr>
        <p:spPr>
          <a:xfrm>
            <a:off x="5193792" y="325526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6(1)(f)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400800" y="3255264"/>
            <a:ext cx="2286000" cy="347472"/>
          </a:xfrm>
          <a:prstGeom prst="rect">
            <a:avLst/>
          </a:prstGeom>
          <a:solidFill>
            <a:srgbClr val="F5F6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9" name="Text 47"/>
          <p:cNvSpPr/>
          <p:nvPr/>
        </p:nvSpPr>
        <p:spPr>
          <a:xfrm>
            <a:off x="6473952" y="325526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PII redacted · 90-day retention max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57200" y="371246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Applicable Law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457200" y="409651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 DBA Act (2025):  </a:t>
            </a:r>
            <a:r>
              <a:rPr lang="en-US" sz="10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4 flags misclassification — human + legal review before reclassification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457200" y="433425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German BetrVG:  </a:t>
            </a:r>
            <a:r>
              <a:rPr lang="en-US" sz="10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council consulted before go-live — SilverTrust provides documentation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DPDP / Philippines DPA:  </a:t>
            </a:r>
            <a:r>
              <a:rPr lang="en-US" sz="10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stays EU-side — local counsel for processing obligations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457200" y="480974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Russia:  </a:t>
            </a:r>
            <a:r>
              <a:rPr lang="en-US" sz="10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of scope v1 — sanctions + data localisation require specialist legal advice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430768" y="4681728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7955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black box has windows — every AI decision is logged and auditable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MONITORING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261872"/>
            <a:ext cx="8229600" cy="475488"/>
          </a:xfrm>
          <a:prstGeom prst="rect">
            <a:avLst/>
          </a:prstGeom>
          <a:solidFill>
            <a:srgbClr val="E8F0FD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457200" y="1261872"/>
            <a:ext cx="45720" cy="475488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621792" y="1261872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i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 regulator asks what happened with a specific contractor, we show the complete chain in under five minutes.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1847088"/>
            <a:ext cx="4023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457200" y="1847088"/>
            <a:ext cx="45720" cy="530352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621792" y="1847088"/>
            <a:ext cx="3730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 confidence  </a:t>
            </a: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&lt; 0.80 on rate, jurisdiction, IP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450592"/>
            <a:ext cx="4023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4" name="Shape 12"/>
          <p:cNvSpPr/>
          <p:nvPr/>
        </p:nvSpPr>
        <p:spPr>
          <a:xfrm>
            <a:off x="457200" y="2450592"/>
            <a:ext cx="45720" cy="530352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621792" y="2450592"/>
            <a:ext cx="3730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override rate  </a:t>
            </a: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&gt; 20% in 7-day window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054096"/>
            <a:ext cx="4023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" name="Shape 15"/>
          <p:cNvSpPr/>
          <p:nvPr/>
        </p:nvSpPr>
        <p:spPr>
          <a:xfrm>
            <a:off x="457200" y="3054096"/>
            <a:ext cx="45720" cy="530352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621792" y="3054096"/>
            <a:ext cx="3730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 per agent  </a:t>
            </a: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p95 &gt; 30 seconds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1847088"/>
            <a:ext cx="4023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0" name="Shape 18"/>
          <p:cNvSpPr/>
          <p:nvPr/>
        </p:nvSpPr>
        <p:spPr>
          <a:xfrm>
            <a:off x="4663440" y="1847088"/>
            <a:ext cx="45720" cy="530352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4828032" y="1847088"/>
            <a:ext cx="3730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Failed extractions  </a:t>
            </a: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tolerance — immediate alert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2450592"/>
            <a:ext cx="4023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3" name="Shape 21"/>
          <p:cNvSpPr/>
          <p:nvPr/>
        </p:nvSpPr>
        <p:spPr>
          <a:xfrm>
            <a:off x="4663440" y="2450592"/>
            <a:ext cx="45720" cy="530352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4828032" y="2450592"/>
            <a:ext cx="3730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flag trend  </a:t>
            </a: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if Red &gt; 10% of new contracts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3054096"/>
            <a:ext cx="4023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6" name="Shape 24"/>
          <p:cNvSpPr/>
          <p:nvPr/>
        </p:nvSpPr>
        <p:spPr>
          <a:xfrm>
            <a:off x="4663440" y="3054096"/>
            <a:ext cx="45720" cy="530352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Text 25"/>
          <p:cNvSpPr/>
          <p:nvPr/>
        </p:nvSpPr>
        <p:spPr>
          <a:xfrm>
            <a:off x="4828032" y="3054096"/>
            <a:ext cx="3730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PII redaction audit  </a:t>
            </a: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— zero tolerance for PII in traces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730752"/>
            <a:ext cx="8229600" cy="1316736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Shape 27"/>
          <p:cNvSpPr/>
          <p:nvPr/>
        </p:nvSpPr>
        <p:spPr>
          <a:xfrm>
            <a:off x="457200" y="3730752"/>
            <a:ext cx="45720" cy="131673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Text 28"/>
          <p:cNvSpPr/>
          <p:nvPr/>
        </p:nvSpPr>
        <p:spPr>
          <a:xfrm>
            <a:off x="640080" y="3785616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Live — contractos-oracle-prod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" y="413308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runs complete  ·  All 5 agents traced  ·  EU endpoint: eu.api.smith.langchain.com  ·  PII redacted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0080" y="4425696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"Here is where you can see everything the AI did, catch a mistake before it costs you money, and prove to an auditor what happened — in under five minutes."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A3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430768" y="4681728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548640" y="2212848"/>
            <a:ext cx="274320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548640" y="234086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 approved v1.0 — seven change requests addressed in v1.1.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3977640" cy="365760"/>
          </a:xfrm>
          <a:prstGeom prst="rect">
            <a:avLst/>
          </a:prstGeom>
          <a:solidFill>
            <a:srgbClr val="1A7A3C"/>
          </a:solidFill>
          <a:ln w="12700">
            <a:solidFill>
              <a:srgbClr val="2A9A4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658368" y="2834640"/>
            <a:ext cx="3758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0EE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CR-01  </a:t>
            </a: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EOR coverage</a:t>
            </a:r>
            <a:r>
              <a:rPr lang="en-US" sz="1100" b="1" dirty="0">
                <a:solidFill>
                  <a:srgbClr val="90EE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Now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273552"/>
            <a:ext cx="3977640" cy="365760"/>
          </a:xfrm>
          <a:prstGeom prst="rect">
            <a:avLst/>
          </a:prstGeom>
          <a:solidFill>
            <a:srgbClr val="1A7A3C"/>
          </a:solidFill>
          <a:ln w="12700">
            <a:solidFill>
              <a:srgbClr val="2A9A4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658368" y="3273552"/>
            <a:ext cx="3758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0EE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CR-02  </a:t>
            </a: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registration</a:t>
            </a:r>
            <a:r>
              <a:rPr lang="en-US" sz="1100" b="1" dirty="0">
                <a:solidFill>
                  <a:srgbClr val="90EE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Phase 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712464"/>
            <a:ext cx="3977640" cy="365760"/>
          </a:xfrm>
          <a:prstGeom prst="rect">
            <a:avLst/>
          </a:prstGeom>
          <a:solidFill>
            <a:srgbClr val="1A7A3C"/>
          </a:solidFill>
          <a:ln w="12700">
            <a:solidFill>
              <a:srgbClr val="2A9A4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658368" y="3712464"/>
            <a:ext cx="3758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0EE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CR-03  </a:t>
            </a: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generation</a:t>
            </a:r>
            <a:r>
              <a:rPr lang="en-US" sz="1100" b="1" dirty="0">
                <a:solidFill>
                  <a:srgbClr val="90EE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Phase 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151376"/>
            <a:ext cx="3977640" cy="365760"/>
          </a:xfrm>
          <a:prstGeom prst="rect">
            <a:avLst/>
          </a:prstGeom>
          <a:solidFill>
            <a:srgbClr val="1A7A3C"/>
          </a:solidFill>
          <a:ln w="12700">
            <a:solidFill>
              <a:srgbClr val="2A9A4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658368" y="4151376"/>
            <a:ext cx="3758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0EE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CR-04  </a:t>
            </a: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 matching</a:t>
            </a:r>
            <a:r>
              <a:rPr lang="en-US" sz="1100" b="1" dirty="0">
                <a:solidFill>
                  <a:srgbClr val="90EE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Now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2834640"/>
            <a:ext cx="3977640" cy="365760"/>
          </a:xfrm>
          <a:prstGeom prst="rect">
            <a:avLst/>
          </a:prstGeom>
          <a:solidFill>
            <a:srgbClr val="1A7A3C"/>
          </a:solidFill>
          <a:ln w="12700">
            <a:solidFill>
              <a:srgbClr val="2A9A4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4864608" y="2834640"/>
            <a:ext cx="3758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0EE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CR-05  </a:t>
            </a: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Accounting rules</a:t>
            </a:r>
            <a:r>
              <a:rPr lang="en-US" sz="1100" b="1" dirty="0">
                <a:solidFill>
                  <a:srgbClr val="90EE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Now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3273552"/>
            <a:ext cx="3977640" cy="365760"/>
          </a:xfrm>
          <a:prstGeom prst="rect">
            <a:avLst/>
          </a:prstGeom>
          <a:solidFill>
            <a:srgbClr val="1A7A3C"/>
          </a:solidFill>
          <a:ln w="12700">
            <a:solidFill>
              <a:srgbClr val="2A9A4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4864608" y="3273552"/>
            <a:ext cx="3758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0EE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CR-06  </a:t>
            </a: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Intermediary costs</a:t>
            </a:r>
            <a:r>
              <a:rPr lang="en-US" sz="1100" b="1" dirty="0">
                <a:solidFill>
                  <a:srgbClr val="90EE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Now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712464"/>
            <a:ext cx="3977640" cy="365760"/>
          </a:xfrm>
          <a:prstGeom prst="rect">
            <a:avLst/>
          </a:prstGeom>
          <a:solidFill>
            <a:srgbClr val="1A7A3C"/>
          </a:solidFill>
          <a:ln w="12700">
            <a:solidFill>
              <a:srgbClr val="2A9A4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4864608" y="3712464"/>
            <a:ext cx="3758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0EE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CR-07  </a:t>
            </a: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Multilingual QA</a:t>
            </a:r>
            <a:r>
              <a:rPr lang="en-US" sz="1100" b="1" dirty="0">
                <a:solidFill>
                  <a:srgbClr val="90EE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Now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430768" y="4681728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7955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log — request → action → why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CHANGE LOG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261872"/>
            <a:ext cx="8229600" cy="402336"/>
          </a:xfrm>
          <a:prstGeom prst="rect">
            <a:avLst/>
          </a:prstGeom>
          <a:solidFill>
            <a:srgbClr val="E8F0FD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457200" y="1261872"/>
            <a:ext cx="45720" cy="402336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621792" y="1261872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i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accepted (Phase 1), two scoped (Phase 2), two push-backs. Every decision has a reason.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1755648"/>
            <a:ext cx="1234440" cy="310896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512064" y="1755648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737360" y="1755648"/>
            <a:ext cx="1783080" cy="310896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1792224" y="175564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566160" y="1755648"/>
            <a:ext cx="2331720" cy="310896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3621024" y="175564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0" y="1755648"/>
            <a:ext cx="2743200" cy="310896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5998464" y="175564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103120"/>
            <a:ext cx="1234440" cy="301752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Shape 17"/>
          <p:cNvSpPr/>
          <p:nvPr/>
        </p:nvSpPr>
        <p:spPr>
          <a:xfrm>
            <a:off x="1737360" y="2103120"/>
            <a:ext cx="1783080" cy="301752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Shape 18"/>
          <p:cNvSpPr/>
          <p:nvPr/>
        </p:nvSpPr>
        <p:spPr>
          <a:xfrm>
            <a:off x="3566160" y="2103120"/>
            <a:ext cx="2331720" cy="301752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Shape 19"/>
          <p:cNvSpPr/>
          <p:nvPr/>
        </p:nvSpPr>
        <p:spPr>
          <a:xfrm>
            <a:off x="5943600" y="2103120"/>
            <a:ext cx="2743200" cy="301752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Shape 20"/>
          <p:cNvSpPr/>
          <p:nvPr/>
        </p:nvSpPr>
        <p:spPr>
          <a:xfrm>
            <a:off x="457200" y="2103120"/>
            <a:ext cx="36576" cy="3017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/>
          <p:nvPr/>
        </p:nvSpPr>
        <p:spPr>
          <a:xfrm>
            <a:off x="530352" y="2103120"/>
            <a:ext cx="1124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CR-01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792224" y="2103120"/>
            <a:ext cx="1691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Accepted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21024" y="2103120"/>
            <a:ext cx="2240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EOR flag → Agent 4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EOR fees → Agent 5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998464" y="2103120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 has no entity in 5 countries — this was a gap in v1.0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57200" y="2423160"/>
            <a:ext cx="123444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Shape 26"/>
          <p:cNvSpPr/>
          <p:nvPr/>
        </p:nvSpPr>
        <p:spPr>
          <a:xfrm>
            <a:off x="1737360" y="2423160"/>
            <a:ext cx="178308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Shape 27"/>
          <p:cNvSpPr/>
          <p:nvPr/>
        </p:nvSpPr>
        <p:spPr>
          <a:xfrm>
            <a:off x="3566160" y="2423160"/>
            <a:ext cx="233172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Shape 28"/>
          <p:cNvSpPr/>
          <p:nvPr/>
        </p:nvSpPr>
        <p:spPr>
          <a:xfrm>
            <a:off x="5943600" y="2423160"/>
            <a:ext cx="274320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1" name="Shape 29"/>
          <p:cNvSpPr/>
          <p:nvPr/>
        </p:nvSpPr>
        <p:spPr>
          <a:xfrm>
            <a:off x="457200" y="2423160"/>
            <a:ext cx="36576" cy="3017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2" name="Text 30"/>
          <p:cNvSpPr/>
          <p:nvPr/>
        </p:nvSpPr>
        <p:spPr>
          <a:xfrm>
            <a:off x="530352" y="2423160"/>
            <a:ext cx="1124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CR-04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792224" y="2423160"/>
            <a:ext cx="1691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Accepted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621024" y="2423160"/>
            <a:ext cx="2240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2: three-way match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(invoice + contract + PO)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998464" y="2423160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 issues POs; contract-only match misses a real mismatch vector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57200" y="2743200"/>
            <a:ext cx="1234440" cy="301752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7" name="Shape 35"/>
          <p:cNvSpPr/>
          <p:nvPr/>
        </p:nvSpPr>
        <p:spPr>
          <a:xfrm>
            <a:off x="1737360" y="2743200"/>
            <a:ext cx="1783080" cy="301752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8" name="Shape 36"/>
          <p:cNvSpPr/>
          <p:nvPr/>
        </p:nvSpPr>
        <p:spPr>
          <a:xfrm>
            <a:off x="3566160" y="2743200"/>
            <a:ext cx="2331720" cy="301752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9" name="Shape 37"/>
          <p:cNvSpPr/>
          <p:nvPr/>
        </p:nvSpPr>
        <p:spPr>
          <a:xfrm>
            <a:off x="5943600" y="2743200"/>
            <a:ext cx="2743200" cy="301752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0" name="Shape 38"/>
          <p:cNvSpPr/>
          <p:nvPr/>
        </p:nvSpPr>
        <p:spPr>
          <a:xfrm>
            <a:off x="457200" y="2743200"/>
            <a:ext cx="36576" cy="3017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1" name="Text 39"/>
          <p:cNvSpPr/>
          <p:nvPr/>
        </p:nvSpPr>
        <p:spPr>
          <a:xfrm>
            <a:off x="530352" y="2743200"/>
            <a:ext cx="1124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CR-05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792224" y="2743200"/>
            <a:ext cx="1691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Accepted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621024" y="2743200"/>
            <a:ext cx="2240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2: local accounting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thresholds per jurisdiction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998464" y="2743200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invoice = opex in Germany, capex in India — must flag before payment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57200" y="3063240"/>
            <a:ext cx="123444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6" name="Shape 44"/>
          <p:cNvSpPr/>
          <p:nvPr/>
        </p:nvSpPr>
        <p:spPr>
          <a:xfrm>
            <a:off x="1737360" y="3063240"/>
            <a:ext cx="178308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7" name="Shape 45"/>
          <p:cNvSpPr/>
          <p:nvPr/>
        </p:nvSpPr>
        <p:spPr>
          <a:xfrm>
            <a:off x="3566160" y="3063240"/>
            <a:ext cx="233172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8" name="Shape 46"/>
          <p:cNvSpPr/>
          <p:nvPr/>
        </p:nvSpPr>
        <p:spPr>
          <a:xfrm>
            <a:off x="5943600" y="3063240"/>
            <a:ext cx="274320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9" name="Shape 47"/>
          <p:cNvSpPr/>
          <p:nvPr/>
        </p:nvSpPr>
        <p:spPr>
          <a:xfrm>
            <a:off x="457200" y="3063240"/>
            <a:ext cx="36576" cy="3017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0" name="Text 48"/>
          <p:cNvSpPr/>
          <p:nvPr/>
        </p:nvSpPr>
        <p:spPr>
          <a:xfrm>
            <a:off x="530352" y="3063240"/>
            <a:ext cx="1124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CR-06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792224" y="3063240"/>
            <a:ext cx="1691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Accepted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621024" y="3063240"/>
            <a:ext cx="2240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Intermediary tracking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2 + Agent 5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5998464" y="3063240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47% of burn through agencies — visible in data, should have been in v1.0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57200" y="3383280"/>
            <a:ext cx="1234440" cy="301752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5" name="Shape 53"/>
          <p:cNvSpPr/>
          <p:nvPr/>
        </p:nvSpPr>
        <p:spPr>
          <a:xfrm>
            <a:off x="1737360" y="3383280"/>
            <a:ext cx="1783080" cy="301752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6" name="Shape 54"/>
          <p:cNvSpPr/>
          <p:nvPr/>
        </p:nvSpPr>
        <p:spPr>
          <a:xfrm>
            <a:off x="3566160" y="3383280"/>
            <a:ext cx="2331720" cy="301752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7" name="Shape 55"/>
          <p:cNvSpPr/>
          <p:nvPr/>
        </p:nvSpPr>
        <p:spPr>
          <a:xfrm>
            <a:off x="5943600" y="3383280"/>
            <a:ext cx="2743200" cy="301752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8" name="Shape 56"/>
          <p:cNvSpPr/>
          <p:nvPr/>
        </p:nvSpPr>
        <p:spPr>
          <a:xfrm>
            <a:off x="457200" y="3383280"/>
            <a:ext cx="36576" cy="3017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9" name="Text 57"/>
          <p:cNvSpPr/>
          <p:nvPr/>
        </p:nvSpPr>
        <p:spPr>
          <a:xfrm>
            <a:off x="530352" y="3383280"/>
            <a:ext cx="1124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CR-07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1792224" y="3383280"/>
            <a:ext cx="1691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Accepted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3621024" y="3383280"/>
            <a:ext cx="2240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 3-phase multilingual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plan, 7 languages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5998464" y="3383280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Informal confidence ≠ compliance measure. GDPR requires documented safeguards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457200" y="3703320"/>
            <a:ext cx="123444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4" name="Shape 62"/>
          <p:cNvSpPr/>
          <p:nvPr/>
        </p:nvSpPr>
        <p:spPr>
          <a:xfrm>
            <a:off x="1737360" y="3703320"/>
            <a:ext cx="178308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5" name="Shape 63"/>
          <p:cNvSpPr/>
          <p:nvPr/>
        </p:nvSpPr>
        <p:spPr>
          <a:xfrm>
            <a:off x="3566160" y="3703320"/>
            <a:ext cx="233172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6" name="Shape 64"/>
          <p:cNvSpPr/>
          <p:nvPr/>
        </p:nvSpPr>
        <p:spPr>
          <a:xfrm>
            <a:off x="5943600" y="3703320"/>
            <a:ext cx="274320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7" name="Shape 65"/>
          <p:cNvSpPr/>
          <p:nvPr/>
        </p:nvSpPr>
        <p:spPr>
          <a:xfrm>
            <a:off x="457200" y="3703320"/>
            <a:ext cx="36576" cy="3017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8" name="Text 66"/>
          <p:cNvSpPr/>
          <p:nvPr/>
        </p:nvSpPr>
        <p:spPr>
          <a:xfrm>
            <a:off x="530352" y="3703320"/>
            <a:ext cx="1124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CR-02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1792224" y="3703320"/>
            <a:ext cx="1691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⏳ Phase 2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3621024" y="3703320"/>
            <a:ext cx="2240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registration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per country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5998464" y="3703320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Feasible — legal review per jurisdiction required before automating filings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457200" y="4023360"/>
            <a:ext cx="1234440" cy="301752"/>
          </a:xfrm>
          <a:prstGeom prst="rect">
            <a:avLst/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3" name="Shape 71"/>
          <p:cNvSpPr/>
          <p:nvPr/>
        </p:nvSpPr>
        <p:spPr>
          <a:xfrm>
            <a:off x="1737360" y="4023360"/>
            <a:ext cx="1783080" cy="301752"/>
          </a:xfrm>
          <a:prstGeom prst="rect">
            <a:avLst/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4" name="Shape 72"/>
          <p:cNvSpPr/>
          <p:nvPr/>
        </p:nvSpPr>
        <p:spPr>
          <a:xfrm>
            <a:off x="3566160" y="4023360"/>
            <a:ext cx="2331720" cy="301752"/>
          </a:xfrm>
          <a:prstGeom prst="rect">
            <a:avLst/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5" name="Shape 73"/>
          <p:cNvSpPr/>
          <p:nvPr/>
        </p:nvSpPr>
        <p:spPr>
          <a:xfrm>
            <a:off x="5943600" y="4023360"/>
            <a:ext cx="2743200" cy="301752"/>
          </a:xfrm>
          <a:prstGeom prst="rect">
            <a:avLst/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6" name="Shape 74"/>
          <p:cNvSpPr/>
          <p:nvPr/>
        </p:nvSpPr>
        <p:spPr>
          <a:xfrm>
            <a:off x="457200" y="4023360"/>
            <a:ext cx="36576" cy="3017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7" name="Text 75"/>
          <p:cNvSpPr/>
          <p:nvPr/>
        </p:nvSpPr>
        <p:spPr>
          <a:xfrm>
            <a:off x="530352" y="4023360"/>
            <a:ext cx="1124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CR-03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1792224" y="4023360"/>
            <a:ext cx="1691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⏳ Phase 2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3621024" y="4023360"/>
            <a:ext cx="2240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generation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(pre-signature)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5998464" y="4023360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Scoped and agreed. Compliance research required before commitment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457200" y="4343400"/>
            <a:ext cx="123444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2" name="Shape 80"/>
          <p:cNvSpPr/>
          <p:nvPr/>
        </p:nvSpPr>
        <p:spPr>
          <a:xfrm>
            <a:off x="1737360" y="4343400"/>
            <a:ext cx="178308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3" name="Shape 81"/>
          <p:cNvSpPr/>
          <p:nvPr/>
        </p:nvSpPr>
        <p:spPr>
          <a:xfrm>
            <a:off x="3566160" y="4343400"/>
            <a:ext cx="233172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4" name="Shape 82"/>
          <p:cNvSpPr/>
          <p:nvPr/>
        </p:nvSpPr>
        <p:spPr>
          <a:xfrm>
            <a:off x="5943600" y="4343400"/>
            <a:ext cx="274320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5" name="Shape 83"/>
          <p:cNvSpPr/>
          <p:nvPr/>
        </p:nvSpPr>
        <p:spPr>
          <a:xfrm>
            <a:off x="457200" y="4343400"/>
            <a:ext cx="36576" cy="3017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6" name="Text 84"/>
          <p:cNvSpPr/>
          <p:nvPr/>
        </p:nvSpPr>
        <p:spPr>
          <a:xfrm>
            <a:off x="530352" y="4343400"/>
            <a:ext cx="1124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Auto-sign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1792224" y="4343400"/>
            <a:ext cx="1691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Rejected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3621024" y="4343400"/>
            <a:ext cx="2240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contract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signature</a:t>
            </a:r>
            <a:endParaRPr lang="en-US" sz="850" dirty="0"/>
          </a:p>
        </p:txBody>
      </p:sp>
      <p:sp>
        <p:nvSpPr>
          <p:cNvPr id="89" name="Text 87"/>
          <p:cNvSpPr/>
          <p:nvPr/>
        </p:nvSpPr>
        <p:spPr>
          <a:xfrm>
            <a:off x="5998464" y="4343400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Multi-jurisdictional employment contracts require human review — legal risk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430768" y="4681728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THE REVISED ASK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91440"/>
            <a:ext cx="7955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The Revised Ask — ContractOS v1.1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8229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530352" y="1216152"/>
            <a:ext cx="310896" cy="31089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530352" y="1216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87552" y="1143000"/>
            <a:ext cx="7607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ContractOS v1.0 approved — five agents, compliance, LangSmith monitoring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664208"/>
            <a:ext cx="8229600" cy="457200"/>
          </a:xfrm>
          <a:prstGeom prst="rect">
            <a:avLst/>
          </a:prstGeom>
          <a:solidFill>
            <a:srgbClr val="F5F6F8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530352" y="1737360"/>
            <a:ext cx="310896" cy="31089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530352" y="1737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87552" y="1664208"/>
            <a:ext cx="7607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change requests received and documented — all addressed in this revised proposal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185416"/>
            <a:ext cx="8229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Shape 14"/>
          <p:cNvSpPr/>
          <p:nvPr/>
        </p:nvSpPr>
        <p:spPr>
          <a:xfrm>
            <a:off x="530352" y="2258568"/>
            <a:ext cx="310896" cy="310896"/>
          </a:xfrm>
          <a:prstGeom prst="ellipse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530352" y="2258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87552" y="2185416"/>
            <a:ext cx="7607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enhancements ready: EOR flagging · PO matching · intermediary cost tracking · accounting rules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706624"/>
            <a:ext cx="8229600" cy="457200"/>
          </a:xfrm>
          <a:prstGeom prst="rect">
            <a:avLst/>
          </a:prstGeom>
          <a:solidFill>
            <a:srgbClr val="F5F6F8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0" name="Shape 18"/>
          <p:cNvSpPr/>
          <p:nvPr/>
        </p:nvSpPr>
        <p:spPr>
          <a:xfrm>
            <a:off x="530352" y="2779776"/>
            <a:ext cx="310896" cy="31089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530352" y="27797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87552" y="2706624"/>
            <a:ext cx="7607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scoped: social registration automation + contract generation workflow (post go-live)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227832"/>
            <a:ext cx="8229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4" name="Shape 22"/>
          <p:cNvSpPr/>
          <p:nvPr/>
        </p:nvSpPr>
        <p:spPr>
          <a:xfrm>
            <a:off x="530352" y="3300984"/>
            <a:ext cx="310896" cy="310896"/>
          </a:xfrm>
          <a:prstGeom prst="ellipse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530352" y="3300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87552" y="3227832"/>
            <a:ext cx="7607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Multilingual QA plan formalised: 3 phases, acceptance criteria per language, 7 languages covered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solidFill>
            <a:srgbClr val="F5F6F8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8" name="Shape 26"/>
          <p:cNvSpPr/>
          <p:nvPr/>
        </p:nvSpPr>
        <p:spPr>
          <a:xfrm>
            <a:off x="530352" y="3822192"/>
            <a:ext cx="310896" cy="31089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/>
          <p:nvPr/>
        </p:nvSpPr>
        <p:spPr>
          <a:xfrm>
            <a:off x="530352" y="3822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87552" y="3749040"/>
            <a:ext cx="7607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Auto-signing out of scope — human signature always required — accepted by client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0" y="4242816"/>
            <a:ext cx="9144000" cy="640080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2" name="Text 30"/>
          <p:cNvSpPr/>
          <p:nvPr/>
        </p:nvSpPr>
        <p:spPr>
          <a:xfrm>
            <a:off x="457200" y="4242816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you approve ContractOS v1.1 for Oracle Game Studio?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430768" y="4681728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7955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Annex Phase 1 — immediate enhancements to existing agents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change requests, no new agents required, ready for v1.1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REVISED PROPOSAL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7200" y="1261872"/>
            <a:ext cx="8229600" cy="420624"/>
          </a:xfrm>
          <a:prstGeom prst="rect">
            <a:avLst/>
          </a:prstGeom>
          <a:solidFill>
            <a:srgbClr val="E8F0FD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457200" y="1261872"/>
            <a:ext cx="45720" cy="420624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621792" y="1261872"/>
            <a:ext cx="7955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i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2, 4, and 5 extended. Nothing removed. Classification unchanged — all outputs still go to human review.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1828800"/>
            <a:ext cx="822960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457200" y="1828800"/>
            <a:ext cx="45720" cy="877824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Shape 11"/>
          <p:cNvSpPr/>
          <p:nvPr/>
        </p:nvSpPr>
        <p:spPr>
          <a:xfrm>
            <a:off x="457200" y="1828800"/>
            <a:ext cx="1097280" cy="877824"/>
          </a:xfrm>
          <a:prstGeom prst="rect">
            <a:avLst/>
          </a:prstGeom>
          <a:solidFill>
            <a:srgbClr val="E8F0FD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475488" y="1901952"/>
            <a:ext cx="1060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" y="2286000"/>
            <a:ext cx="1060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CR-01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627632" y="1901952"/>
            <a:ext cx="1005840" cy="219456"/>
          </a:xfrm>
          <a:prstGeom prst="rect">
            <a:avLst/>
          </a:prstGeom>
          <a:solidFill>
            <a:srgbClr val="E8F0FD"/>
          </a:solidFill>
          <a:ln w="12700">
            <a:solidFill>
              <a:srgbClr val="005AEE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1627632" y="190195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v1.1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706624" y="1901952"/>
            <a:ext cx="5815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EOR (Employee of Record) Coverage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06624" y="2231136"/>
            <a:ext cx="5815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 contracts in countries where Oracle has no legal entity. Output: EOR required flag + estimated cost range + recommended action. Agent 5 tracks EOR fees as a named cost subcategory.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2834640"/>
            <a:ext cx="822960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1" name="Shape 19"/>
          <p:cNvSpPr/>
          <p:nvPr/>
        </p:nvSpPr>
        <p:spPr>
          <a:xfrm>
            <a:off x="457200" y="2834640"/>
            <a:ext cx="45720" cy="87782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Shape 20"/>
          <p:cNvSpPr/>
          <p:nvPr/>
        </p:nvSpPr>
        <p:spPr>
          <a:xfrm>
            <a:off x="457200" y="2834640"/>
            <a:ext cx="1097280" cy="877824"/>
          </a:xfrm>
          <a:prstGeom prst="rect">
            <a:avLst/>
          </a:prstGeom>
          <a:solidFill>
            <a:srgbClr val="E8F0FD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/>
          <p:nvPr/>
        </p:nvSpPr>
        <p:spPr>
          <a:xfrm>
            <a:off x="475488" y="2907792"/>
            <a:ext cx="1060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" y="3291840"/>
            <a:ext cx="1060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CR-04+05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627632" y="2907792"/>
            <a:ext cx="1005840" cy="219456"/>
          </a:xfrm>
          <a:prstGeom prst="rect">
            <a:avLst/>
          </a:prstGeom>
          <a:solidFill>
            <a:srgbClr val="FFF7ED"/>
          </a:solidFill>
          <a:ln w="12700">
            <a:solidFill>
              <a:srgbClr val="D97706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1627632" y="290779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v1.1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706624" y="2907792"/>
            <a:ext cx="5815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 Matching + Local Accounting Rules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706624" y="3236976"/>
            <a:ext cx="5815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Three-way match: invoice vs contract vs PO. Also checks jurisdiction-specific accounting thresholds — Germany, India, Philippines in v1.1. Flags if invoice triggers different accounting treatment.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3840480"/>
            <a:ext cx="822960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0" name="Shape 28"/>
          <p:cNvSpPr/>
          <p:nvPr/>
        </p:nvSpPr>
        <p:spPr>
          <a:xfrm>
            <a:off x="457200" y="3840480"/>
            <a:ext cx="45720" cy="87782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1" name="Shape 29"/>
          <p:cNvSpPr/>
          <p:nvPr/>
        </p:nvSpPr>
        <p:spPr>
          <a:xfrm>
            <a:off x="457200" y="3840480"/>
            <a:ext cx="1097280" cy="877824"/>
          </a:xfrm>
          <a:prstGeom prst="rect">
            <a:avLst/>
          </a:prstGeom>
          <a:solidFill>
            <a:srgbClr val="E8F0FD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2" name="Text 30"/>
          <p:cNvSpPr/>
          <p:nvPr/>
        </p:nvSpPr>
        <p:spPr>
          <a:xfrm>
            <a:off x="475488" y="3913632"/>
            <a:ext cx="1060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2+5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5488" y="4297680"/>
            <a:ext cx="1060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CR-06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1627632" y="3913632"/>
            <a:ext cx="1005840" cy="219456"/>
          </a:xfrm>
          <a:prstGeom prst="rect">
            <a:avLst/>
          </a:prstGeom>
          <a:solidFill>
            <a:srgbClr val="F0FDFA"/>
          </a:solidFill>
          <a:ln w="12700">
            <a:solidFill>
              <a:srgbClr val="0F766E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5" name="Text 33"/>
          <p:cNvSpPr/>
          <p:nvPr/>
        </p:nvSpPr>
        <p:spPr>
          <a:xfrm>
            <a:off x="1627632" y="391363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v1.1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706624" y="3913632"/>
            <a:ext cx="5815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Intermediary Cost Tracking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706624" y="4242816"/>
            <a:ext cx="5815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Intermediary fees tracked as adjacent costs: staffing_agency · eor_provider · government_fee · legal_counsel. Alert if intermediary costs exceed 30% of country spend.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430768" y="4681728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7955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Annex — Phase 2 new capabilities after go-live stabilisation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REVISED PROPOSAL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261872"/>
            <a:ext cx="8229600" cy="475488"/>
          </a:xfrm>
          <a:prstGeom prst="rect">
            <a:avLst/>
          </a:prstGeom>
          <a:solidFill>
            <a:srgbClr val="E8F0FD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457200" y="1261872"/>
            <a:ext cx="45720" cy="475488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621792" y="1261872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i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requested full process automation up to the human signature step. Compliance research required before commitment.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1847088"/>
            <a:ext cx="3931920" cy="3072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457200" y="1847088"/>
            <a:ext cx="3931920" cy="3840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566928" y="1847088"/>
            <a:ext cx="3712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CR-02  Social Registration Automation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2304288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Trigger: New contract created in target country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66928" y="2651760"/>
            <a:ext cx="164592" cy="16459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804672" y="261518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Pulls country-specific social security + insurance requirements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66928" y="3017520"/>
            <a:ext cx="164592" cy="16459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804672" y="298094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Pre-fills registration forms with contract data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66928" y="3383280"/>
            <a:ext cx="164592" cy="16459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804672" y="334670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 to HR for review and official submission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66928" y="3749040"/>
            <a:ext cx="164592" cy="16459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804672" y="371246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submits to government bodies — agent prepares only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66928" y="4261104"/>
            <a:ext cx="3712464" cy="475488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/>
          <p:nvPr/>
        </p:nvSpPr>
        <p:spPr>
          <a:xfrm>
            <a:off x="621792" y="4261104"/>
            <a:ext cx="3602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Pre-condition: legal review per jurisdiction before automation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754880" y="1847088"/>
            <a:ext cx="3931920" cy="3072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5" name="Shape 23"/>
          <p:cNvSpPr/>
          <p:nvPr/>
        </p:nvSpPr>
        <p:spPr>
          <a:xfrm>
            <a:off x="4754880" y="1847088"/>
            <a:ext cx="3931920" cy="384048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4864608" y="1847088"/>
            <a:ext cx="3712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CR-03  Contract Generation Workflow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64608" y="2304288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Trigger: HR onboards a new worker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864608" y="2651760"/>
            <a:ext cx="164592" cy="164592"/>
          </a:xfrm>
          <a:prstGeom prst="ellipse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/>
          <p:nvPr/>
        </p:nvSpPr>
        <p:spPr>
          <a:xfrm>
            <a:off x="5102352" y="261518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Collects: name, role, country, contract type, rate, start date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64608" y="3017520"/>
            <a:ext cx="164592" cy="164592"/>
          </a:xfrm>
          <a:prstGeom prst="ellipse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1" name="Text 29"/>
          <p:cNvSpPr/>
          <p:nvPr/>
        </p:nvSpPr>
        <p:spPr>
          <a:xfrm>
            <a:off x="5102352" y="298094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generates draft using jurisdiction-specific template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64608" y="3383280"/>
            <a:ext cx="164592" cy="164592"/>
          </a:xfrm>
          <a:prstGeom prst="ellipse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3" name="Text 31"/>
          <p:cNvSpPr/>
          <p:nvPr/>
        </p:nvSpPr>
        <p:spPr>
          <a:xfrm>
            <a:off x="5102352" y="334670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produced in local language + English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864608" y="3749040"/>
            <a:ext cx="164592" cy="164592"/>
          </a:xfrm>
          <a:prstGeom prst="ellipse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5" name="Text 33"/>
          <p:cNvSpPr/>
          <p:nvPr/>
        </p:nvSpPr>
        <p:spPr>
          <a:xfrm>
            <a:off x="5102352" y="371246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Lawyer reviews first template per country — approved templates reused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864608" y="4261104"/>
            <a:ext cx="3712464" cy="475488"/>
          </a:xfrm>
          <a:prstGeom prst="rect">
            <a:avLst/>
          </a:prstGeom>
          <a:solidFill>
            <a:srgbClr val="E8F0FD"/>
          </a:solidFill>
          <a:ln w="12700">
            <a:solidFill>
              <a:srgbClr val="C5D9F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7" name="Text 35"/>
          <p:cNvSpPr/>
          <p:nvPr/>
        </p:nvSpPr>
        <p:spPr>
          <a:xfrm>
            <a:off x="4919472" y="4261104"/>
            <a:ext cx="3602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Auto-signing explicitly out of scope — human signature always required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1856</Words>
  <Application>Microsoft Office PowerPoint</Application>
  <PresentationFormat>On-screen Show (16:9)</PresentationFormat>
  <Paragraphs>291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ContractOS — SilverTrust Final Pitch</dc:title>
  <dc:subject>PptxGenJS Presentation</dc:subject>
  <dc:creator>PptxGenJS</dc:creator>
  <cp:lastModifiedBy>Daria Bystrova</cp:lastModifiedBy>
  <cp:revision>5</cp:revision>
  <dcterms:created xsi:type="dcterms:W3CDTF">2026-06-02T14:13:26Z</dcterms:created>
  <dcterms:modified xsi:type="dcterms:W3CDTF">2026-06-03T08:11:39Z</dcterms:modified>
</cp:coreProperties>
</file>