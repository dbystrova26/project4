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6" r:id="rId6"/>
    <p:sldId id="261" r:id="rId7"/>
    <p:sldId id="268" r:id="rId8"/>
    <p:sldId id="267" r:id="rId9"/>
    <p:sldId id="262" r:id="rId10"/>
    <p:sldId id="263" r:id="rId11"/>
    <p:sldId id="264" r:id="rId12"/>
    <p:sldId id="265" r:id="rId13"/>
    <p:sldId id="269" r:id="rId14"/>
    <p:sldId id="270" r:id="rId15"/>
    <p:sldId id="271" r:id="rId16"/>
    <p:sldId id="272" r:id="rId17"/>
    <p:sldId id="273" r:id="rId18"/>
    <p:sldId id="274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A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3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4128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52283-5300-CF3E-63FF-11D42A9D9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4B6FC7-60CF-0A50-B97A-F879415BBA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9BA20F-FB85-214F-4B49-F4CCBB4244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53B9AA-F447-D8C1-DFBE-88EC1DCA8C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9364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30768" y="4681728"/>
            <a:ext cx="53035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8430768" y="468172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ContractOS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548640" y="2304288"/>
            <a:ext cx="256032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8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Contract &amp; Payroll Intelligence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8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Oracle Game Studio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A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Daria Bystrova &amp; Julian Granados  ·  SilverTrust  ·  Pitch to Review Board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315968"/>
            <a:ext cx="9144000" cy="850392"/>
          </a:xfrm>
          <a:prstGeom prst="rect">
            <a:avLst/>
          </a:prstGeom>
          <a:solidFill>
            <a:srgbClr val="003FA8"/>
          </a:solidFill>
          <a:ln w="12700">
            <a:solidFill>
              <a:srgbClr val="003F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201168" y="4416552"/>
            <a:ext cx="1627632" cy="640080"/>
          </a:xfrm>
          <a:prstGeom prst="rect">
            <a:avLst/>
          </a:prstGeom>
          <a:solidFill>
            <a:srgbClr val="1A50C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201168" y="4416552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Client &amp; Problem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84248" y="4416552"/>
            <a:ext cx="1627632" cy="640080"/>
          </a:xfrm>
          <a:prstGeom prst="rect">
            <a:avLst/>
          </a:prstGeom>
          <a:solidFill>
            <a:srgbClr val="003FA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1984248" y="4416552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The Solution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67328" y="4416552"/>
            <a:ext cx="1627632" cy="640080"/>
          </a:xfrm>
          <a:prstGeom prst="rect">
            <a:avLst/>
          </a:prstGeom>
          <a:solidFill>
            <a:srgbClr val="003FA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3767328" y="4416552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Compliance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50408" y="4416552"/>
            <a:ext cx="1627632" cy="640080"/>
          </a:xfrm>
          <a:prstGeom prst="rect">
            <a:avLst/>
          </a:prstGeom>
          <a:solidFill>
            <a:srgbClr val="003FA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550408" y="4416552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Monitoring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33488" y="4416552"/>
            <a:ext cx="1627632" cy="640080"/>
          </a:xfrm>
          <a:prstGeom prst="rect">
            <a:avLst/>
          </a:prstGeom>
          <a:solidFill>
            <a:srgbClr val="003FA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7333488" y="4416552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The Ask</a:t>
            </a:r>
            <a:endParaRPr lang="en-US" sz="1000" dirty="0"/>
          </a:p>
        </p:txBody>
      </p:sp>
      <p:pic>
        <p:nvPicPr>
          <p:cNvPr id="1026" name="Picture 2" descr="Ironhack Reviews | Course Report">
            <a:extLst>
              <a:ext uri="{FF2B5EF4-FFF2-40B4-BE49-F238E27FC236}">
                <a16:creationId xmlns:a16="http://schemas.microsoft.com/office/drawing/2014/main" id="{4901FB2F-E234-EE6B-F135-654037BC9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8053" y="1498387"/>
            <a:ext cx="1516291" cy="16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30768" y="468172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109728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Recommendation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8229600" cy="621792"/>
          </a:xfrm>
          <a:prstGeom prst="rect">
            <a:avLst/>
          </a:prstGeom>
          <a:solidFill>
            <a:srgbClr val="E8F0FD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54864" cy="62179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40080" y="1261872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Oracle's burn crisis is a cost visibility problem — ContractOS solves it with five AI agents that read every contract, catch every invoice error, and show exactly where the money is going.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99339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supporting arguments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95728"/>
            <a:ext cx="2633472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457200" y="2395728"/>
            <a:ext cx="2633472" cy="7315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1481328" y="2578608"/>
            <a:ext cx="585216" cy="585216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1481328" y="25786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5216" y="32644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is real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5216" y="376732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pain points discovered blind. Revenue side cannot be fixed. Only lever is cost.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46120" y="2395728"/>
            <a:ext cx="2633472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3246120" y="2395728"/>
            <a:ext cx="2633472" cy="7315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4270248" y="2578608"/>
            <a:ext cx="585216" cy="585216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4270248" y="25786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74136" y="32644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 is defensible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74136" y="376732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AI agents, one per capability. Human-in-the-loop technically enforced. EU AI Act minimal/limited risk.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35040" y="2395728"/>
            <a:ext cx="2633472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6035040" y="2395728"/>
            <a:ext cx="2633472" cy="7315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7059168" y="2578608"/>
            <a:ext cx="585216" cy="585216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7059168" y="25786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63056" y="32644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is observable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63056" y="376732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 live — 6 runs complete, all 5 agents traced, PII redacted, full audit trail for regulators.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30768" y="468172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109728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has no visibility over where the money goes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Discovered blind — 10 indirect questions, 0 direct pain-point asks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CLIENT &amp; PROBLEM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8229600" cy="420624"/>
          </a:xfrm>
          <a:prstGeom prst="rect">
            <a:avLst/>
          </a:prstGeom>
          <a:solidFill>
            <a:srgbClr val="E8F0FD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457200" y="1261872"/>
            <a:ext cx="54864" cy="420624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640080" y="1261872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 people · 5 jurisdictions · high burn · no contract register · no single cost view.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8013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/ CTO: </a:t>
            </a: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Eugen </a:t>
            </a:r>
          </a:p>
        </p:txBody>
      </p:sp>
      <p:sp>
        <p:nvSpPr>
          <p:cNvPr id="12" name="Text 10"/>
          <p:cNvSpPr/>
          <p:nvPr/>
        </p:nvSpPr>
        <p:spPr>
          <a:xfrm>
            <a:off x="457200" y="21945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CFO: </a:t>
            </a: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Thibaud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5877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</a:t>
            </a: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~900 FTEs, part-time, contractors, interns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98094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Countries: </a:t>
            </a: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Russia · India · Pakistan · Bangladesh · Philippines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37413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Revenue: </a:t>
            </a: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 games, one-time purchase, no subscriptions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7673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Lever: </a:t>
            </a: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side is structurally fixed — only cost can move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8013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points uncovered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2176272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5120640" y="21488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contract visibility — 900 contracts unread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2505456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5120640" y="24780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invoicing — amounts not matching contracts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46320" y="2834640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5120640" y="28072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contractors — duplicate or inactive payments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3163824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5120640" y="31363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Paying twice — contractor = internal role scope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3493008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5120640" y="34655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cost visibility — burn untraceable by category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46320" y="3822192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5120640" y="37947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Multi-country payroll bottleneck + intermediaries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46320" y="4151376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5120640" y="41239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unknown — asked unprompted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46320" y="4480560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5120640" y="44531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at risk — ambiguous contractor IP clauses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30768" y="468172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109728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pain point was earned through indirect questioning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DISCOVERY EVIDENCE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8229600" cy="420624"/>
          </a:xfrm>
          <a:prstGeom prst="rect">
            <a:avLst/>
          </a:prstGeom>
          <a:solidFill>
            <a:srgbClr val="E8F0FD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54864" cy="420624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40080" y="1261872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direct asks. These verbatim quotes from the transcript confirm the problem is real.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810512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457200" y="1810512"/>
            <a:ext cx="45720" cy="658368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58368" y="1810512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Eugen  </a:t>
            </a:r>
            <a:r>
              <a:rPr lang="en-US" sz="115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cannot really tell you what kind of tools we're using... people just want a tool and then we give it to them."  </a:t>
            </a:r>
            <a:r>
              <a:rPr lang="en-US" sz="11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Zero cost visibility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45720" cy="658368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658368" y="256032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Thibaud  </a:t>
            </a:r>
            <a:r>
              <a:rPr lang="en-US" sz="115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stack is absolutely a mess. Wrong invoicing, pay cycles. There are a lot of problems."  </a:t>
            </a:r>
            <a:r>
              <a:rPr lang="en-US" sz="11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Core pain confirmed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310128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457200" y="3310128"/>
            <a:ext cx="45720" cy="658368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658368" y="331012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Thibaud  </a:t>
            </a:r>
            <a:r>
              <a:rPr lang="en-US" sz="115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kind of lost track of all the subcontractors we have and we're working with."  </a:t>
            </a:r>
            <a:r>
              <a:rPr lang="en-US" sz="11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Duplicate payments likely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059936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457200" y="4059936"/>
            <a:ext cx="45720" cy="658368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658368" y="4059936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 </a:t>
            </a:r>
            <a:r>
              <a:rPr lang="en-US" sz="115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"Are we actually compliant by doing what we are doing?" — asked unprompted.  </a:t>
            </a:r>
            <a:r>
              <a:rPr lang="en-US" sz="11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Compliance anxiety real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30768" y="468172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THE SOLUTION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91440"/>
            <a:ext cx="7955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ContractOS — five agents, one per capability, zero automated decisions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402336"/>
          </a:xfrm>
          <a:prstGeom prst="rect">
            <a:avLst/>
          </a:prstGeom>
          <a:solidFill>
            <a:srgbClr val="E8F0FD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457200" y="1170432"/>
            <a:ext cx="45720" cy="402336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21792" y="1170432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interface. Five AI agents orchestrated by LangGraph. Every output goes to a human before any action.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92608" y="1682496"/>
            <a:ext cx="15910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292608" y="1682496"/>
            <a:ext cx="1591056" cy="54864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795528" y="1810512"/>
            <a:ext cx="585216" cy="585216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795528" y="18105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7472" y="2487168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2980944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1</a:t>
            </a:r>
            <a:endParaRPr lang="en-US" sz="900" dirty="0">
              <a:solidFill>
                <a:srgbClr val="005AEE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29768" y="3255264"/>
            <a:ext cx="1316736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365760" y="3328416"/>
            <a:ext cx="144475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en-US" sz="78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ingests contract documents. </a:t>
            </a:r>
          </a:p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en-US" sz="78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extraction prompt returns JSON: name, role, rate, currency, jurisdiction, notice period, IP clause status, GDPR clause status, working arrangement description. </a:t>
            </a:r>
          </a:p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en-US" sz="78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stored in Contract Register DB.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2011680" y="1682496"/>
            <a:ext cx="15910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2011680" y="1682496"/>
            <a:ext cx="1591056" cy="54864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2514600" y="1810512"/>
            <a:ext cx="585216" cy="585216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2514600" y="18105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066544" y="2487168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066544" y="2980944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148840" y="3255264"/>
            <a:ext cx="1316736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2084832" y="3328416"/>
            <a:ext cx="144475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92075" indent="-92075" algn="l">
              <a:buFont typeface="Wingdings" panose="05000000000000000000" pitchFamily="2" charset="2"/>
              <a:buChar char="§"/>
            </a:pPr>
            <a:r>
              <a:rPr lang="en-US" sz="78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reads incoming invoice text and compares it against extracted contract terms.</a:t>
            </a:r>
          </a:p>
          <a:p>
            <a:pPr marL="92075" indent="-92075" algn="l">
              <a:buFont typeface="Wingdings" panose="05000000000000000000" pitchFamily="2" charset="2"/>
              <a:buChar char="§"/>
            </a:pPr>
            <a:r>
              <a:rPr lang="en-US" sz="78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discrepancies in amount, currency, scope, and billing period.</a:t>
            </a:r>
          </a:p>
          <a:p>
            <a:pPr marL="92075" indent="-92075" algn="l">
              <a:buFont typeface="Wingdings" panose="05000000000000000000" pitchFamily="2" charset="2"/>
              <a:buChar char="§"/>
            </a:pPr>
            <a:r>
              <a:rPr lang="en-US" sz="78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Output: validated / flagged + specific mismatch detail.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3730752" y="1682496"/>
            <a:ext cx="15910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1" name="Shape 29"/>
          <p:cNvSpPr/>
          <p:nvPr/>
        </p:nvSpPr>
        <p:spPr>
          <a:xfrm>
            <a:off x="3730752" y="1682496"/>
            <a:ext cx="1591056" cy="54864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Shape 30"/>
          <p:cNvSpPr/>
          <p:nvPr/>
        </p:nvSpPr>
        <p:spPr>
          <a:xfrm>
            <a:off x="4233672" y="1810512"/>
            <a:ext cx="585216" cy="585216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4233672" y="18105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785616" y="2487168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785616" y="2980944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3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867912" y="3255264"/>
            <a:ext cx="1316736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/>
          <p:nvPr/>
        </p:nvSpPr>
        <p:spPr>
          <a:xfrm>
            <a:off x="3803904" y="3328416"/>
            <a:ext cx="144475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92075" indent="-92075">
              <a:buFont typeface="Wingdings" panose="05000000000000000000" pitchFamily="2" charset="2"/>
              <a:buChar char="§"/>
            </a:pPr>
            <a:r>
              <a:rPr lang="en-US" sz="780" dirty="0">
                <a:solidFill>
                  <a:srgbClr val="4A4A4A"/>
                </a:solidFill>
                <a:latin typeface="Arial" pitchFamily="34" charset="0"/>
                <a:cs typeface="Arial" pitchFamily="34" charset="-120"/>
              </a:rPr>
              <a:t>LLM compares contractor working arrangement descriptions against internal job role descriptions using semantic similarity. </a:t>
            </a:r>
          </a:p>
          <a:p>
            <a:pPr marL="92075" indent="-92075">
              <a:buFont typeface="Wingdings" panose="05000000000000000000" pitchFamily="2" charset="2"/>
              <a:buChar char="§"/>
            </a:pPr>
            <a:r>
              <a:rPr lang="en-US" sz="780" dirty="0">
                <a:solidFill>
                  <a:srgbClr val="4A4A4A"/>
                </a:solidFill>
                <a:latin typeface="Arial" pitchFamily="34" charset="0"/>
                <a:cs typeface="Arial" pitchFamily="34" charset="-120"/>
              </a:rPr>
              <a:t>Flags pairs where scope overlap exceeds threshold.</a:t>
            </a:r>
          </a:p>
          <a:p>
            <a:pPr marL="92075" indent="-92075">
              <a:buFont typeface="Wingdings" panose="05000000000000000000" pitchFamily="2" charset="2"/>
              <a:buChar char="§"/>
            </a:pPr>
            <a:r>
              <a:rPr lang="en-US" sz="780" dirty="0">
                <a:solidFill>
                  <a:srgbClr val="4A4A4A"/>
                </a:solidFill>
                <a:latin typeface="Arial" pitchFamily="34" charset="0"/>
                <a:cs typeface="Arial" pitchFamily="34" charset="-120"/>
              </a:rPr>
              <a:t>Output: overlap alert with contractor name, internal role, estimated duplicate cost.</a:t>
            </a:r>
          </a:p>
        </p:txBody>
      </p:sp>
      <p:sp>
        <p:nvSpPr>
          <p:cNvPr id="40" name="Shape 38"/>
          <p:cNvSpPr/>
          <p:nvPr/>
        </p:nvSpPr>
        <p:spPr>
          <a:xfrm>
            <a:off x="5449824" y="1682496"/>
            <a:ext cx="15910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1" name="Shape 39"/>
          <p:cNvSpPr/>
          <p:nvPr/>
        </p:nvSpPr>
        <p:spPr>
          <a:xfrm>
            <a:off x="5449824" y="1682496"/>
            <a:ext cx="1591056" cy="54864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2" name="Shape 40"/>
          <p:cNvSpPr/>
          <p:nvPr/>
        </p:nvSpPr>
        <p:spPr>
          <a:xfrm>
            <a:off x="5952744" y="1810512"/>
            <a:ext cx="585216" cy="585216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Text 41"/>
          <p:cNvSpPr/>
          <p:nvPr/>
        </p:nvSpPr>
        <p:spPr>
          <a:xfrm>
            <a:off x="5952744" y="18105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504688" y="2487168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Flagging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504688" y="2980944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4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586984" y="3255264"/>
            <a:ext cx="1316736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7" name="Text 45"/>
          <p:cNvSpPr/>
          <p:nvPr/>
        </p:nvSpPr>
        <p:spPr>
          <a:xfrm>
            <a:off x="5522976" y="3328416"/>
            <a:ext cx="144475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en-US" sz="780" dirty="0">
                <a:solidFill>
                  <a:srgbClr val="4A4A4A"/>
                </a:solidFill>
                <a:latin typeface="Arial" pitchFamily="34" charset="0"/>
                <a:cs typeface="Arial" pitchFamily="34" charset="-120"/>
              </a:rPr>
              <a:t>LLM checks extracted contract data against jurisdiction-specific rule sets: GDPR clause presence, IP assignment clarity, misclassification indicators, notice period minimums. Output: Red / Amber / Green status + specific flags per contract.</a:t>
            </a:r>
          </a:p>
        </p:txBody>
      </p:sp>
      <p:sp>
        <p:nvSpPr>
          <p:cNvPr id="50" name="Shape 48"/>
          <p:cNvSpPr/>
          <p:nvPr/>
        </p:nvSpPr>
        <p:spPr>
          <a:xfrm>
            <a:off x="7168896" y="1682496"/>
            <a:ext cx="15910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1" name="Shape 49"/>
          <p:cNvSpPr/>
          <p:nvPr/>
        </p:nvSpPr>
        <p:spPr>
          <a:xfrm>
            <a:off x="7168896" y="1682496"/>
            <a:ext cx="1591056" cy="54864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2" name="Shape 50"/>
          <p:cNvSpPr/>
          <p:nvPr/>
        </p:nvSpPr>
        <p:spPr>
          <a:xfrm>
            <a:off x="7671816" y="1810512"/>
            <a:ext cx="585216" cy="585216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3" name="Text 51"/>
          <p:cNvSpPr/>
          <p:nvPr/>
        </p:nvSpPr>
        <p:spPr>
          <a:xfrm>
            <a:off x="7671816" y="18105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7223760" y="2487168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Categorisation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223760" y="2980944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5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306056" y="3255264"/>
            <a:ext cx="1316736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7" name="Text 55"/>
          <p:cNvSpPr/>
          <p:nvPr/>
        </p:nvSpPr>
        <p:spPr>
          <a:xfrm>
            <a:off x="7242048" y="3328416"/>
            <a:ext cx="144475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en-US" sz="780" dirty="0">
                <a:solidFill>
                  <a:srgbClr val="4A4A4A"/>
                </a:solidFill>
                <a:latin typeface="Arial" pitchFamily="34" charset="0"/>
                <a:cs typeface="Arial" pitchFamily="34" charset="-120"/>
              </a:rPr>
              <a:t>LLM normalises ambiguous spend descriptions and categorises all payments by country, contract type, team, and intermediary.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US" sz="780" dirty="0">
                <a:solidFill>
                  <a:srgbClr val="4A4A4A"/>
                </a:solidFill>
                <a:latin typeface="Arial" pitchFamily="34" charset="0"/>
                <a:cs typeface="Arial" pitchFamily="34" charset="-120"/>
              </a:rPr>
              <a:t>Plain software aggregates and renders the dashboard.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US" sz="780" dirty="0">
                <a:solidFill>
                  <a:srgbClr val="4A4A4A"/>
                </a:solidFill>
                <a:latin typeface="Arial" pitchFamily="34" charset="0"/>
                <a:cs typeface="Arial" pitchFamily="34" charset="-120"/>
              </a:rPr>
              <a:t>Output: categorised cost register + burn trend.</a:t>
            </a:r>
          </a:p>
        </p:txBody>
      </p:sp>
      <p:sp>
        <p:nvSpPr>
          <p:cNvPr id="60" name="Shape 58"/>
          <p:cNvSpPr/>
          <p:nvPr/>
        </p:nvSpPr>
        <p:spPr>
          <a:xfrm>
            <a:off x="0" y="4809744"/>
            <a:ext cx="9144000" cy="347472"/>
          </a:xfrm>
          <a:prstGeom prst="rect">
            <a:avLst/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1" name="Shape 59"/>
          <p:cNvSpPr/>
          <p:nvPr/>
        </p:nvSpPr>
        <p:spPr>
          <a:xfrm>
            <a:off x="0" y="4809744"/>
            <a:ext cx="914400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2" name="Text 60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Human approves every flag before any payment is sent or any contractor is reclassified — this is technically enforced, not just policy.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30768" y="468172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109728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only where language understanding is required — everything else is plain software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AI vs SOFTWARE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8229600" cy="402336"/>
          </a:xfrm>
          <a:prstGeom prst="rect">
            <a:avLst/>
          </a:prstGeom>
          <a:solidFill>
            <a:srgbClr val="E8F0FD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54864" cy="402336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40080" y="1261872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boundary is what keeps the system auditable, maintainable, and cost-efficient.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77393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LLM reasoning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77393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software sufficient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157984"/>
            <a:ext cx="4023360" cy="438912"/>
          </a:xfrm>
          <a:prstGeom prst="rect">
            <a:avLst/>
          </a:prstGeom>
          <a:solidFill>
            <a:srgbClr val="E8F0FD"/>
          </a:solidFill>
          <a:ln w="12700">
            <a:solidFill>
              <a:srgbClr val="C5D9FA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94360" y="215798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Extracting data from unstructured multilingual contract templates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670048"/>
            <a:ext cx="4023360" cy="438912"/>
          </a:xfrm>
          <a:prstGeom prst="rect">
            <a:avLst/>
          </a:prstGeom>
          <a:solidFill>
            <a:srgbClr val="E8F0FD"/>
          </a:solidFill>
          <a:ln w="12700">
            <a:solidFill>
              <a:srgbClr val="C5D9FA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594360" y="267004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Semantic overlap: contractor scope vs internal job role descriptions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182112"/>
            <a:ext cx="4023360" cy="438912"/>
          </a:xfrm>
          <a:prstGeom prst="rect">
            <a:avLst/>
          </a:prstGeom>
          <a:solidFill>
            <a:srgbClr val="E8F0FD"/>
          </a:solidFill>
          <a:ln w="12700">
            <a:solidFill>
              <a:srgbClr val="C5D9FA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94360" y="318211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Misclassification risk from natural language working arrangements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694176"/>
            <a:ext cx="4023360" cy="438912"/>
          </a:xfrm>
          <a:prstGeom prst="rect">
            <a:avLst/>
          </a:prstGeom>
          <a:solidFill>
            <a:srgbClr val="E8F0FD"/>
          </a:solidFill>
          <a:ln w="12700">
            <a:solidFill>
              <a:srgbClr val="C5D9FA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594360" y="369417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Missing clause detection using jurisdiction-specific legal knowledge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4023360" cy="438912"/>
          </a:xfrm>
          <a:prstGeom prst="rect">
            <a:avLst/>
          </a:prstGeom>
          <a:solidFill>
            <a:srgbClr val="E8F0FD"/>
          </a:solidFill>
          <a:ln w="12700">
            <a:solidFill>
              <a:srgbClr val="C5D9FA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594360" y="420624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Invoice anomaly detection across inconsistent multilingual formats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2157984"/>
            <a:ext cx="4023360" cy="438912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4892040" y="215798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Structured database storage of extracted fields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670048"/>
            <a:ext cx="4023360" cy="438912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4892040" y="267004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Cost dashboard charts and aggregation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3182112"/>
            <a:ext cx="4023360" cy="438912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4892040" y="318211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Payment routing via Wise API or local rails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3694176"/>
            <a:ext cx="4023360" cy="438912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4892040" y="369417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Role-based access control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4206240"/>
            <a:ext cx="4023360" cy="438912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4892040" y="420624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Audit trail logging and notifications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68BB3-8691-272C-9947-2AB997751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447766C1-6936-B0DE-D55D-B8D5FEB42BB3}"/>
              </a:ext>
            </a:extLst>
          </p:cNvPr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F5A522D-4936-747E-05A9-EC60666D104F}"/>
              </a:ext>
            </a:extLst>
          </p:cNvPr>
          <p:cNvSpPr/>
          <p:nvPr/>
        </p:nvSpPr>
        <p:spPr>
          <a:xfrm>
            <a:off x="457200" y="109728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Dashboard by Plain Software Integration (Demo Only!)</a:t>
            </a:r>
            <a:endParaRPr lang="en-US" sz="2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DE0FA82-AB65-43F6-D155-726D1E43F383}"/>
              </a:ext>
            </a:extLst>
          </p:cNvPr>
          <p:cNvSpPr/>
          <p:nvPr/>
        </p:nvSpPr>
        <p:spPr>
          <a:xfrm>
            <a:off x="457200" y="868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AI vs SOFTWARE</a:t>
            </a:r>
            <a:endParaRPr lang="en-US" sz="85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77CD73B-31B6-7501-58D6-FEAECF1E3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380" y="987552"/>
            <a:ext cx="6425818" cy="3913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454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91440"/>
            <a:ext cx="7955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Infrastructure Architecture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SOLUTION DESIGN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347472"/>
          </a:xfrm>
          <a:prstGeom prst="rect">
            <a:avLst/>
          </a:prstGeom>
          <a:solidFill>
            <a:srgbClr val="E8F0FD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457200" y="1170432"/>
            <a:ext cx="45720" cy="34747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21792" y="117043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EU-hosted, privacy-first AI intelligence layer — n8n · LangChain · LangGraph · LangSmith — all data stays in EU infrastructure.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6093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38528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457200" y="1938528"/>
            <a:ext cx="45720" cy="475488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457200" y="1938528"/>
            <a:ext cx="822960" cy="475488"/>
          </a:xfrm>
          <a:prstGeom prst="rect">
            <a:avLst/>
          </a:prstGeom>
          <a:solidFill>
            <a:srgbClr val="E8F0FD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475488" y="193852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325880" y="1975104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&amp; Integration  </a:t>
            </a: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all data sources: contracts, invoices, payroll exports, HR records, payment confirmations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487168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457200" y="2487168"/>
            <a:ext cx="4572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457200" y="2487168"/>
            <a:ext cx="822960" cy="475488"/>
          </a:xfrm>
          <a:prstGeom prst="rect">
            <a:avLst/>
          </a:prstGeom>
          <a:solidFill>
            <a:srgbClr val="E8F0FD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475488" y="24871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325880" y="2523744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Processing  </a:t>
            </a: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loading, text extraction, chunking, retrieval, structured extraction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035808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457200" y="3035808"/>
            <a:ext cx="4572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457200" y="3035808"/>
            <a:ext cx="822960" cy="475488"/>
          </a:xfrm>
          <a:prstGeom prst="rect">
            <a:avLst/>
          </a:prstGeom>
          <a:solidFill>
            <a:srgbClr val="E8F0FD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475488" y="303580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325880" y="3072384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Orchestration  </a:t>
            </a: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Coordinates 5 AI agents, manages state, routes outputs to human review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584448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7" name="Shape 25"/>
          <p:cNvSpPr/>
          <p:nvPr/>
        </p:nvSpPr>
        <p:spPr>
          <a:xfrm>
            <a:off x="457200" y="3584448"/>
            <a:ext cx="45720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457200" y="3584448"/>
            <a:ext cx="822960" cy="475488"/>
          </a:xfrm>
          <a:prstGeom prst="rect">
            <a:avLst/>
          </a:prstGeom>
          <a:solidFill>
            <a:srgbClr val="E8F0FD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475488" y="358444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325880" y="3621024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 </a:t>
            </a: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Traces every LLM call, audit trail, error analysis, model behaviour, prompt versioning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133088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2" name="Shape 30"/>
          <p:cNvSpPr/>
          <p:nvPr/>
        </p:nvSpPr>
        <p:spPr>
          <a:xfrm>
            <a:off x="457200" y="4133088"/>
            <a:ext cx="4572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Shape 31"/>
          <p:cNvSpPr/>
          <p:nvPr/>
        </p:nvSpPr>
        <p:spPr>
          <a:xfrm>
            <a:off x="457200" y="4133088"/>
            <a:ext cx="822960" cy="475488"/>
          </a:xfrm>
          <a:prstGeom prst="rect">
            <a:avLst/>
          </a:prstGeom>
          <a:solidFill>
            <a:srgbClr val="E8F0FD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475488" y="413308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Infra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325880" y="4169664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  </a:t>
            </a:r>
            <a:r>
              <a:rPr lang="en-US" sz="9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access, encrypted storage, minimal data retention, human approval gates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63440" y="16093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 Layer — Non-Negotiable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1938528"/>
            <a:ext cx="4023360" cy="310896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/>
          <p:nvPr/>
        </p:nvSpPr>
        <p:spPr>
          <a:xfrm>
            <a:off x="4709160" y="193852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All agent outputs → human approval queue → only then action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2304288"/>
            <a:ext cx="4023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0" name="Shape 38"/>
          <p:cNvSpPr/>
          <p:nvPr/>
        </p:nvSpPr>
        <p:spPr>
          <a:xfrm>
            <a:off x="4736592" y="2432304"/>
            <a:ext cx="164592" cy="164592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Text 39"/>
          <p:cNvSpPr/>
          <p:nvPr/>
        </p:nvSpPr>
        <p:spPr>
          <a:xfrm>
            <a:off x="4983480" y="2304288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Team:  </a:t>
            </a: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/ reject invoice payments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63440" y="2779776"/>
            <a:ext cx="4023360" cy="42062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3" name="Shape 41"/>
          <p:cNvSpPr/>
          <p:nvPr/>
        </p:nvSpPr>
        <p:spPr>
          <a:xfrm>
            <a:off x="4736592" y="2907792"/>
            <a:ext cx="164592" cy="164592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Text 42"/>
          <p:cNvSpPr/>
          <p:nvPr/>
        </p:nvSpPr>
        <p:spPr>
          <a:xfrm>
            <a:off x="4983480" y="2779776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/ Compliance:  </a:t>
            </a: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compliance risks, review misclassification flags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663440" y="3255264"/>
            <a:ext cx="4023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6" name="Shape 44"/>
          <p:cNvSpPr/>
          <p:nvPr/>
        </p:nvSpPr>
        <p:spPr>
          <a:xfrm>
            <a:off x="4736592" y="3383280"/>
            <a:ext cx="164592" cy="164592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7" name="Text 45"/>
          <p:cNvSpPr/>
          <p:nvPr/>
        </p:nvSpPr>
        <p:spPr>
          <a:xfrm>
            <a:off x="4983480" y="325526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HR:  </a:t>
            </a: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duplicate work, update contractor register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63440" y="3730752"/>
            <a:ext cx="4023360" cy="42062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9" name="Shape 47"/>
          <p:cNvSpPr/>
          <p:nvPr/>
        </p:nvSpPr>
        <p:spPr>
          <a:xfrm>
            <a:off x="4736592" y="3858768"/>
            <a:ext cx="164592" cy="164592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0" name="Text 48"/>
          <p:cNvSpPr/>
          <p:nvPr/>
        </p:nvSpPr>
        <p:spPr>
          <a:xfrm>
            <a:off x="4983480" y="3730752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/ CTO (Eugen):  </a:t>
            </a: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cost dashboard, approve strategic decisions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663440" y="4206240"/>
            <a:ext cx="4023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2" name="Shape 50"/>
          <p:cNvSpPr/>
          <p:nvPr/>
        </p:nvSpPr>
        <p:spPr>
          <a:xfrm>
            <a:off x="4736592" y="4334256"/>
            <a:ext cx="164592" cy="164592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3" name="Text 51"/>
          <p:cNvSpPr/>
          <p:nvPr/>
        </p:nvSpPr>
        <p:spPr>
          <a:xfrm>
            <a:off x="4983480" y="4206240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(Thibaud):  </a:t>
            </a: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payment holds, review cost reduction flags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30768" y="468172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109728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ContractOS is minimal/limited risk — justified, not asserted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COMPLIANCE — EU AI ACT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8229600" cy="512064"/>
          </a:xfrm>
          <a:prstGeom prst="rect">
            <a:avLst/>
          </a:prstGeom>
          <a:solidFill>
            <a:srgbClr val="E8F0FD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54864" cy="512064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40080" y="1261872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agent executes a decision. Every output goes to a named human before action. This is what keeps the classification defensible.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883664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457200" y="1883664"/>
            <a:ext cx="39319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457200" y="188366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RISK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2395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extraction · Cost dashboard · Payment tracking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7614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Surfaces information only. No decisions affecting individuals.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00600" y="1883664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4800600" y="1883664"/>
            <a:ext cx="393192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800600" y="188366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RISK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2395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detection · Misclassification flagging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7614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Touches Annex III pt.4 territory — human legal review required before any reclassification.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34290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&amp; Obligations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822192"/>
            <a:ext cx="3931920" cy="1261872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457200" y="3822192"/>
            <a:ext cx="45720" cy="126187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658368" y="387705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SilverTrust = PROVIDER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4206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Maintain technical documentation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8368" y="44805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Implement quality management + logging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" y="47548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Ensure human oversight is technically enforced — not just policy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3822192"/>
            <a:ext cx="3931920" cy="1261872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4800600" y="3822192"/>
            <a:ext cx="45720" cy="126187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5001768" y="387705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Game Studio = DEPLOYER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01768" y="4206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Maintain human review for all flags before action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01768" y="44805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Inform workers AI analyses their contracts (transparency obligation)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01768" y="47548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Conduct own DPIA before deployment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30768" y="468172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109728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data use has a named lawful basis — three LIAs completed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GDPR &amp; OTHER LAW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8229600" cy="402336"/>
          </a:xfrm>
          <a:prstGeom prst="rect">
            <a:avLst/>
          </a:prstGeom>
          <a:solidFill>
            <a:srgbClr val="E8F0FD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54864" cy="402336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40080" y="1261872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personal data leaves EU infrastructure. LLM processing runs under documented legitimate interest.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73936"/>
            <a:ext cx="2788920" cy="34747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530352" y="177393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data use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773936"/>
            <a:ext cx="1874520" cy="34747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3319272" y="177393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Lawful basis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0" y="1773936"/>
            <a:ext cx="1280160" cy="34747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5193792" y="177393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0" y="1773936"/>
            <a:ext cx="2286000" cy="34747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6473952" y="177393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 / Action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157984"/>
            <a:ext cx="2788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530352" y="21579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Employment contracts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2157984"/>
            <a:ext cx="1874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3319272" y="215798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performance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20640" y="2157984"/>
            <a:ext cx="12801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5193792" y="215798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6(1)(b)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0" y="2157984"/>
            <a:ext cx="22860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6473952" y="21579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consent needed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2542032"/>
            <a:ext cx="2788920" cy="365760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530352" y="254203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Payroll records &amp; invoices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46120" y="2542032"/>
            <a:ext cx="1874520" cy="365760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3319272" y="25420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obligation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120640" y="2542032"/>
            <a:ext cx="1280160" cy="365760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5193792" y="25420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6(1)(c)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0" y="2542032"/>
            <a:ext cx="2286000" cy="365760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6473952" y="25420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+ labour law retention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2926080"/>
            <a:ext cx="2788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/>
          <p:nvPr/>
        </p:nvSpPr>
        <p:spPr>
          <a:xfrm>
            <a:off x="530352" y="29260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contract processing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46120" y="2926080"/>
            <a:ext cx="1874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/>
          <p:nvPr/>
        </p:nvSpPr>
        <p:spPr>
          <a:xfrm>
            <a:off x="3319272" y="2926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Legitimate interest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120640" y="2926080"/>
            <a:ext cx="12801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Text 37"/>
          <p:cNvSpPr/>
          <p:nvPr/>
        </p:nvSpPr>
        <p:spPr>
          <a:xfrm>
            <a:off x="5193792" y="2926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6(1)(f)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0800" y="2926080"/>
            <a:ext cx="22860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Text 39"/>
          <p:cNvSpPr/>
          <p:nvPr/>
        </p:nvSpPr>
        <p:spPr>
          <a:xfrm>
            <a:off x="6473952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LIA completed · EU infra only · DPA signed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3310128"/>
            <a:ext cx="2788920" cy="365760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Text 41"/>
          <p:cNvSpPr/>
          <p:nvPr/>
        </p:nvSpPr>
        <p:spPr>
          <a:xfrm>
            <a:off x="530352" y="33101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 traces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46120" y="3310128"/>
            <a:ext cx="1874520" cy="365760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5" name="Text 43"/>
          <p:cNvSpPr/>
          <p:nvPr/>
        </p:nvSpPr>
        <p:spPr>
          <a:xfrm>
            <a:off x="3319272" y="33101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Legitimate interest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120640" y="3310128"/>
            <a:ext cx="1280160" cy="365760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7" name="Text 45"/>
          <p:cNvSpPr/>
          <p:nvPr/>
        </p:nvSpPr>
        <p:spPr>
          <a:xfrm>
            <a:off x="5193792" y="33101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6(1)(f)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00800" y="3310128"/>
            <a:ext cx="2286000" cy="365760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9" name="Text 47"/>
          <p:cNvSpPr/>
          <p:nvPr/>
        </p:nvSpPr>
        <p:spPr>
          <a:xfrm>
            <a:off x="6473952" y="33101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redacted · 90-day retention max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57200" y="376732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Applicable Law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57200" y="4133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 DBA Act (2025):  </a:t>
            </a: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4 flags misclassification — human + legal review before reclassification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57200" y="43708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 BetrVG:  </a:t>
            </a: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council consulted before go-live — SilverTrust provides technical documentation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57200" y="460857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DPDP / Philippines DPA:  </a:t>
            </a: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stays EU-side — local counsel for processing obligations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Russia:  </a:t>
            </a: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 v1 — sanctions + data localisation require specialist legal advice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30768" y="468172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109728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black box has windows — every AI decision is logged and auditable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MONITORING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8229600" cy="475488"/>
          </a:xfrm>
          <a:prstGeom prst="rect">
            <a:avLst/>
          </a:prstGeom>
          <a:solidFill>
            <a:srgbClr val="E8F0FD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54864" cy="475488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40080" y="126187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regulator asks what happened with a specific contractor's data, we show the complete chain in under five minutes.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847088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457200" y="1847088"/>
            <a:ext cx="45720" cy="53035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21792" y="1847088"/>
            <a:ext cx="3730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confidence  </a:t>
            </a: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&lt; 0.80 on rate, jurisdiction, IP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450592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457200" y="2450592"/>
            <a:ext cx="45720" cy="53035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621792" y="2450592"/>
            <a:ext cx="3730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override rate  </a:t>
            </a: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&gt; 20% in 7-day window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54096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457200" y="3054096"/>
            <a:ext cx="45720" cy="53035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621792" y="3054096"/>
            <a:ext cx="3730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per agent  </a:t>
            </a: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p95 &gt; 30 seconds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847088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4663440" y="1847088"/>
            <a:ext cx="45720" cy="53035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4828032" y="1847088"/>
            <a:ext cx="3730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extractions  </a:t>
            </a: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tolerance — immediate alert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450592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4663440" y="2450592"/>
            <a:ext cx="45720" cy="53035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4828032" y="2450592"/>
            <a:ext cx="3730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flag trend  </a:t>
            </a: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if Red &gt; 10% of new contracts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054096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4663440" y="3054096"/>
            <a:ext cx="45720" cy="53035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4828032" y="3054096"/>
            <a:ext cx="3730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redaction audit  </a:t>
            </a: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— zero tolerance for PII in traces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712464"/>
            <a:ext cx="8229600" cy="1353312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Shape 27"/>
          <p:cNvSpPr/>
          <p:nvPr/>
        </p:nvSpPr>
        <p:spPr>
          <a:xfrm>
            <a:off x="457200" y="3712464"/>
            <a:ext cx="45720" cy="13533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640080" y="376732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Live — contractos-oracle-prod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4114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runs complete  ·  All 5 agents traced  ·  EU endpoint: eu.api.smith.langchain.com  ·  PII redacted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0080" y="4434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"Here is where you can see everything the AI did, catch a mistake before it costs you money, and prove to an auditor exactly what happened — in under five minutes."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30768" y="4681728"/>
            <a:ext cx="530352" cy="329184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8430768" y="468172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THE ASK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09728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The Ask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530352" y="1216152"/>
            <a:ext cx="329184" cy="329184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30352" y="1216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114300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discovered blind — 9 pain points confirmed by verbatim transcript evidence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475488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530352" y="1764792"/>
            <a:ext cx="329184" cy="329184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30352" y="1764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169164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addresses all 9 pain points with 5 dedicated AI agents — each maps to exactly one capability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240280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530352" y="2313432"/>
            <a:ext cx="329184" cy="329184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30352" y="2313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224028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AI Act: Minimal / Limited risk — justified, not asserted — human-in-the-loop technically enforced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788920"/>
            <a:ext cx="8229600" cy="475488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530352" y="2862072"/>
            <a:ext cx="329184" cy="329184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530352" y="2862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27889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GDPR: 3 lawful bases documented, 3 LIAs completed, subject rights handled, data stays EU-side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337560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530352" y="3410712"/>
            <a:ext cx="329184" cy="329184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530352" y="3410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333756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LangSmith: 6 runs live, all 5 agents traced, PII redacted, complete audit trail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886200"/>
            <a:ext cx="8229600" cy="475488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530352" y="3959352"/>
            <a:ext cx="329184" cy="329184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530352" y="3959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05840" y="388620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ContractOS gets Oracle back to black numbers — cost reduction measurable from day one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4572000"/>
            <a:ext cx="9144000" cy="62179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457200" y="457200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you approve ContractOS for Oracle Game Studio — or what needs to change?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30768" y="4681728"/>
            <a:ext cx="530352" cy="329184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8430768" y="468172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ContractOS v1.1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256032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8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Revised Proposal — Based on Client Feedback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AA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approved ContractOS v1.0 — seven change requests incorporated below.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3017520"/>
            <a:ext cx="9144000" cy="1737360"/>
          </a:xfrm>
          <a:prstGeom prst="rect">
            <a:avLst/>
          </a:prstGeom>
          <a:solidFill>
            <a:srgbClr val="003FA8"/>
          </a:solidFill>
          <a:ln w="12700">
            <a:solidFill>
              <a:srgbClr val="003F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201168" y="3127248"/>
            <a:ext cx="2011680" cy="603504"/>
          </a:xfrm>
          <a:prstGeom prst="rect">
            <a:avLst/>
          </a:prstGeom>
          <a:solidFill>
            <a:srgbClr val="1A50C0"/>
          </a:solidFill>
          <a:ln w="12700">
            <a:solidFill>
              <a:srgbClr val="3D6A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201168" y="3127248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CR-01  EOR coverage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3127248"/>
            <a:ext cx="2011680" cy="603504"/>
          </a:xfrm>
          <a:prstGeom prst="rect">
            <a:avLst/>
          </a:prstGeom>
          <a:solidFill>
            <a:srgbClr val="1A50C0"/>
          </a:solidFill>
          <a:ln w="12700">
            <a:solidFill>
              <a:srgbClr val="3D6A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2377440" y="3127248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CR-02  Social registration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53712" y="3127248"/>
            <a:ext cx="2011680" cy="603504"/>
          </a:xfrm>
          <a:prstGeom prst="rect">
            <a:avLst/>
          </a:prstGeom>
          <a:solidFill>
            <a:srgbClr val="1A50C0"/>
          </a:solidFill>
          <a:ln w="12700">
            <a:solidFill>
              <a:srgbClr val="3D6A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4553712" y="3127248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CR-03  Contract generation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29984" y="3127248"/>
            <a:ext cx="2011680" cy="603504"/>
          </a:xfrm>
          <a:prstGeom prst="rect">
            <a:avLst/>
          </a:prstGeom>
          <a:solidFill>
            <a:srgbClr val="1A50C0"/>
          </a:solidFill>
          <a:ln w="12700">
            <a:solidFill>
              <a:srgbClr val="3D6A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6729984" y="3127248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CR-04  PO matching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1168" y="3877056"/>
            <a:ext cx="2011680" cy="603504"/>
          </a:xfrm>
          <a:prstGeom prst="rect">
            <a:avLst/>
          </a:prstGeom>
          <a:solidFill>
            <a:srgbClr val="1A50C0"/>
          </a:solidFill>
          <a:ln w="12700">
            <a:solidFill>
              <a:srgbClr val="3D6A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201168" y="3877056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CR-05  Accounting rules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77440" y="3877056"/>
            <a:ext cx="2011680" cy="603504"/>
          </a:xfrm>
          <a:prstGeom prst="rect">
            <a:avLst/>
          </a:prstGeom>
          <a:solidFill>
            <a:srgbClr val="1A50C0"/>
          </a:solidFill>
          <a:ln w="12700">
            <a:solidFill>
              <a:srgbClr val="3D6A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2377440" y="3877056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CR-06  Intermediary costs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53712" y="3877056"/>
            <a:ext cx="2011680" cy="603504"/>
          </a:xfrm>
          <a:prstGeom prst="rect">
            <a:avLst/>
          </a:prstGeom>
          <a:solidFill>
            <a:srgbClr val="1A50C0"/>
          </a:solidFill>
          <a:ln w="12700">
            <a:solidFill>
              <a:srgbClr val="3D6AD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4553712" y="3877056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CR-07  Multilingual QA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A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Daria Bystrova &amp; Julian Granados  ·  SilverTrust  ·  ContractOS v1.1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30768" y="468172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109728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approved — with seven change requests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REVISED PROPOSAL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8229600" cy="475488"/>
          </a:xfrm>
          <a:prstGeom prst="rect">
            <a:avLst/>
          </a:prstGeom>
          <a:solidFill>
            <a:srgbClr val="E8F0FD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45720" cy="475488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21792" y="126187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ContractOS v1.0 architecture, compliance position, and LangSmith monitoring approved without objection. Seven enhancements requested during Q&amp;A.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18470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unchanged 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3931920" cy="329184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530352" y="2276856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786384" y="219456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Five-agent architecture (Agents 1–5)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78608"/>
            <a:ext cx="3931920" cy="329184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530352" y="2660904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786384" y="257860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— technically enforced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962656"/>
            <a:ext cx="3931920" cy="329184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530352" y="3044952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786384" y="296265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AI Act: Minimal / Limited risk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346704"/>
            <a:ext cx="3931920" cy="329184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530352" y="3429000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786384" y="334670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GDPR: 3 lawful bases, 3 LIAs completed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730752"/>
            <a:ext cx="3931920" cy="329184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530352" y="3813048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786384" y="373075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 observability live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114800"/>
            <a:ext cx="3931920" cy="329184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Shape 25"/>
          <p:cNvSpPr/>
          <p:nvPr/>
        </p:nvSpPr>
        <p:spPr>
          <a:xfrm>
            <a:off x="530352" y="4197096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786384" y="411480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Auto-signing rejected — human signature always required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18470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requests →  v1.1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2194560"/>
            <a:ext cx="39319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1" name="Shape 29"/>
          <p:cNvSpPr/>
          <p:nvPr/>
        </p:nvSpPr>
        <p:spPr>
          <a:xfrm>
            <a:off x="4754880" y="2194560"/>
            <a:ext cx="45720" cy="3017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4864608" y="219456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CR-01  </a:t>
            </a: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EOR coverage per country</a:t>
            </a:r>
            <a:r>
              <a:rPr lang="en-US" sz="9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Phase 1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2542032"/>
            <a:ext cx="39319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4" name="Shape 32"/>
          <p:cNvSpPr/>
          <p:nvPr/>
        </p:nvSpPr>
        <p:spPr>
          <a:xfrm>
            <a:off x="4754880" y="2542032"/>
            <a:ext cx="45720" cy="3017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/>
          <p:nvPr/>
        </p:nvSpPr>
        <p:spPr>
          <a:xfrm>
            <a:off x="4864608" y="254203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CR-02  </a:t>
            </a: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registration automation</a:t>
            </a:r>
            <a:r>
              <a:rPr lang="en-US" sz="9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Phase 2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2889504"/>
            <a:ext cx="39319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7" name="Shape 35"/>
          <p:cNvSpPr/>
          <p:nvPr/>
        </p:nvSpPr>
        <p:spPr>
          <a:xfrm>
            <a:off x="4754880" y="2889504"/>
            <a:ext cx="45720" cy="3017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/>
          <p:nvPr/>
        </p:nvSpPr>
        <p:spPr>
          <a:xfrm>
            <a:off x="4864608" y="288950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CR-03  </a:t>
            </a: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generation workflow</a:t>
            </a:r>
            <a:r>
              <a:rPr lang="en-US" sz="9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Phase 2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3236976"/>
            <a:ext cx="39319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0" name="Shape 38"/>
          <p:cNvSpPr/>
          <p:nvPr/>
        </p:nvSpPr>
        <p:spPr>
          <a:xfrm>
            <a:off x="4754880" y="3236976"/>
            <a:ext cx="45720" cy="3017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Text 39"/>
          <p:cNvSpPr/>
          <p:nvPr/>
        </p:nvSpPr>
        <p:spPr>
          <a:xfrm>
            <a:off x="4864608" y="323697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CR-04  </a:t>
            </a: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matching — Agent 2</a:t>
            </a:r>
            <a:r>
              <a:rPr lang="en-US" sz="9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Phase 1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54880" y="3584448"/>
            <a:ext cx="39319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3" name="Shape 41"/>
          <p:cNvSpPr/>
          <p:nvPr/>
        </p:nvSpPr>
        <p:spPr>
          <a:xfrm>
            <a:off x="4754880" y="3584448"/>
            <a:ext cx="45720" cy="3017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Text 42"/>
          <p:cNvSpPr/>
          <p:nvPr/>
        </p:nvSpPr>
        <p:spPr>
          <a:xfrm>
            <a:off x="4864608" y="358444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CR-05  </a:t>
            </a: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accounting rules — Agent 2</a:t>
            </a:r>
            <a:r>
              <a:rPr lang="en-US" sz="9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Phase 1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54880" y="3931920"/>
            <a:ext cx="39319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6" name="Shape 44"/>
          <p:cNvSpPr/>
          <p:nvPr/>
        </p:nvSpPr>
        <p:spPr>
          <a:xfrm>
            <a:off x="4754880" y="3931920"/>
            <a:ext cx="45720" cy="3017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7" name="Text 45"/>
          <p:cNvSpPr/>
          <p:nvPr/>
        </p:nvSpPr>
        <p:spPr>
          <a:xfrm>
            <a:off x="4864608" y="393192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CR-06  </a:t>
            </a: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Intermediary cost tracking</a:t>
            </a:r>
            <a:r>
              <a:rPr lang="en-US" sz="9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Phase 1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54880" y="4279392"/>
            <a:ext cx="39319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9" name="Shape 47"/>
          <p:cNvSpPr/>
          <p:nvPr/>
        </p:nvSpPr>
        <p:spPr>
          <a:xfrm>
            <a:off x="4754880" y="4279392"/>
            <a:ext cx="45720" cy="3017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0" name="Text 48"/>
          <p:cNvSpPr/>
          <p:nvPr/>
        </p:nvSpPr>
        <p:spPr>
          <a:xfrm>
            <a:off x="4864608" y="427939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CR-07  </a:t>
            </a: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QA plan</a:t>
            </a:r>
            <a:r>
              <a:rPr lang="en-US" sz="9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Phase 1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30768" y="468172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109728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immediate enhancements to existing agents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REVISED PROPOSAL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8229600" cy="420624"/>
          </a:xfrm>
          <a:prstGeom prst="rect">
            <a:avLst/>
          </a:prstGeom>
          <a:solidFill>
            <a:srgbClr val="E8F0FD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45720" cy="420624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21792" y="1261872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change requests implemented as enhancements to Agent 2, 4, and 5. No new agents required. Ready for v1.1.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82296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45720" cy="89611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457200" y="1828800"/>
            <a:ext cx="1097280" cy="896112"/>
          </a:xfrm>
          <a:prstGeom prst="rect">
            <a:avLst/>
          </a:prstGeom>
          <a:solidFill>
            <a:srgbClr val="E8F0FD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475488" y="1901952"/>
            <a:ext cx="106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" y="2304288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CR-01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664208" y="190195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EOR Coverage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64208" y="2231136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contracts in countries where Oracle has no legal entity (Russia, India, PK, BD, PH). Output: EOR required flag + estimated EOR cost range + recommended action. Agent 5 tracks EOR fees as a named cost category.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82296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45720" cy="8961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1097280" cy="896112"/>
          </a:xfrm>
          <a:prstGeom prst="rect">
            <a:avLst/>
          </a:prstGeom>
          <a:solidFill>
            <a:srgbClr val="E8F0FD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475488" y="2907792"/>
            <a:ext cx="106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" y="3310128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CR-04 + CR-05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664208" y="290779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Matching + Local Accounting Rules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64208" y="3236976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2 now compares invoice against contract AND Purchase Order (three-way match). Also checks jurisdiction-specific accounting thresholds — Germany, India, Philippines in v1.1. Flags if invoice triggers different accounting treatment.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82296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45720" cy="89611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1097280" cy="896112"/>
          </a:xfrm>
          <a:prstGeom prst="rect">
            <a:avLst/>
          </a:prstGeom>
          <a:solidFill>
            <a:srgbClr val="E8F0FD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475488" y="3913632"/>
            <a:ext cx="10607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2 + 5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" y="4315968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CR-06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664208" y="391363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Intermediary Cost Tracking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664208" y="4242816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Intermediary fees (staffing agencies, EOR providers, government fees) tracked as adjacent costs per contract. New cost subcategories: staffing_agency · eor_provider · government_fee · legal_counsel. Alert if intermediary costs exceed 30% of country spend.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30768" y="468172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109728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new capabilities after go-live stabilisation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REVISED PROPOSAL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8229600" cy="475488"/>
          </a:xfrm>
          <a:prstGeom prst="rect">
            <a:avLst/>
          </a:prstGeom>
          <a:solidFill>
            <a:srgbClr val="E8F0FD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45720" cy="475488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21792" y="126187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explicitly requested full process automation up to the human signature step. Two Phase 2 capabilities scoped — compliance research required before commitment.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1847088"/>
            <a:ext cx="3931920" cy="3072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457200" y="1847088"/>
            <a:ext cx="3931920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566928" y="1847088"/>
            <a:ext cx="3712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CR-02  Social Registration Automation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2304288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Trigger: New contract created in target country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6928" y="2651760"/>
            <a:ext cx="164592" cy="1645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804672" y="261518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Pulls country-specific social security + insurance registration requirements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6928" y="3035808"/>
            <a:ext cx="164592" cy="1645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804672" y="299923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Pre-fills registration forms with contract data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6928" y="3419856"/>
            <a:ext cx="164592" cy="1645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804672" y="338328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to HR for review and official submission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" y="3803904"/>
            <a:ext cx="164592" cy="1645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804672" y="376732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submits to government bodies — agent prepares only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66928" y="4261104"/>
            <a:ext cx="3712464" cy="475488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621792" y="4261104"/>
            <a:ext cx="3602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Pre-condition: legal review per jurisdiction before automation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54880" y="1847088"/>
            <a:ext cx="3931920" cy="3072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4754880" y="1847088"/>
            <a:ext cx="3931920" cy="384048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4864608" y="1847088"/>
            <a:ext cx="3712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CR-03  Contract Generation Workflow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64608" y="2304288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Trigger: HR onboards a new worker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64608" y="2651760"/>
            <a:ext cx="164592" cy="164592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5102352" y="261518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Collects: name, role, country, contract type, rate, start date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64608" y="3035808"/>
            <a:ext cx="164592" cy="164592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5102352" y="299923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generates draft contract using jurisdiction-specific template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64608" y="3419856"/>
            <a:ext cx="164592" cy="164592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5102352" y="338328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produced in local language + English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64608" y="3803904"/>
            <a:ext cx="164592" cy="164592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/>
          <p:nvPr/>
        </p:nvSpPr>
        <p:spPr>
          <a:xfrm>
            <a:off x="5102352" y="376732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Lawyer reviews first template per country — approved templates reused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64608" y="4261104"/>
            <a:ext cx="3712464" cy="475488"/>
          </a:xfrm>
          <a:prstGeom prst="rect">
            <a:avLst/>
          </a:prstGeom>
          <a:solidFill>
            <a:srgbClr val="E8F0FD"/>
          </a:solidFill>
          <a:ln w="12700">
            <a:solidFill>
              <a:srgbClr val="C5D9F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/>
          <p:nvPr/>
        </p:nvSpPr>
        <p:spPr>
          <a:xfrm>
            <a:off x="4919472" y="4261104"/>
            <a:ext cx="3602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Auto-signing explicitly out of scope — human signature always required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30768" y="468172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109728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QA plan + revised scope summary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REVISED PROPOSAL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8229600" cy="420624"/>
          </a:xfrm>
          <a:prstGeom prst="rect">
            <a:avLst/>
          </a:prstGeom>
          <a:solidFill>
            <a:srgbClr val="E8F0FD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45720" cy="420624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21792" y="1261872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CR-07: Formal three-phase QA plan for Agent 1 across all operating languages. Revised scope table with phases and priorities.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17922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CR-07 — Multilingual QA Plan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594360" cy="292608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493776" y="2103120"/>
            <a:ext cx="521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97280" y="2103120"/>
            <a:ext cx="1874520" cy="292608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1133856" y="2103120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017520" y="2103120"/>
            <a:ext cx="1188720" cy="292608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3054096" y="210312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432304"/>
            <a:ext cx="594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1097280" y="2432304"/>
            <a:ext cx="1874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3017520" y="2432304"/>
            <a:ext cx="11887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493776" y="2432304"/>
            <a:ext cx="521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" y="2432304"/>
            <a:ext cx="1801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test contracts per language, manual verification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054096" y="2432304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≥90% field accuracy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2779776"/>
            <a:ext cx="594360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1097280" y="2779776"/>
            <a:ext cx="1874520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3017520" y="2779776"/>
            <a:ext cx="1188720" cy="329184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493776" y="2779776"/>
            <a:ext cx="521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" y="2779776"/>
            <a:ext cx="1801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 extraction prompts per language from errors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054096" y="277977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≥95% field accuracy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3127248"/>
            <a:ext cx="594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Shape 28"/>
          <p:cNvSpPr/>
          <p:nvPr/>
        </p:nvSpPr>
        <p:spPr>
          <a:xfrm>
            <a:off x="1097280" y="3127248"/>
            <a:ext cx="1874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Shape 29"/>
          <p:cNvSpPr/>
          <p:nvPr/>
        </p:nvSpPr>
        <p:spPr>
          <a:xfrm>
            <a:off x="3017520" y="3127248"/>
            <a:ext cx="11887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493776" y="3127248"/>
            <a:ext cx="521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3856" y="3127248"/>
            <a:ext cx="1801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 monitors confidence scores in production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054096" y="312724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if &lt; 0.80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57200" y="35112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Languages: English · Russian · Hindi · Urdu · Filipino · Bengali · German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572000" y="17922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Revised scope summary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0" y="2103120"/>
            <a:ext cx="2423160" cy="292608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/>
          <p:nvPr/>
        </p:nvSpPr>
        <p:spPr>
          <a:xfrm>
            <a:off x="4608576" y="2103120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040880" y="2103120"/>
            <a:ext cx="1234440" cy="292608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Text 38"/>
          <p:cNvSpPr/>
          <p:nvPr/>
        </p:nvSpPr>
        <p:spPr>
          <a:xfrm>
            <a:off x="7077456" y="2103120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321040" y="2103120"/>
            <a:ext cx="548640" cy="292608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2" name="Text 40"/>
          <p:cNvSpPr/>
          <p:nvPr/>
        </p:nvSpPr>
        <p:spPr>
          <a:xfrm>
            <a:off x="8357616" y="210312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0" y="2432304"/>
            <a:ext cx="2423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Shape 42"/>
          <p:cNvSpPr/>
          <p:nvPr/>
        </p:nvSpPr>
        <p:spPr>
          <a:xfrm>
            <a:off x="7040880" y="2432304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5" name="Shape 43"/>
          <p:cNvSpPr/>
          <p:nvPr/>
        </p:nvSpPr>
        <p:spPr>
          <a:xfrm>
            <a:off x="8321040" y="2432304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Text 44"/>
          <p:cNvSpPr/>
          <p:nvPr/>
        </p:nvSpPr>
        <p:spPr>
          <a:xfrm>
            <a:off x="4608576" y="2432304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Five-agent core (v1.0)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077456" y="2432304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357616" y="243230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572000" y="2706624"/>
            <a:ext cx="2423160" cy="256032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0" name="Shape 48"/>
          <p:cNvSpPr/>
          <p:nvPr/>
        </p:nvSpPr>
        <p:spPr>
          <a:xfrm>
            <a:off x="7040880" y="2706624"/>
            <a:ext cx="1234440" cy="256032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1" name="Shape 49"/>
          <p:cNvSpPr/>
          <p:nvPr/>
        </p:nvSpPr>
        <p:spPr>
          <a:xfrm>
            <a:off x="8321040" y="2706624"/>
            <a:ext cx="548640" cy="256032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2" name="Text 50"/>
          <p:cNvSpPr/>
          <p:nvPr/>
        </p:nvSpPr>
        <p:spPr>
          <a:xfrm>
            <a:off x="4608576" y="2706624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EOR flagging (Agent 4)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077456" y="2706624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v1.1 — now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357616" y="270662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572000" y="2980944"/>
            <a:ext cx="2423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6" name="Shape 54"/>
          <p:cNvSpPr/>
          <p:nvPr/>
        </p:nvSpPr>
        <p:spPr>
          <a:xfrm>
            <a:off x="7040880" y="2980944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7" name="Shape 55"/>
          <p:cNvSpPr/>
          <p:nvPr/>
        </p:nvSpPr>
        <p:spPr>
          <a:xfrm>
            <a:off x="8321040" y="2980944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8" name="Text 56"/>
          <p:cNvSpPr/>
          <p:nvPr/>
        </p:nvSpPr>
        <p:spPr>
          <a:xfrm>
            <a:off x="4608576" y="2980944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Intermediary tracking (A2+A5)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077456" y="2980944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v1.1 — now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8357616" y="298094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572000" y="3255264"/>
            <a:ext cx="2423160" cy="256032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2" name="Shape 60"/>
          <p:cNvSpPr/>
          <p:nvPr/>
        </p:nvSpPr>
        <p:spPr>
          <a:xfrm>
            <a:off x="7040880" y="3255264"/>
            <a:ext cx="1234440" cy="256032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3" name="Shape 61"/>
          <p:cNvSpPr/>
          <p:nvPr/>
        </p:nvSpPr>
        <p:spPr>
          <a:xfrm>
            <a:off x="8321040" y="3255264"/>
            <a:ext cx="548640" cy="256032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4" name="Text 62"/>
          <p:cNvSpPr/>
          <p:nvPr/>
        </p:nvSpPr>
        <p:spPr>
          <a:xfrm>
            <a:off x="4608576" y="3255264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matching (Agent 2)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7077456" y="3255264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v1.1 — now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8357616" y="325526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4572000" y="3529584"/>
            <a:ext cx="2423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8" name="Shape 66"/>
          <p:cNvSpPr/>
          <p:nvPr/>
        </p:nvSpPr>
        <p:spPr>
          <a:xfrm>
            <a:off x="7040880" y="3529584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9" name="Shape 67"/>
          <p:cNvSpPr/>
          <p:nvPr/>
        </p:nvSpPr>
        <p:spPr>
          <a:xfrm>
            <a:off x="8321040" y="3529584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0" name="Text 68"/>
          <p:cNvSpPr/>
          <p:nvPr/>
        </p:nvSpPr>
        <p:spPr>
          <a:xfrm>
            <a:off x="4608576" y="3529584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accounting (Agent 2)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7077456" y="3529584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v1.1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8357616" y="352958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4572000" y="3803904"/>
            <a:ext cx="2423160" cy="256032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4" name="Shape 72"/>
          <p:cNvSpPr/>
          <p:nvPr/>
        </p:nvSpPr>
        <p:spPr>
          <a:xfrm>
            <a:off x="7040880" y="3803904"/>
            <a:ext cx="1234440" cy="256032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5" name="Shape 73"/>
          <p:cNvSpPr/>
          <p:nvPr/>
        </p:nvSpPr>
        <p:spPr>
          <a:xfrm>
            <a:off x="8321040" y="3803904"/>
            <a:ext cx="548640" cy="256032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6" name="Text 74"/>
          <p:cNvSpPr/>
          <p:nvPr/>
        </p:nvSpPr>
        <p:spPr>
          <a:xfrm>
            <a:off x="4608576" y="3803904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QA plan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7077456" y="3803904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v1.1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8357616" y="380390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4572000" y="4078224"/>
            <a:ext cx="2423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0" name="Shape 78"/>
          <p:cNvSpPr/>
          <p:nvPr/>
        </p:nvSpPr>
        <p:spPr>
          <a:xfrm>
            <a:off x="7040880" y="4078224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1" name="Shape 79"/>
          <p:cNvSpPr/>
          <p:nvPr/>
        </p:nvSpPr>
        <p:spPr>
          <a:xfrm>
            <a:off x="8321040" y="4078224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2" name="Text 80"/>
          <p:cNvSpPr/>
          <p:nvPr/>
        </p:nvSpPr>
        <p:spPr>
          <a:xfrm>
            <a:off x="4608576" y="4078224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registration auto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7077456" y="4078224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8357616" y="407822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4572000" y="4352544"/>
            <a:ext cx="2423160" cy="256032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6" name="Shape 84"/>
          <p:cNvSpPr/>
          <p:nvPr/>
        </p:nvSpPr>
        <p:spPr>
          <a:xfrm>
            <a:off x="7040880" y="4352544"/>
            <a:ext cx="1234440" cy="256032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7" name="Shape 85"/>
          <p:cNvSpPr/>
          <p:nvPr/>
        </p:nvSpPr>
        <p:spPr>
          <a:xfrm>
            <a:off x="8321040" y="4352544"/>
            <a:ext cx="548640" cy="256032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8" name="Text 86"/>
          <p:cNvSpPr/>
          <p:nvPr/>
        </p:nvSpPr>
        <p:spPr>
          <a:xfrm>
            <a:off x="4608576" y="4352544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generation workflow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7077456" y="4352544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8357616" y="435254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4572000" y="4626864"/>
            <a:ext cx="2423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2" name="Shape 90"/>
          <p:cNvSpPr/>
          <p:nvPr/>
        </p:nvSpPr>
        <p:spPr>
          <a:xfrm>
            <a:off x="7040880" y="4626864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3" name="Shape 91"/>
          <p:cNvSpPr/>
          <p:nvPr/>
        </p:nvSpPr>
        <p:spPr>
          <a:xfrm>
            <a:off x="8321040" y="4626864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4" name="Text 92"/>
          <p:cNvSpPr/>
          <p:nvPr/>
        </p:nvSpPr>
        <p:spPr>
          <a:xfrm>
            <a:off x="4608576" y="4626864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Auto-signing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7077456" y="4626864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8357616" y="462686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30768" y="468172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THE REVISED ASK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09728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The Revised Ask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8229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530352" y="1216152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30352" y="1216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143000"/>
            <a:ext cx="7635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ContractOS v1.0 approved — five agents, compliance position, LangSmith monitoring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8229600" cy="438912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530352" y="1719072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30352" y="1719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645920"/>
            <a:ext cx="7635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change requests received and documented — all addressed in this revised proposal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148840"/>
            <a:ext cx="8229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530352" y="2221992"/>
            <a:ext cx="292608" cy="292608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30352" y="2221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148840"/>
            <a:ext cx="7635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enhancements ready: EOR flagging · PO matching · intermediary cost tracking · accounting rules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2651760"/>
            <a:ext cx="8229600" cy="438912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530352" y="2724912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53035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2651760"/>
            <a:ext cx="7635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scoped: social registration automation + contract generation workflow (post go-live)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154680"/>
            <a:ext cx="8229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530352" y="3227832"/>
            <a:ext cx="292608" cy="292608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530352" y="3227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0120" y="3154680"/>
            <a:ext cx="7635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QA plan formalised: 3 phases, acceptance criteria per language, 7 languages covered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3657600"/>
            <a:ext cx="8229600" cy="438912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530352" y="3730752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530352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60120" y="3657600"/>
            <a:ext cx="7635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Auto-signing out of scope — human signature always required — accepted by client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0" y="4224528"/>
            <a:ext cx="9144000" cy="658368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457200" y="42245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you approve ContractOS v1.1 for Oracle Game Studio?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2428</Words>
  <Application>Microsoft Office PowerPoint</Application>
  <PresentationFormat>On-screen Show (16:9)</PresentationFormat>
  <Paragraphs>348</Paragraphs>
  <Slides>18</Slides>
  <Notes>12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ContractOS — SilverTrust Pitch</dc:title>
  <dc:subject>PptxGenJS Presentation</dc:subject>
  <dc:creator>PptxGenJS</dc:creator>
  <cp:lastModifiedBy>Daria Bystrova</cp:lastModifiedBy>
  <cp:revision>9</cp:revision>
  <dcterms:created xsi:type="dcterms:W3CDTF">2026-06-01T20:33:28Z</dcterms:created>
  <dcterms:modified xsi:type="dcterms:W3CDTF">2026-06-02T13:07:29Z</dcterms:modified>
</cp:coreProperties>
</file>