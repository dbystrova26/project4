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7" d="100"/>
          <a:sy n="97" d="100"/>
        </p:scale>
        <p:origin x="32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2268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5AEE"/>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FFFFFF"/>
          </a:solidFill>
          <a:ln w="12700">
            <a:solidFill>
              <a:srgbClr val="FFFFFF"/>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005AEE"/>
                </a:solidFill>
                <a:latin typeface="Arial" pitchFamily="34" charset="0"/>
                <a:ea typeface="Arial" pitchFamily="34" charset="-122"/>
                <a:cs typeface="Arial" pitchFamily="34" charset="-120"/>
              </a:rPr>
              <a:t>ih</a:t>
            </a:r>
            <a:endParaRPr lang="en-US" sz="1200" dirty="0"/>
          </a:p>
        </p:txBody>
      </p:sp>
      <p:sp>
        <p:nvSpPr>
          <p:cNvPr id="4" name="Text 2"/>
          <p:cNvSpPr/>
          <p:nvPr/>
        </p:nvSpPr>
        <p:spPr>
          <a:xfrm>
            <a:off x="548640" y="777240"/>
            <a:ext cx="8229600" cy="1280160"/>
          </a:xfrm>
          <a:prstGeom prst="rect">
            <a:avLst/>
          </a:prstGeom>
          <a:noFill/>
          <a:ln/>
        </p:spPr>
        <p:txBody>
          <a:bodyPr wrap="square" lIns="0" tIns="0" rIns="0" bIns="0" rtlCol="0" anchor="ctr"/>
          <a:lstStyle/>
          <a:p>
            <a:pPr marL="0" indent="0" algn="l">
              <a:buNone/>
            </a:pPr>
            <a:r>
              <a:rPr lang="en-US" sz="6800" b="1" dirty="0">
                <a:solidFill>
                  <a:srgbClr val="FFFFFF"/>
                </a:solidFill>
                <a:latin typeface="Arial" pitchFamily="34" charset="0"/>
                <a:ea typeface="Arial" pitchFamily="34" charset="-122"/>
                <a:cs typeface="Arial" pitchFamily="34" charset="-120"/>
              </a:rPr>
              <a:t>ContractOS</a:t>
            </a:r>
            <a:endParaRPr lang="en-US" sz="6800" dirty="0"/>
          </a:p>
        </p:txBody>
      </p:sp>
      <p:sp>
        <p:nvSpPr>
          <p:cNvPr id="5" name="Shape 3"/>
          <p:cNvSpPr/>
          <p:nvPr/>
        </p:nvSpPr>
        <p:spPr>
          <a:xfrm>
            <a:off x="548640" y="2176272"/>
            <a:ext cx="2743200" cy="45720"/>
          </a:xfrm>
          <a:prstGeom prst="rect">
            <a:avLst/>
          </a:prstGeom>
          <a:solidFill>
            <a:srgbClr val="FFFFFF"/>
          </a:solidFill>
          <a:ln w="12700">
            <a:solidFill>
              <a:srgbClr val="FFFFFF"/>
            </a:solidFill>
            <a:prstDash val="solid"/>
          </a:ln>
        </p:spPr>
        <p:txBody>
          <a:bodyPr/>
          <a:lstStyle/>
          <a:p>
            <a:endParaRPr lang="de-DE"/>
          </a:p>
        </p:txBody>
      </p:sp>
      <p:sp>
        <p:nvSpPr>
          <p:cNvPr id="6" name="Text 4"/>
          <p:cNvSpPr/>
          <p:nvPr/>
        </p:nvSpPr>
        <p:spPr>
          <a:xfrm>
            <a:off x="548640" y="2304288"/>
            <a:ext cx="8229600" cy="384048"/>
          </a:xfrm>
          <a:prstGeom prst="rect">
            <a:avLst/>
          </a:prstGeom>
          <a:noFill/>
          <a:ln/>
        </p:spPr>
        <p:txBody>
          <a:bodyPr wrap="square" lIns="0" tIns="0" rIns="0" bIns="0" rtlCol="0" anchor="ctr"/>
          <a:lstStyle/>
          <a:p>
            <a:pPr marL="0" indent="0" algn="l">
              <a:buNone/>
            </a:pPr>
            <a:r>
              <a:rPr lang="en-US" sz="1700" dirty="0">
                <a:solidFill>
                  <a:srgbClr val="A8C8FF"/>
                </a:solidFill>
                <a:latin typeface="Arial" pitchFamily="34" charset="0"/>
                <a:ea typeface="Arial" pitchFamily="34" charset="-122"/>
                <a:cs typeface="Arial" pitchFamily="34" charset="-120"/>
              </a:rPr>
              <a:t>AI-Powered Contract &amp; Payroll Intelligence</a:t>
            </a:r>
            <a:endParaRPr lang="en-US" sz="1700" dirty="0"/>
          </a:p>
        </p:txBody>
      </p:sp>
      <p:sp>
        <p:nvSpPr>
          <p:cNvPr id="7" name="Text 5"/>
          <p:cNvSpPr/>
          <p:nvPr/>
        </p:nvSpPr>
        <p:spPr>
          <a:xfrm>
            <a:off x="548640" y="2724912"/>
            <a:ext cx="8229600" cy="347472"/>
          </a:xfrm>
          <a:prstGeom prst="rect">
            <a:avLst/>
          </a:prstGeom>
          <a:noFill/>
          <a:ln/>
        </p:spPr>
        <p:txBody>
          <a:bodyPr wrap="square" lIns="0" tIns="0" rIns="0" bIns="0" rtlCol="0" anchor="ctr"/>
          <a:lstStyle/>
          <a:p>
            <a:pPr marL="0" indent="0" algn="l">
              <a:buNone/>
            </a:pPr>
            <a:r>
              <a:rPr lang="en-US" sz="1600" dirty="0">
                <a:solidFill>
                  <a:srgbClr val="A8C8FF"/>
                </a:solidFill>
                <a:latin typeface="Arial" pitchFamily="34" charset="0"/>
                <a:ea typeface="Arial" pitchFamily="34" charset="-122"/>
                <a:cs typeface="Arial" pitchFamily="34" charset="-120"/>
              </a:rPr>
              <a:t>for Oracle Game Studio</a:t>
            </a:r>
            <a:endParaRPr lang="en-US" sz="1600" dirty="0"/>
          </a:p>
        </p:txBody>
      </p:sp>
      <p:sp>
        <p:nvSpPr>
          <p:cNvPr id="8" name="Text 6"/>
          <p:cNvSpPr/>
          <p:nvPr/>
        </p:nvSpPr>
        <p:spPr>
          <a:xfrm>
            <a:off x="548640" y="3218688"/>
            <a:ext cx="8229600" cy="274320"/>
          </a:xfrm>
          <a:prstGeom prst="rect">
            <a:avLst/>
          </a:prstGeom>
          <a:noFill/>
          <a:ln/>
        </p:spPr>
        <p:txBody>
          <a:bodyPr wrap="square" lIns="0" tIns="0" rIns="0" bIns="0" rtlCol="0" anchor="ctr"/>
          <a:lstStyle/>
          <a:p>
            <a:pPr marL="0" indent="0" algn="l">
              <a:buNone/>
            </a:pPr>
            <a:r>
              <a:rPr lang="en-US" sz="1100" dirty="0">
                <a:solidFill>
                  <a:srgbClr val="7AAAEE"/>
                </a:solidFill>
                <a:latin typeface="Arial" pitchFamily="34" charset="0"/>
                <a:ea typeface="Arial" pitchFamily="34" charset="-122"/>
                <a:cs typeface="Arial" pitchFamily="34" charset="-120"/>
              </a:rPr>
              <a:t>Daria Bystrova &amp; Julian Granados  ·  SilverTrust  ·  Final Pitch — ContractOS v1.1</a:t>
            </a:r>
            <a:endParaRPr lang="en-US" sz="1100" dirty="0"/>
          </a:p>
        </p:txBody>
      </p:sp>
      <p:sp>
        <p:nvSpPr>
          <p:cNvPr id="9" name="Shape 7"/>
          <p:cNvSpPr/>
          <p:nvPr/>
        </p:nvSpPr>
        <p:spPr>
          <a:xfrm>
            <a:off x="0" y="4005072"/>
            <a:ext cx="9144000" cy="1152144"/>
          </a:xfrm>
          <a:prstGeom prst="rect">
            <a:avLst/>
          </a:prstGeom>
          <a:solidFill>
            <a:srgbClr val="003FA8"/>
          </a:solidFill>
          <a:ln w="12700">
            <a:solidFill>
              <a:srgbClr val="003FA8"/>
            </a:solidFill>
            <a:prstDash val="solid"/>
          </a:ln>
        </p:spPr>
        <p:txBody>
          <a:bodyPr/>
          <a:lstStyle/>
          <a:p>
            <a:endParaRPr lang="de-DE"/>
          </a:p>
        </p:txBody>
      </p:sp>
      <p:sp>
        <p:nvSpPr>
          <p:cNvPr id="10" name="Shape 8"/>
          <p:cNvSpPr/>
          <p:nvPr/>
        </p:nvSpPr>
        <p:spPr>
          <a:xfrm>
            <a:off x="201168" y="4114800"/>
            <a:ext cx="1371600" cy="914400"/>
          </a:xfrm>
          <a:prstGeom prst="rect">
            <a:avLst/>
          </a:prstGeom>
          <a:solidFill>
            <a:srgbClr val="1A50C0"/>
          </a:solidFill>
          <a:ln w="12700">
            <a:solidFill>
              <a:srgbClr val="3D6AD6"/>
            </a:solidFill>
            <a:prstDash val="solid"/>
          </a:ln>
        </p:spPr>
        <p:txBody>
          <a:bodyPr/>
          <a:lstStyle/>
          <a:p>
            <a:endParaRPr lang="de-DE"/>
          </a:p>
        </p:txBody>
      </p:sp>
      <p:sp>
        <p:nvSpPr>
          <p:cNvPr id="11" name="Text 9"/>
          <p:cNvSpPr/>
          <p:nvPr/>
        </p:nvSpPr>
        <p:spPr>
          <a:xfrm>
            <a:off x="201168" y="4151376"/>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2" name="Text 10"/>
          <p:cNvSpPr/>
          <p:nvPr/>
        </p:nvSpPr>
        <p:spPr>
          <a:xfrm>
            <a:off x="201168" y="4480560"/>
            <a:ext cx="1371600" cy="329184"/>
          </a:xfrm>
          <a:prstGeom prst="rect">
            <a:avLst/>
          </a:prstGeom>
          <a:noFill/>
          <a:ln/>
        </p:spPr>
        <p:txBody>
          <a:bodyPr wrap="square" lIns="0" tIns="0" rIns="0" bIns="0" rtlCol="0" anchor="ctr"/>
          <a:lstStyle/>
          <a:p>
            <a:pPr marL="0" indent="0" algn="ctr">
              <a:buNone/>
            </a:pPr>
            <a:r>
              <a:rPr lang="en-US" sz="900" dirty="0">
                <a:solidFill>
                  <a:srgbClr val="A8C8FF"/>
                </a:solidFill>
                <a:latin typeface="Arial" pitchFamily="34" charset="0"/>
                <a:ea typeface="Arial" pitchFamily="34" charset="-122"/>
                <a:cs typeface="Arial" pitchFamily="34" charset="-120"/>
              </a:rPr>
              <a:t>Client &amp; Problem</a:t>
            </a:r>
            <a:endParaRPr lang="en-US" sz="900" dirty="0"/>
          </a:p>
        </p:txBody>
      </p:sp>
      <p:sp>
        <p:nvSpPr>
          <p:cNvPr id="13" name="Shape 11"/>
          <p:cNvSpPr/>
          <p:nvPr/>
        </p:nvSpPr>
        <p:spPr>
          <a:xfrm>
            <a:off x="1682496" y="4114800"/>
            <a:ext cx="1371600" cy="914400"/>
          </a:xfrm>
          <a:prstGeom prst="rect">
            <a:avLst/>
          </a:prstGeom>
          <a:solidFill>
            <a:srgbClr val="1A50C0"/>
          </a:solidFill>
          <a:ln w="12700">
            <a:solidFill>
              <a:srgbClr val="3D6AD6"/>
            </a:solidFill>
            <a:prstDash val="solid"/>
          </a:ln>
        </p:spPr>
        <p:txBody>
          <a:bodyPr/>
          <a:lstStyle/>
          <a:p>
            <a:endParaRPr lang="de-DE"/>
          </a:p>
        </p:txBody>
      </p:sp>
      <p:sp>
        <p:nvSpPr>
          <p:cNvPr id="14" name="Text 12"/>
          <p:cNvSpPr/>
          <p:nvPr/>
        </p:nvSpPr>
        <p:spPr>
          <a:xfrm>
            <a:off x="1682496" y="4151376"/>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5" name="Text 13"/>
          <p:cNvSpPr/>
          <p:nvPr/>
        </p:nvSpPr>
        <p:spPr>
          <a:xfrm>
            <a:off x="1682496" y="4480560"/>
            <a:ext cx="1371600" cy="329184"/>
          </a:xfrm>
          <a:prstGeom prst="rect">
            <a:avLst/>
          </a:prstGeom>
          <a:noFill/>
          <a:ln/>
        </p:spPr>
        <p:txBody>
          <a:bodyPr wrap="square" lIns="0" tIns="0" rIns="0" bIns="0" rtlCol="0" anchor="ctr"/>
          <a:lstStyle/>
          <a:p>
            <a:pPr marL="0" indent="0" algn="ctr">
              <a:buNone/>
            </a:pPr>
            <a:r>
              <a:rPr lang="en-US" sz="900" dirty="0">
                <a:solidFill>
                  <a:srgbClr val="A8C8FF"/>
                </a:solidFill>
                <a:latin typeface="Arial" pitchFamily="34" charset="0"/>
                <a:ea typeface="Arial" pitchFamily="34" charset="-122"/>
                <a:cs typeface="Arial" pitchFamily="34" charset="-120"/>
              </a:rPr>
              <a:t>The Solution</a:t>
            </a:r>
            <a:endParaRPr lang="en-US" sz="900" dirty="0"/>
          </a:p>
        </p:txBody>
      </p:sp>
      <p:sp>
        <p:nvSpPr>
          <p:cNvPr id="16" name="Shape 14"/>
          <p:cNvSpPr/>
          <p:nvPr/>
        </p:nvSpPr>
        <p:spPr>
          <a:xfrm>
            <a:off x="3163824" y="4114800"/>
            <a:ext cx="1371600" cy="914400"/>
          </a:xfrm>
          <a:prstGeom prst="rect">
            <a:avLst/>
          </a:prstGeom>
          <a:solidFill>
            <a:srgbClr val="1A50C0"/>
          </a:solidFill>
          <a:ln w="12700">
            <a:solidFill>
              <a:srgbClr val="3D6AD6"/>
            </a:solidFill>
            <a:prstDash val="solid"/>
          </a:ln>
        </p:spPr>
        <p:txBody>
          <a:bodyPr/>
          <a:lstStyle/>
          <a:p>
            <a:endParaRPr lang="de-DE"/>
          </a:p>
        </p:txBody>
      </p:sp>
      <p:sp>
        <p:nvSpPr>
          <p:cNvPr id="17" name="Text 15"/>
          <p:cNvSpPr/>
          <p:nvPr/>
        </p:nvSpPr>
        <p:spPr>
          <a:xfrm>
            <a:off x="3163824" y="4151376"/>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18" name="Text 16"/>
          <p:cNvSpPr/>
          <p:nvPr/>
        </p:nvSpPr>
        <p:spPr>
          <a:xfrm>
            <a:off x="3163824" y="4480560"/>
            <a:ext cx="1371600" cy="329184"/>
          </a:xfrm>
          <a:prstGeom prst="rect">
            <a:avLst/>
          </a:prstGeom>
          <a:noFill/>
          <a:ln/>
        </p:spPr>
        <p:txBody>
          <a:bodyPr wrap="square" lIns="0" tIns="0" rIns="0" bIns="0" rtlCol="0" anchor="ctr"/>
          <a:lstStyle/>
          <a:p>
            <a:pPr marL="0" indent="0" algn="ctr">
              <a:buNone/>
            </a:pPr>
            <a:r>
              <a:rPr lang="en-US" sz="900" dirty="0">
                <a:solidFill>
                  <a:srgbClr val="A8C8FF"/>
                </a:solidFill>
                <a:latin typeface="Arial" pitchFamily="34" charset="0"/>
                <a:ea typeface="Arial" pitchFamily="34" charset="-122"/>
                <a:cs typeface="Arial" pitchFamily="34" charset="-120"/>
              </a:rPr>
              <a:t>Compliance</a:t>
            </a:r>
            <a:endParaRPr lang="en-US" sz="900" dirty="0"/>
          </a:p>
        </p:txBody>
      </p:sp>
      <p:sp>
        <p:nvSpPr>
          <p:cNvPr id="19" name="Shape 17"/>
          <p:cNvSpPr/>
          <p:nvPr/>
        </p:nvSpPr>
        <p:spPr>
          <a:xfrm>
            <a:off x="4645152" y="4114800"/>
            <a:ext cx="1371600" cy="914400"/>
          </a:xfrm>
          <a:prstGeom prst="rect">
            <a:avLst/>
          </a:prstGeom>
          <a:solidFill>
            <a:srgbClr val="1A50C0"/>
          </a:solidFill>
          <a:ln w="12700">
            <a:solidFill>
              <a:srgbClr val="3D6AD6"/>
            </a:solidFill>
            <a:prstDash val="solid"/>
          </a:ln>
        </p:spPr>
        <p:txBody>
          <a:bodyPr/>
          <a:lstStyle/>
          <a:p>
            <a:endParaRPr lang="de-DE"/>
          </a:p>
        </p:txBody>
      </p:sp>
      <p:sp>
        <p:nvSpPr>
          <p:cNvPr id="20" name="Text 18"/>
          <p:cNvSpPr/>
          <p:nvPr/>
        </p:nvSpPr>
        <p:spPr>
          <a:xfrm>
            <a:off x="4645152" y="4151376"/>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1" name="Text 19"/>
          <p:cNvSpPr/>
          <p:nvPr/>
        </p:nvSpPr>
        <p:spPr>
          <a:xfrm>
            <a:off x="4645152" y="4480560"/>
            <a:ext cx="1371600" cy="329184"/>
          </a:xfrm>
          <a:prstGeom prst="rect">
            <a:avLst/>
          </a:prstGeom>
          <a:noFill/>
          <a:ln/>
        </p:spPr>
        <p:txBody>
          <a:bodyPr wrap="square" lIns="0" tIns="0" rIns="0" bIns="0" rtlCol="0" anchor="ctr"/>
          <a:lstStyle/>
          <a:p>
            <a:pPr marL="0" indent="0" algn="ctr">
              <a:buNone/>
            </a:pPr>
            <a:r>
              <a:rPr lang="en-US" sz="900" dirty="0">
                <a:solidFill>
                  <a:srgbClr val="A8C8FF"/>
                </a:solidFill>
                <a:latin typeface="Arial" pitchFamily="34" charset="0"/>
                <a:ea typeface="Arial" pitchFamily="34" charset="-122"/>
                <a:cs typeface="Arial" pitchFamily="34" charset="-120"/>
              </a:rPr>
              <a:t>Monitoring</a:t>
            </a:r>
            <a:endParaRPr lang="en-US" sz="900" dirty="0"/>
          </a:p>
        </p:txBody>
      </p:sp>
      <p:sp>
        <p:nvSpPr>
          <p:cNvPr id="22" name="Shape 20"/>
          <p:cNvSpPr/>
          <p:nvPr/>
        </p:nvSpPr>
        <p:spPr>
          <a:xfrm>
            <a:off x="6126480" y="4114800"/>
            <a:ext cx="1371600" cy="914400"/>
          </a:xfrm>
          <a:prstGeom prst="rect">
            <a:avLst/>
          </a:prstGeom>
          <a:solidFill>
            <a:srgbClr val="1A50C0"/>
          </a:solidFill>
          <a:ln w="12700">
            <a:solidFill>
              <a:srgbClr val="3D6AD6"/>
            </a:solidFill>
            <a:prstDash val="solid"/>
          </a:ln>
        </p:spPr>
        <p:txBody>
          <a:bodyPr/>
          <a:lstStyle/>
          <a:p>
            <a:endParaRPr lang="de-DE"/>
          </a:p>
        </p:txBody>
      </p:sp>
      <p:sp>
        <p:nvSpPr>
          <p:cNvPr id="23" name="Text 21"/>
          <p:cNvSpPr/>
          <p:nvPr/>
        </p:nvSpPr>
        <p:spPr>
          <a:xfrm>
            <a:off x="6126480" y="4151376"/>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05</a:t>
            </a:r>
            <a:endParaRPr lang="en-US" sz="1100" dirty="0"/>
          </a:p>
        </p:txBody>
      </p:sp>
      <p:sp>
        <p:nvSpPr>
          <p:cNvPr id="24" name="Text 22"/>
          <p:cNvSpPr/>
          <p:nvPr/>
        </p:nvSpPr>
        <p:spPr>
          <a:xfrm>
            <a:off x="6126480" y="4480560"/>
            <a:ext cx="1371600" cy="329184"/>
          </a:xfrm>
          <a:prstGeom prst="rect">
            <a:avLst/>
          </a:prstGeom>
          <a:noFill/>
          <a:ln/>
        </p:spPr>
        <p:txBody>
          <a:bodyPr wrap="square" lIns="0" tIns="0" rIns="0" bIns="0" rtlCol="0" anchor="ctr"/>
          <a:lstStyle/>
          <a:p>
            <a:pPr marL="0" indent="0" algn="ctr">
              <a:buNone/>
            </a:pPr>
            <a:r>
              <a:rPr lang="en-US" sz="900" dirty="0">
                <a:solidFill>
                  <a:srgbClr val="A8C8FF"/>
                </a:solidFill>
                <a:latin typeface="Arial" pitchFamily="34" charset="0"/>
                <a:ea typeface="Arial" pitchFamily="34" charset="-122"/>
                <a:cs typeface="Arial" pitchFamily="34" charset="-120"/>
              </a:rPr>
              <a:t>The Ask</a:t>
            </a:r>
            <a:endParaRPr lang="en-US" sz="900" dirty="0"/>
          </a:p>
        </p:txBody>
      </p:sp>
      <p:sp>
        <p:nvSpPr>
          <p:cNvPr id="25" name="Shape 23"/>
          <p:cNvSpPr/>
          <p:nvPr/>
        </p:nvSpPr>
        <p:spPr>
          <a:xfrm>
            <a:off x="7607808" y="4114800"/>
            <a:ext cx="1371600" cy="914400"/>
          </a:xfrm>
          <a:prstGeom prst="rect">
            <a:avLst/>
          </a:prstGeom>
          <a:solidFill>
            <a:srgbClr val="2A6A30"/>
          </a:solidFill>
          <a:ln w="12700">
            <a:solidFill>
              <a:srgbClr val="3A8040"/>
            </a:solidFill>
            <a:prstDash val="solid"/>
          </a:ln>
        </p:spPr>
        <p:txBody>
          <a:bodyPr/>
          <a:lstStyle/>
          <a:p>
            <a:endParaRPr lang="de-DE"/>
          </a:p>
        </p:txBody>
      </p:sp>
      <p:sp>
        <p:nvSpPr>
          <p:cNvPr id="26" name="Text 24"/>
          <p:cNvSpPr/>
          <p:nvPr/>
        </p:nvSpPr>
        <p:spPr>
          <a:xfrm>
            <a:off x="7607808" y="4151376"/>
            <a:ext cx="13716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06</a:t>
            </a:r>
            <a:endParaRPr lang="en-US" sz="1100" dirty="0"/>
          </a:p>
        </p:txBody>
      </p:sp>
      <p:sp>
        <p:nvSpPr>
          <p:cNvPr id="27" name="Text 25"/>
          <p:cNvSpPr/>
          <p:nvPr/>
        </p:nvSpPr>
        <p:spPr>
          <a:xfrm>
            <a:off x="7607808" y="4480560"/>
            <a:ext cx="1371600" cy="329184"/>
          </a:xfrm>
          <a:prstGeom prst="rect">
            <a:avLst/>
          </a:prstGeom>
          <a:noFill/>
          <a:ln/>
        </p:spPr>
        <p:txBody>
          <a:bodyPr wrap="square" lIns="0" tIns="0" rIns="0" bIns="0" rtlCol="0" anchor="ctr"/>
          <a:lstStyle/>
          <a:p>
            <a:pPr marL="0" indent="0" algn="ctr">
              <a:buNone/>
            </a:pPr>
            <a:r>
              <a:rPr lang="en-US" sz="900" dirty="0">
                <a:solidFill>
                  <a:srgbClr val="90EE90"/>
                </a:solidFill>
                <a:latin typeface="Arial" pitchFamily="34" charset="0"/>
                <a:ea typeface="Arial" pitchFamily="34" charset="-122"/>
                <a:cs typeface="Arial" pitchFamily="34" charset="-120"/>
              </a:rPr>
              <a:t>Revised Proposal</a:t>
            </a:r>
            <a:endParaRPr lang="en-US" sz="900" dirty="0"/>
          </a:p>
        </p:txBody>
      </p:sp>
      <p:sp>
        <p:nvSpPr>
          <p:cNvPr id="28" name="Shape 26"/>
          <p:cNvSpPr/>
          <p:nvPr/>
        </p:nvSpPr>
        <p:spPr>
          <a:xfrm>
            <a:off x="9180576" y="4114800"/>
            <a:ext cx="0" cy="0"/>
          </a:xfrm>
          <a:prstGeom prst="rect">
            <a:avLst/>
          </a:prstGeom>
          <a:noFill/>
          <a:ln/>
        </p:spPr>
        <p:txBody>
          <a:bodyPr/>
          <a:lstStyle/>
          <a:p>
            <a:endParaRPr lang="de-DE"/>
          </a:p>
        </p:txBody>
      </p:sp>
      <p:sp>
        <p:nvSpPr>
          <p:cNvPr id="29" name="Text 27"/>
          <p:cNvSpPr/>
          <p:nvPr/>
        </p:nvSpPr>
        <p:spPr>
          <a:xfrm>
            <a:off x="182880" y="4864608"/>
            <a:ext cx="8778240" cy="219456"/>
          </a:xfrm>
          <a:prstGeom prst="rect">
            <a:avLst/>
          </a:prstGeom>
          <a:noFill/>
          <a:ln/>
        </p:spPr>
        <p:txBody>
          <a:bodyPr wrap="square" lIns="0" tIns="0" rIns="0" bIns="0" rtlCol="0" anchor="ctr"/>
          <a:lstStyle/>
          <a:p>
            <a:pPr marL="0" indent="0" algn="ctr">
              <a:buNone/>
            </a:pPr>
            <a:r>
              <a:rPr lang="en-US" sz="850" i="1" dirty="0">
                <a:solidFill>
                  <a:srgbClr val="7AAAEE"/>
                </a:solidFill>
                <a:latin typeface="Arial" pitchFamily="34" charset="0"/>
                <a:ea typeface="Arial" pitchFamily="34" charset="-122"/>
                <a:cs typeface="Arial" pitchFamily="34" charset="-120"/>
              </a:rPr>
              <a:t>v1.1 = updated · green = new</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Our recommendation</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OVERVIEW</a:t>
            </a:r>
            <a:endParaRPr lang="en-US" sz="850" dirty="0"/>
          </a:p>
        </p:txBody>
      </p:sp>
      <p:sp>
        <p:nvSpPr>
          <p:cNvPr id="7" name="Shape 5"/>
          <p:cNvSpPr/>
          <p:nvPr/>
        </p:nvSpPr>
        <p:spPr>
          <a:xfrm>
            <a:off x="457200" y="1261872"/>
            <a:ext cx="8229600" cy="566928"/>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566928"/>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566928"/>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Oracle's burn crisis is a cost visibility problem — ContractOS solves it with five AI agents that read every contract, catch every invoice error, and show exactly where the money is going.</a:t>
            </a:r>
            <a:endParaRPr lang="en-US" sz="1250" dirty="0"/>
          </a:p>
        </p:txBody>
      </p:sp>
      <p:sp>
        <p:nvSpPr>
          <p:cNvPr id="10" name="Text 8"/>
          <p:cNvSpPr/>
          <p:nvPr/>
        </p:nvSpPr>
        <p:spPr>
          <a:xfrm>
            <a:off x="457200" y="1965960"/>
            <a:ext cx="8229600" cy="310896"/>
          </a:xfrm>
          <a:prstGeom prst="rect">
            <a:avLst/>
          </a:prstGeom>
          <a:noFill/>
          <a:ln/>
        </p:spPr>
        <p:txBody>
          <a:bodyPr wrap="square" lIns="0" tIns="0" rIns="0" bIns="0" rtlCol="0" anchor="ctr"/>
          <a:lstStyle/>
          <a:p>
            <a:pPr marL="0" indent="0" algn="l">
              <a:buNone/>
            </a:pPr>
            <a:r>
              <a:rPr lang="en-US" sz="1200" b="1" dirty="0">
                <a:solidFill>
                  <a:srgbClr val="4A4A4A"/>
                </a:solidFill>
                <a:latin typeface="Arial" pitchFamily="34" charset="0"/>
                <a:ea typeface="Arial" pitchFamily="34" charset="-122"/>
                <a:cs typeface="Arial" pitchFamily="34" charset="-120"/>
              </a:rPr>
              <a:t>Three supporting arguments</a:t>
            </a:r>
            <a:endParaRPr lang="en-US" sz="1200" dirty="0"/>
          </a:p>
        </p:txBody>
      </p:sp>
      <p:sp>
        <p:nvSpPr>
          <p:cNvPr id="11" name="Shape 9"/>
          <p:cNvSpPr/>
          <p:nvPr/>
        </p:nvSpPr>
        <p:spPr>
          <a:xfrm>
            <a:off x="457200" y="2359152"/>
            <a:ext cx="2633472" cy="24871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2" name="Shape 10"/>
          <p:cNvSpPr/>
          <p:nvPr/>
        </p:nvSpPr>
        <p:spPr>
          <a:xfrm>
            <a:off x="457200" y="2359152"/>
            <a:ext cx="2633472" cy="64008"/>
          </a:xfrm>
          <a:prstGeom prst="rect">
            <a:avLst/>
          </a:prstGeom>
          <a:solidFill>
            <a:srgbClr val="005AEE"/>
          </a:solidFill>
          <a:ln w="12700">
            <a:solidFill>
              <a:srgbClr val="005AEE"/>
            </a:solidFill>
            <a:prstDash val="solid"/>
          </a:ln>
        </p:spPr>
        <p:txBody>
          <a:bodyPr/>
          <a:lstStyle/>
          <a:p>
            <a:endParaRPr lang="de-DE"/>
          </a:p>
        </p:txBody>
      </p:sp>
      <p:sp>
        <p:nvSpPr>
          <p:cNvPr id="13" name="Shape 11"/>
          <p:cNvSpPr/>
          <p:nvPr/>
        </p:nvSpPr>
        <p:spPr>
          <a:xfrm>
            <a:off x="1481328" y="2542032"/>
            <a:ext cx="585216" cy="585216"/>
          </a:xfrm>
          <a:prstGeom prst="ellipse">
            <a:avLst/>
          </a:prstGeom>
          <a:solidFill>
            <a:srgbClr val="005AEE"/>
          </a:solidFill>
          <a:ln w="12700">
            <a:solidFill>
              <a:srgbClr val="005AEE"/>
            </a:solidFill>
            <a:prstDash val="solid"/>
          </a:ln>
        </p:spPr>
        <p:txBody>
          <a:bodyPr/>
          <a:lstStyle/>
          <a:p>
            <a:endParaRPr lang="de-DE"/>
          </a:p>
        </p:txBody>
      </p:sp>
      <p:sp>
        <p:nvSpPr>
          <p:cNvPr id="14" name="Text 12"/>
          <p:cNvSpPr/>
          <p:nvPr/>
        </p:nvSpPr>
        <p:spPr>
          <a:xfrm>
            <a:off x="1481328" y="2542032"/>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01</a:t>
            </a:r>
            <a:endParaRPr lang="en-US" sz="1600" dirty="0"/>
          </a:p>
        </p:txBody>
      </p:sp>
      <p:sp>
        <p:nvSpPr>
          <p:cNvPr id="15" name="Text 13"/>
          <p:cNvSpPr/>
          <p:nvPr/>
        </p:nvSpPr>
        <p:spPr>
          <a:xfrm>
            <a:off x="585216" y="3246120"/>
            <a:ext cx="2377440" cy="438912"/>
          </a:xfrm>
          <a:prstGeom prst="rect">
            <a:avLst/>
          </a:prstGeom>
          <a:no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The problem is real</a:t>
            </a:r>
            <a:endParaRPr lang="en-US" sz="1300" dirty="0"/>
          </a:p>
        </p:txBody>
      </p:sp>
      <p:sp>
        <p:nvSpPr>
          <p:cNvPr id="16" name="Text 14"/>
          <p:cNvSpPr/>
          <p:nvPr/>
        </p:nvSpPr>
        <p:spPr>
          <a:xfrm>
            <a:off x="585216" y="3730752"/>
            <a:ext cx="2377440" cy="1005840"/>
          </a:xfrm>
          <a:prstGeom prst="rect">
            <a:avLst/>
          </a:prstGeom>
          <a:noFill/>
          <a:ln/>
        </p:spPr>
        <p:txBody>
          <a:bodyPr wrap="square" lIns="0" tIns="0" rIns="0" bIns="0" rtlCol="0" anchor="ctr"/>
          <a:lstStyle/>
          <a:p>
            <a:pPr marL="0" indent="0" algn="ctr">
              <a:buNone/>
            </a:pPr>
            <a:r>
              <a:rPr lang="en-US" sz="1050" dirty="0">
                <a:solidFill>
                  <a:srgbClr val="4A4A4A"/>
                </a:solidFill>
                <a:latin typeface="Arial" pitchFamily="34" charset="0"/>
                <a:ea typeface="Arial" pitchFamily="34" charset="-122"/>
                <a:cs typeface="Arial" pitchFamily="34" charset="-120"/>
              </a:rPr>
              <a:t>9 pain points discovered blind — all confirmed by verbatim transcript. Revenue side cannot be fixed. Only lever is cost.</a:t>
            </a:r>
            <a:endParaRPr lang="en-US" sz="1050" dirty="0"/>
          </a:p>
        </p:txBody>
      </p:sp>
      <p:sp>
        <p:nvSpPr>
          <p:cNvPr id="17" name="Shape 15"/>
          <p:cNvSpPr/>
          <p:nvPr/>
        </p:nvSpPr>
        <p:spPr>
          <a:xfrm>
            <a:off x="3246120" y="2359152"/>
            <a:ext cx="2633472" cy="24871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8" name="Shape 16"/>
          <p:cNvSpPr/>
          <p:nvPr/>
        </p:nvSpPr>
        <p:spPr>
          <a:xfrm>
            <a:off x="3246120" y="2359152"/>
            <a:ext cx="2633472" cy="64008"/>
          </a:xfrm>
          <a:prstGeom prst="rect">
            <a:avLst/>
          </a:prstGeom>
          <a:solidFill>
            <a:srgbClr val="005AEE"/>
          </a:solidFill>
          <a:ln w="12700">
            <a:solidFill>
              <a:srgbClr val="005AEE"/>
            </a:solidFill>
            <a:prstDash val="solid"/>
          </a:ln>
        </p:spPr>
        <p:txBody>
          <a:bodyPr/>
          <a:lstStyle/>
          <a:p>
            <a:endParaRPr lang="de-DE"/>
          </a:p>
        </p:txBody>
      </p:sp>
      <p:sp>
        <p:nvSpPr>
          <p:cNvPr id="19" name="Shape 17"/>
          <p:cNvSpPr/>
          <p:nvPr/>
        </p:nvSpPr>
        <p:spPr>
          <a:xfrm>
            <a:off x="4270248" y="2542032"/>
            <a:ext cx="585216" cy="585216"/>
          </a:xfrm>
          <a:prstGeom prst="ellipse">
            <a:avLst/>
          </a:prstGeom>
          <a:solidFill>
            <a:srgbClr val="005AEE"/>
          </a:solidFill>
          <a:ln w="12700">
            <a:solidFill>
              <a:srgbClr val="005AEE"/>
            </a:solidFill>
            <a:prstDash val="solid"/>
          </a:ln>
        </p:spPr>
        <p:txBody>
          <a:bodyPr/>
          <a:lstStyle/>
          <a:p>
            <a:endParaRPr lang="de-DE"/>
          </a:p>
        </p:txBody>
      </p:sp>
      <p:sp>
        <p:nvSpPr>
          <p:cNvPr id="20" name="Text 18"/>
          <p:cNvSpPr/>
          <p:nvPr/>
        </p:nvSpPr>
        <p:spPr>
          <a:xfrm>
            <a:off x="4270248" y="2542032"/>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02</a:t>
            </a:r>
            <a:endParaRPr lang="en-US" sz="1600" dirty="0"/>
          </a:p>
        </p:txBody>
      </p:sp>
      <p:sp>
        <p:nvSpPr>
          <p:cNvPr id="21" name="Text 19"/>
          <p:cNvSpPr/>
          <p:nvPr/>
        </p:nvSpPr>
        <p:spPr>
          <a:xfrm>
            <a:off x="3374136" y="3246120"/>
            <a:ext cx="2377440" cy="438912"/>
          </a:xfrm>
          <a:prstGeom prst="rect">
            <a:avLst/>
          </a:prstGeom>
          <a:no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The solution is defensible</a:t>
            </a:r>
            <a:endParaRPr lang="en-US" sz="1300" dirty="0"/>
          </a:p>
        </p:txBody>
      </p:sp>
      <p:sp>
        <p:nvSpPr>
          <p:cNvPr id="22" name="Text 20"/>
          <p:cNvSpPr/>
          <p:nvPr/>
        </p:nvSpPr>
        <p:spPr>
          <a:xfrm>
            <a:off x="3374136" y="3730752"/>
            <a:ext cx="2377440" cy="1005840"/>
          </a:xfrm>
          <a:prstGeom prst="rect">
            <a:avLst/>
          </a:prstGeom>
          <a:noFill/>
          <a:ln/>
        </p:spPr>
        <p:txBody>
          <a:bodyPr wrap="square" lIns="0" tIns="0" rIns="0" bIns="0" rtlCol="0" anchor="ctr"/>
          <a:lstStyle/>
          <a:p>
            <a:pPr marL="0" indent="0" algn="ctr">
              <a:buNone/>
            </a:pPr>
            <a:r>
              <a:rPr lang="en-US" sz="1050" dirty="0">
                <a:solidFill>
                  <a:srgbClr val="4A4A4A"/>
                </a:solidFill>
                <a:latin typeface="Arial" pitchFamily="34" charset="0"/>
                <a:ea typeface="Arial" pitchFamily="34" charset="-122"/>
                <a:cs typeface="Arial" pitchFamily="34" charset="-120"/>
              </a:rPr>
              <a:t>5 AI agents, one per capability. Human-in-the-loop technically enforced. EU AI Act minimal/limited risk.</a:t>
            </a:r>
            <a:endParaRPr lang="en-US" sz="1050" dirty="0"/>
          </a:p>
        </p:txBody>
      </p:sp>
      <p:sp>
        <p:nvSpPr>
          <p:cNvPr id="23" name="Shape 21"/>
          <p:cNvSpPr/>
          <p:nvPr/>
        </p:nvSpPr>
        <p:spPr>
          <a:xfrm>
            <a:off x="6035040" y="2359152"/>
            <a:ext cx="2633472" cy="24871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4" name="Shape 22"/>
          <p:cNvSpPr/>
          <p:nvPr/>
        </p:nvSpPr>
        <p:spPr>
          <a:xfrm>
            <a:off x="6035040" y="2359152"/>
            <a:ext cx="2633472" cy="64008"/>
          </a:xfrm>
          <a:prstGeom prst="rect">
            <a:avLst/>
          </a:prstGeom>
          <a:solidFill>
            <a:srgbClr val="005AEE"/>
          </a:solidFill>
          <a:ln w="12700">
            <a:solidFill>
              <a:srgbClr val="005AEE"/>
            </a:solidFill>
            <a:prstDash val="solid"/>
          </a:ln>
        </p:spPr>
        <p:txBody>
          <a:bodyPr/>
          <a:lstStyle/>
          <a:p>
            <a:endParaRPr lang="de-DE"/>
          </a:p>
        </p:txBody>
      </p:sp>
      <p:sp>
        <p:nvSpPr>
          <p:cNvPr id="25" name="Shape 23"/>
          <p:cNvSpPr/>
          <p:nvPr/>
        </p:nvSpPr>
        <p:spPr>
          <a:xfrm>
            <a:off x="7059168" y="2542032"/>
            <a:ext cx="585216" cy="585216"/>
          </a:xfrm>
          <a:prstGeom prst="ellipse">
            <a:avLst/>
          </a:prstGeom>
          <a:solidFill>
            <a:srgbClr val="005AEE"/>
          </a:solidFill>
          <a:ln w="12700">
            <a:solidFill>
              <a:srgbClr val="005AEE"/>
            </a:solidFill>
            <a:prstDash val="solid"/>
          </a:ln>
        </p:spPr>
        <p:txBody>
          <a:bodyPr/>
          <a:lstStyle/>
          <a:p>
            <a:endParaRPr lang="de-DE"/>
          </a:p>
        </p:txBody>
      </p:sp>
      <p:sp>
        <p:nvSpPr>
          <p:cNvPr id="26" name="Text 24"/>
          <p:cNvSpPr/>
          <p:nvPr/>
        </p:nvSpPr>
        <p:spPr>
          <a:xfrm>
            <a:off x="7059168" y="2542032"/>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03</a:t>
            </a:r>
            <a:endParaRPr lang="en-US" sz="1600" dirty="0"/>
          </a:p>
        </p:txBody>
      </p:sp>
      <p:sp>
        <p:nvSpPr>
          <p:cNvPr id="27" name="Text 25"/>
          <p:cNvSpPr/>
          <p:nvPr/>
        </p:nvSpPr>
        <p:spPr>
          <a:xfrm>
            <a:off x="6163056" y="3246120"/>
            <a:ext cx="2377440" cy="438912"/>
          </a:xfrm>
          <a:prstGeom prst="rect">
            <a:avLst/>
          </a:prstGeom>
          <a:noFill/>
          <a:ln/>
        </p:spPr>
        <p:txBody>
          <a:bodyPr wrap="square" lIns="0" tIns="0" rIns="0" bIns="0" rtlCol="0" anchor="ctr"/>
          <a:lstStyle/>
          <a:p>
            <a:pPr marL="0" indent="0" algn="ctr">
              <a:buNone/>
            </a:pPr>
            <a:r>
              <a:rPr lang="en-US" sz="1300" b="1" dirty="0">
                <a:solidFill>
                  <a:srgbClr val="111111"/>
                </a:solidFill>
                <a:latin typeface="Arial" pitchFamily="34" charset="0"/>
                <a:ea typeface="Arial" pitchFamily="34" charset="-122"/>
                <a:cs typeface="Arial" pitchFamily="34" charset="-120"/>
              </a:rPr>
              <a:t>The system is observable</a:t>
            </a:r>
            <a:endParaRPr lang="en-US" sz="1300" dirty="0"/>
          </a:p>
        </p:txBody>
      </p:sp>
      <p:sp>
        <p:nvSpPr>
          <p:cNvPr id="28" name="Text 26"/>
          <p:cNvSpPr/>
          <p:nvPr/>
        </p:nvSpPr>
        <p:spPr>
          <a:xfrm>
            <a:off x="6163056" y="3730752"/>
            <a:ext cx="2377440" cy="1005840"/>
          </a:xfrm>
          <a:prstGeom prst="rect">
            <a:avLst/>
          </a:prstGeom>
          <a:noFill/>
          <a:ln/>
        </p:spPr>
        <p:txBody>
          <a:bodyPr wrap="square" lIns="0" tIns="0" rIns="0" bIns="0" rtlCol="0" anchor="ctr"/>
          <a:lstStyle/>
          <a:p>
            <a:pPr marL="0" indent="0" algn="ctr">
              <a:buNone/>
            </a:pPr>
            <a:r>
              <a:rPr lang="en-US" sz="1050" dirty="0">
                <a:solidFill>
                  <a:srgbClr val="4A4A4A"/>
                </a:solidFill>
                <a:latin typeface="Arial" pitchFamily="34" charset="0"/>
                <a:ea typeface="Arial" pitchFamily="34" charset="-122"/>
                <a:cs typeface="Arial" pitchFamily="34" charset="-120"/>
              </a:rPr>
              <a:t>LangSmith live — 6 runs complete, all 5 agents traced, PII redacted, full audit trail for regulators.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Oracle has no visibility over where the money goes</a:t>
            </a:r>
            <a:endParaRPr lang="en-US" sz="2400" dirty="0"/>
          </a:p>
        </p:txBody>
      </p:sp>
      <p:sp>
        <p:nvSpPr>
          <p:cNvPr id="6" name="Text 4"/>
          <p:cNvSpPr/>
          <p:nvPr/>
        </p:nvSpPr>
        <p:spPr>
          <a:xfrm>
            <a:off x="457200" y="868680"/>
            <a:ext cx="8229600" cy="256032"/>
          </a:xfrm>
          <a:prstGeom prst="rect">
            <a:avLst/>
          </a:prstGeom>
          <a:noFill/>
          <a:ln/>
        </p:spPr>
        <p:txBody>
          <a:bodyPr wrap="square" lIns="0" tIns="0" rIns="0" bIns="0" rtlCol="0" anchor="ctr"/>
          <a:lstStyle/>
          <a:p>
            <a:pPr marL="0" indent="0" algn="l">
              <a:buNone/>
            </a:pPr>
            <a:r>
              <a:rPr lang="en-US" sz="1100" i="1" dirty="0">
                <a:solidFill>
                  <a:srgbClr val="9E9E9E"/>
                </a:solidFill>
                <a:latin typeface="Arial" pitchFamily="34" charset="0"/>
                <a:ea typeface="Arial" pitchFamily="34" charset="-122"/>
                <a:cs typeface="Arial" pitchFamily="34" charset="-120"/>
              </a:rPr>
              <a:t>Discovered blind — 10 indirect questions, 0 direct pain-point asks</a:t>
            </a:r>
            <a:endParaRPr lang="en-US" sz="1100" dirty="0"/>
          </a:p>
        </p:txBody>
      </p:sp>
      <p:sp>
        <p:nvSpPr>
          <p:cNvPr id="7" name="Text 5"/>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01  CLIENT &amp; PROBLEM</a:t>
            </a:r>
            <a:endParaRPr lang="en-US" sz="850" dirty="0"/>
          </a:p>
        </p:txBody>
      </p:sp>
      <p:sp>
        <p:nvSpPr>
          <p:cNvPr id="8" name="Shape 6"/>
          <p:cNvSpPr/>
          <p:nvPr/>
        </p:nvSpPr>
        <p:spPr>
          <a:xfrm>
            <a:off x="457200" y="1261872"/>
            <a:ext cx="8229600" cy="384048"/>
          </a:xfrm>
          <a:prstGeom prst="rect">
            <a:avLst/>
          </a:prstGeom>
          <a:solidFill>
            <a:srgbClr val="E8F0FD"/>
          </a:solidFill>
          <a:ln w="12700">
            <a:solidFill>
              <a:srgbClr val="005AEE"/>
            </a:solidFill>
            <a:prstDash val="solid"/>
          </a:ln>
        </p:spPr>
        <p:txBody>
          <a:bodyPr/>
          <a:lstStyle/>
          <a:p>
            <a:endParaRPr lang="de-DE"/>
          </a:p>
        </p:txBody>
      </p:sp>
      <p:sp>
        <p:nvSpPr>
          <p:cNvPr id="9" name="Shape 7"/>
          <p:cNvSpPr/>
          <p:nvPr/>
        </p:nvSpPr>
        <p:spPr>
          <a:xfrm>
            <a:off x="457200" y="1261872"/>
            <a:ext cx="45720" cy="384048"/>
          </a:xfrm>
          <a:prstGeom prst="rect">
            <a:avLst/>
          </a:prstGeom>
          <a:solidFill>
            <a:srgbClr val="005AEE"/>
          </a:solidFill>
          <a:ln w="12700">
            <a:solidFill>
              <a:srgbClr val="005AEE"/>
            </a:solidFill>
            <a:prstDash val="solid"/>
          </a:ln>
        </p:spPr>
        <p:txBody>
          <a:bodyPr/>
          <a:lstStyle/>
          <a:p>
            <a:endParaRPr lang="de-DE"/>
          </a:p>
        </p:txBody>
      </p:sp>
      <p:sp>
        <p:nvSpPr>
          <p:cNvPr id="10" name="Text 8"/>
          <p:cNvSpPr/>
          <p:nvPr/>
        </p:nvSpPr>
        <p:spPr>
          <a:xfrm>
            <a:off x="621792" y="1261872"/>
            <a:ext cx="7955280" cy="384048"/>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900 people · 5 jurisdictions · high burn · no contract register · no single cost view.</a:t>
            </a:r>
            <a:endParaRPr lang="en-US" sz="1250" dirty="0"/>
          </a:p>
        </p:txBody>
      </p:sp>
      <p:sp>
        <p:nvSpPr>
          <p:cNvPr id="11" name="Text 9"/>
          <p:cNvSpPr/>
          <p:nvPr/>
        </p:nvSpPr>
        <p:spPr>
          <a:xfrm>
            <a:off x="457200" y="1783080"/>
            <a:ext cx="4114800" cy="347472"/>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CEO / CTO: </a:t>
            </a:r>
            <a:r>
              <a:rPr lang="en-US" sz="1100" dirty="0">
                <a:solidFill>
                  <a:srgbClr val="111111"/>
                </a:solidFill>
                <a:latin typeface="Arial" pitchFamily="34" charset="0"/>
                <a:ea typeface="Arial" pitchFamily="34" charset="-122"/>
                <a:cs typeface="Arial" pitchFamily="34" charset="-120"/>
              </a:rPr>
              <a:t>Eugen (co-founder) — mission-driven, avoids financials</a:t>
            </a:r>
            <a:endParaRPr lang="en-US" sz="1100" dirty="0"/>
          </a:p>
        </p:txBody>
      </p:sp>
      <p:sp>
        <p:nvSpPr>
          <p:cNvPr id="12" name="Text 10"/>
          <p:cNvSpPr/>
          <p:nvPr/>
        </p:nvSpPr>
        <p:spPr>
          <a:xfrm>
            <a:off x="457200" y="2185416"/>
            <a:ext cx="4114800" cy="347472"/>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CFO: </a:t>
            </a:r>
            <a:r>
              <a:rPr lang="en-US" sz="1100" dirty="0">
                <a:solidFill>
                  <a:srgbClr val="111111"/>
                </a:solidFill>
                <a:latin typeface="Arial" pitchFamily="34" charset="0"/>
                <a:ea typeface="Arial" pitchFamily="34" charset="-122"/>
                <a:cs typeface="Arial" pitchFamily="34" charset="-120"/>
              </a:rPr>
              <a:t>Thibaud — new to AI, needs cost visibility, wants break even</a:t>
            </a:r>
            <a:endParaRPr lang="en-US" sz="1100" dirty="0"/>
          </a:p>
        </p:txBody>
      </p:sp>
      <p:sp>
        <p:nvSpPr>
          <p:cNvPr id="13" name="Text 11"/>
          <p:cNvSpPr/>
          <p:nvPr/>
        </p:nvSpPr>
        <p:spPr>
          <a:xfrm>
            <a:off x="457200" y="2587752"/>
            <a:ext cx="4114800" cy="347472"/>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Size: </a:t>
            </a:r>
            <a:r>
              <a:rPr lang="en-US" sz="1100" dirty="0">
                <a:solidFill>
                  <a:srgbClr val="111111"/>
                </a:solidFill>
                <a:latin typeface="Arial" pitchFamily="34" charset="0"/>
                <a:ea typeface="Arial" pitchFamily="34" charset="-122"/>
                <a:cs typeface="Arial" pitchFamily="34" charset="-120"/>
              </a:rPr>
              <a:t>~900 FTEs, part-time, contractors, interns</a:t>
            </a:r>
            <a:endParaRPr lang="en-US" sz="1100" dirty="0"/>
          </a:p>
        </p:txBody>
      </p:sp>
      <p:sp>
        <p:nvSpPr>
          <p:cNvPr id="14" name="Text 12"/>
          <p:cNvSpPr/>
          <p:nvPr/>
        </p:nvSpPr>
        <p:spPr>
          <a:xfrm>
            <a:off x="457200" y="2990088"/>
            <a:ext cx="4114800" cy="347472"/>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Countries: </a:t>
            </a:r>
            <a:r>
              <a:rPr lang="en-US" sz="1100" dirty="0">
                <a:solidFill>
                  <a:srgbClr val="111111"/>
                </a:solidFill>
                <a:latin typeface="Arial" pitchFamily="34" charset="0"/>
                <a:ea typeface="Arial" pitchFamily="34" charset="-122"/>
                <a:cs typeface="Arial" pitchFamily="34" charset="-120"/>
              </a:rPr>
              <a:t>Russia · India · Pakistan · Bangladesh · Philippines</a:t>
            </a:r>
            <a:endParaRPr lang="en-US" sz="1100" dirty="0"/>
          </a:p>
        </p:txBody>
      </p:sp>
      <p:sp>
        <p:nvSpPr>
          <p:cNvPr id="15" name="Text 13"/>
          <p:cNvSpPr/>
          <p:nvPr/>
        </p:nvSpPr>
        <p:spPr>
          <a:xfrm>
            <a:off x="457200" y="3392424"/>
            <a:ext cx="4114800" cy="347472"/>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Revenue: </a:t>
            </a:r>
            <a:r>
              <a:rPr lang="en-US" sz="1100" dirty="0">
                <a:solidFill>
                  <a:srgbClr val="111111"/>
                </a:solidFill>
                <a:latin typeface="Arial" pitchFamily="34" charset="0"/>
                <a:ea typeface="Arial" pitchFamily="34" charset="-122"/>
                <a:cs typeface="Arial" pitchFamily="34" charset="-120"/>
              </a:rPr>
              <a:t>B2C indie games, one-time purchase — no subscriptions</a:t>
            </a:r>
            <a:endParaRPr lang="en-US" sz="1100" dirty="0"/>
          </a:p>
        </p:txBody>
      </p:sp>
      <p:sp>
        <p:nvSpPr>
          <p:cNvPr id="16" name="Text 14"/>
          <p:cNvSpPr/>
          <p:nvPr/>
        </p:nvSpPr>
        <p:spPr>
          <a:xfrm>
            <a:off x="457200" y="3794760"/>
            <a:ext cx="4114800" cy="347472"/>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Lever: </a:t>
            </a:r>
            <a:r>
              <a:rPr lang="en-US" sz="1100" dirty="0">
                <a:solidFill>
                  <a:srgbClr val="111111"/>
                </a:solidFill>
                <a:latin typeface="Arial" pitchFamily="34" charset="0"/>
                <a:ea typeface="Arial" pitchFamily="34" charset="-122"/>
                <a:cs typeface="Arial" pitchFamily="34" charset="-120"/>
              </a:rPr>
              <a:t>Revenue side is structurally fixed — only cost can move</a:t>
            </a:r>
            <a:endParaRPr lang="en-US" sz="1100" dirty="0"/>
          </a:p>
        </p:txBody>
      </p:sp>
      <p:sp>
        <p:nvSpPr>
          <p:cNvPr id="17" name="Text 15"/>
          <p:cNvSpPr/>
          <p:nvPr/>
        </p:nvSpPr>
        <p:spPr>
          <a:xfrm>
            <a:off x="4846320" y="1783080"/>
            <a:ext cx="3840480" cy="310896"/>
          </a:xfrm>
          <a:prstGeom prst="rect">
            <a:avLst/>
          </a:prstGeom>
          <a:noFill/>
          <a:ln/>
        </p:spPr>
        <p:txBody>
          <a:bodyPr wrap="square" lIns="0" tIns="0" rIns="0" bIns="0" rtlCol="0" anchor="ctr"/>
          <a:lstStyle/>
          <a:p>
            <a:pPr marL="0" indent="0" algn="l">
              <a:buNone/>
            </a:pPr>
            <a:r>
              <a:rPr lang="en-US" sz="1200" b="1" dirty="0">
                <a:solidFill>
                  <a:srgbClr val="111111"/>
                </a:solidFill>
                <a:latin typeface="Arial" pitchFamily="34" charset="0"/>
                <a:ea typeface="Arial" pitchFamily="34" charset="-122"/>
                <a:cs typeface="Arial" pitchFamily="34" charset="-120"/>
              </a:rPr>
              <a:t>Pain points uncovered</a:t>
            </a:r>
            <a:endParaRPr lang="en-US" sz="1200" dirty="0"/>
          </a:p>
        </p:txBody>
      </p:sp>
      <p:sp>
        <p:nvSpPr>
          <p:cNvPr id="18" name="Shape 16"/>
          <p:cNvSpPr/>
          <p:nvPr/>
        </p:nvSpPr>
        <p:spPr>
          <a:xfrm>
            <a:off x="4846320" y="2176272"/>
            <a:ext cx="182880" cy="182880"/>
          </a:xfrm>
          <a:prstGeom prst="ellipse">
            <a:avLst/>
          </a:prstGeom>
          <a:solidFill>
            <a:srgbClr val="DC2626"/>
          </a:solidFill>
          <a:ln w="12700">
            <a:solidFill>
              <a:srgbClr val="DC2626"/>
            </a:solidFill>
            <a:prstDash val="solid"/>
          </a:ln>
        </p:spPr>
        <p:txBody>
          <a:bodyPr/>
          <a:lstStyle/>
          <a:p>
            <a:endParaRPr lang="de-DE"/>
          </a:p>
        </p:txBody>
      </p:sp>
      <p:sp>
        <p:nvSpPr>
          <p:cNvPr id="19" name="Text 17"/>
          <p:cNvSpPr/>
          <p:nvPr/>
        </p:nvSpPr>
        <p:spPr>
          <a:xfrm>
            <a:off x="5120640" y="2157984"/>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No contract visibility — 900 contracts unread</a:t>
            </a:r>
            <a:endParaRPr lang="en-US" sz="1050" dirty="0"/>
          </a:p>
        </p:txBody>
      </p:sp>
      <p:sp>
        <p:nvSpPr>
          <p:cNvPr id="20" name="Shape 18"/>
          <p:cNvSpPr/>
          <p:nvPr/>
        </p:nvSpPr>
        <p:spPr>
          <a:xfrm>
            <a:off x="4846320" y="2514600"/>
            <a:ext cx="182880" cy="182880"/>
          </a:xfrm>
          <a:prstGeom prst="ellipse">
            <a:avLst/>
          </a:prstGeom>
          <a:solidFill>
            <a:srgbClr val="DC2626"/>
          </a:solidFill>
          <a:ln w="12700">
            <a:solidFill>
              <a:srgbClr val="DC2626"/>
            </a:solidFill>
            <a:prstDash val="solid"/>
          </a:ln>
        </p:spPr>
        <p:txBody>
          <a:bodyPr/>
          <a:lstStyle/>
          <a:p>
            <a:endParaRPr lang="de-DE"/>
          </a:p>
        </p:txBody>
      </p:sp>
      <p:sp>
        <p:nvSpPr>
          <p:cNvPr id="21" name="Text 19"/>
          <p:cNvSpPr/>
          <p:nvPr/>
        </p:nvSpPr>
        <p:spPr>
          <a:xfrm>
            <a:off x="5120640" y="2496312"/>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Wrong invoicing — amounts not matching contracts</a:t>
            </a:r>
            <a:endParaRPr lang="en-US" sz="1050" dirty="0"/>
          </a:p>
        </p:txBody>
      </p:sp>
      <p:sp>
        <p:nvSpPr>
          <p:cNvPr id="22" name="Shape 20"/>
          <p:cNvSpPr/>
          <p:nvPr/>
        </p:nvSpPr>
        <p:spPr>
          <a:xfrm>
            <a:off x="4846320" y="2852928"/>
            <a:ext cx="182880" cy="182880"/>
          </a:xfrm>
          <a:prstGeom prst="ellipse">
            <a:avLst/>
          </a:prstGeom>
          <a:solidFill>
            <a:srgbClr val="DC2626"/>
          </a:solidFill>
          <a:ln w="12700">
            <a:solidFill>
              <a:srgbClr val="DC2626"/>
            </a:solidFill>
            <a:prstDash val="solid"/>
          </a:ln>
        </p:spPr>
        <p:txBody>
          <a:bodyPr/>
          <a:lstStyle/>
          <a:p>
            <a:endParaRPr lang="de-DE"/>
          </a:p>
        </p:txBody>
      </p:sp>
      <p:sp>
        <p:nvSpPr>
          <p:cNvPr id="23" name="Text 21"/>
          <p:cNvSpPr/>
          <p:nvPr/>
        </p:nvSpPr>
        <p:spPr>
          <a:xfrm>
            <a:off x="5120640" y="2834640"/>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Lost contractors — duplicate or inactive payments</a:t>
            </a:r>
            <a:endParaRPr lang="en-US" sz="1050" dirty="0"/>
          </a:p>
        </p:txBody>
      </p:sp>
      <p:sp>
        <p:nvSpPr>
          <p:cNvPr id="24" name="Shape 22"/>
          <p:cNvSpPr/>
          <p:nvPr/>
        </p:nvSpPr>
        <p:spPr>
          <a:xfrm>
            <a:off x="4846320" y="3191256"/>
            <a:ext cx="182880" cy="182880"/>
          </a:xfrm>
          <a:prstGeom prst="ellipse">
            <a:avLst/>
          </a:prstGeom>
          <a:solidFill>
            <a:srgbClr val="DC2626"/>
          </a:solidFill>
          <a:ln w="12700">
            <a:solidFill>
              <a:srgbClr val="DC2626"/>
            </a:solidFill>
            <a:prstDash val="solid"/>
          </a:ln>
        </p:spPr>
        <p:txBody>
          <a:bodyPr/>
          <a:lstStyle/>
          <a:p>
            <a:endParaRPr lang="de-DE"/>
          </a:p>
        </p:txBody>
      </p:sp>
      <p:sp>
        <p:nvSpPr>
          <p:cNvPr id="25" name="Text 23"/>
          <p:cNvSpPr/>
          <p:nvPr/>
        </p:nvSpPr>
        <p:spPr>
          <a:xfrm>
            <a:off x="5120640" y="3172968"/>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Paying twice — contractor = internal role scope</a:t>
            </a:r>
            <a:endParaRPr lang="en-US" sz="1050" dirty="0"/>
          </a:p>
        </p:txBody>
      </p:sp>
      <p:sp>
        <p:nvSpPr>
          <p:cNvPr id="26" name="Shape 24"/>
          <p:cNvSpPr/>
          <p:nvPr/>
        </p:nvSpPr>
        <p:spPr>
          <a:xfrm>
            <a:off x="4846320" y="3529584"/>
            <a:ext cx="182880" cy="182880"/>
          </a:xfrm>
          <a:prstGeom prst="ellipse">
            <a:avLst/>
          </a:prstGeom>
          <a:solidFill>
            <a:srgbClr val="D97706"/>
          </a:solidFill>
          <a:ln w="12700">
            <a:solidFill>
              <a:srgbClr val="D97706"/>
            </a:solidFill>
            <a:prstDash val="solid"/>
          </a:ln>
        </p:spPr>
        <p:txBody>
          <a:bodyPr/>
          <a:lstStyle/>
          <a:p>
            <a:endParaRPr lang="de-DE"/>
          </a:p>
        </p:txBody>
      </p:sp>
      <p:sp>
        <p:nvSpPr>
          <p:cNvPr id="27" name="Text 25"/>
          <p:cNvSpPr/>
          <p:nvPr/>
        </p:nvSpPr>
        <p:spPr>
          <a:xfrm>
            <a:off x="5120640" y="3511296"/>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No cost visibility — burn untraceable by category</a:t>
            </a:r>
            <a:endParaRPr lang="en-US" sz="1050" dirty="0"/>
          </a:p>
        </p:txBody>
      </p:sp>
      <p:sp>
        <p:nvSpPr>
          <p:cNvPr id="28" name="Shape 26"/>
          <p:cNvSpPr/>
          <p:nvPr/>
        </p:nvSpPr>
        <p:spPr>
          <a:xfrm>
            <a:off x="4846320" y="3867912"/>
            <a:ext cx="182880" cy="182880"/>
          </a:xfrm>
          <a:prstGeom prst="ellipse">
            <a:avLst/>
          </a:prstGeom>
          <a:solidFill>
            <a:srgbClr val="D97706"/>
          </a:solidFill>
          <a:ln w="12700">
            <a:solidFill>
              <a:srgbClr val="D97706"/>
            </a:solidFill>
            <a:prstDash val="solid"/>
          </a:ln>
        </p:spPr>
        <p:txBody>
          <a:bodyPr/>
          <a:lstStyle/>
          <a:p>
            <a:endParaRPr lang="de-DE"/>
          </a:p>
        </p:txBody>
      </p:sp>
      <p:sp>
        <p:nvSpPr>
          <p:cNvPr id="29" name="Text 27"/>
          <p:cNvSpPr/>
          <p:nvPr/>
        </p:nvSpPr>
        <p:spPr>
          <a:xfrm>
            <a:off x="5120640" y="3849624"/>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Multi-country payroll bottleneck + intermediaries</a:t>
            </a:r>
            <a:endParaRPr lang="en-US" sz="1050" dirty="0"/>
          </a:p>
        </p:txBody>
      </p:sp>
      <p:sp>
        <p:nvSpPr>
          <p:cNvPr id="30" name="Shape 28"/>
          <p:cNvSpPr/>
          <p:nvPr/>
        </p:nvSpPr>
        <p:spPr>
          <a:xfrm>
            <a:off x="4846320" y="4206240"/>
            <a:ext cx="182880" cy="182880"/>
          </a:xfrm>
          <a:prstGeom prst="ellipse">
            <a:avLst/>
          </a:prstGeom>
          <a:solidFill>
            <a:srgbClr val="D97706"/>
          </a:solidFill>
          <a:ln w="12700">
            <a:solidFill>
              <a:srgbClr val="D97706"/>
            </a:solidFill>
            <a:prstDash val="solid"/>
          </a:ln>
        </p:spPr>
        <p:txBody>
          <a:bodyPr/>
          <a:lstStyle/>
          <a:p>
            <a:endParaRPr lang="de-DE"/>
          </a:p>
        </p:txBody>
      </p:sp>
      <p:sp>
        <p:nvSpPr>
          <p:cNvPr id="31" name="Text 29"/>
          <p:cNvSpPr/>
          <p:nvPr/>
        </p:nvSpPr>
        <p:spPr>
          <a:xfrm>
            <a:off x="5120640" y="4187952"/>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Compliance unknown — asked unprompted</a:t>
            </a:r>
            <a:endParaRPr lang="en-US" sz="1050" dirty="0"/>
          </a:p>
        </p:txBody>
      </p:sp>
      <p:sp>
        <p:nvSpPr>
          <p:cNvPr id="32" name="Shape 30"/>
          <p:cNvSpPr/>
          <p:nvPr/>
        </p:nvSpPr>
        <p:spPr>
          <a:xfrm>
            <a:off x="4846320" y="4544568"/>
            <a:ext cx="182880" cy="182880"/>
          </a:xfrm>
          <a:prstGeom prst="ellipse">
            <a:avLst/>
          </a:prstGeom>
          <a:solidFill>
            <a:srgbClr val="D97706"/>
          </a:solidFill>
          <a:ln w="12700">
            <a:solidFill>
              <a:srgbClr val="D97706"/>
            </a:solidFill>
            <a:prstDash val="solid"/>
          </a:ln>
        </p:spPr>
        <p:txBody>
          <a:bodyPr/>
          <a:lstStyle/>
          <a:p>
            <a:endParaRPr lang="de-DE"/>
          </a:p>
        </p:txBody>
      </p:sp>
      <p:sp>
        <p:nvSpPr>
          <p:cNvPr id="33" name="Text 31"/>
          <p:cNvSpPr/>
          <p:nvPr/>
        </p:nvSpPr>
        <p:spPr>
          <a:xfrm>
            <a:off x="5120640" y="4526280"/>
            <a:ext cx="3547872" cy="256032"/>
          </a:xfrm>
          <a:prstGeom prst="rect">
            <a:avLst/>
          </a:prstGeom>
          <a:noFill/>
          <a:ln/>
        </p:spPr>
        <p:txBody>
          <a:bodyPr wrap="square" lIns="0" tIns="0" rIns="0" bIns="0" rtlCol="0" anchor="ctr"/>
          <a:lstStyle/>
          <a:p>
            <a:pPr marL="0" indent="0" algn="l">
              <a:buNone/>
            </a:pPr>
            <a:r>
              <a:rPr lang="en-US" sz="1050" dirty="0">
                <a:solidFill>
                  <a:srgbClr val="111111"/>
                </a:solidFill>
                <a:latin typeface="Arial" pitchFamily="34" charset="0"/>
                <a:ea typeface="Arial" pitchFamily="34" charset="-122"/>
                <a:cs typeface="Arial" pitchFamily="34" charset="-120"/>
              </a:rPr>
              <a:t>IP at risk — ambiguous contractor IP clauses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Every pain point was earned through indirect questioning</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01  DISCOVERY EVIDENCE</a:t>
            </a:r>
            <a:endParaRPr lang="en-US" sz="850" dirty="0"/>
          </a:p>
        </p:txBody>
      </p:sp>
      <p:sp>
        <p:nvSpPr>
          <p:cNvPr id="7" name="Shape 5"/>
          <p:cNvSpPr/>
          <p:nvPr/>
        </p:nvSpPr>
        <p:spPr>
          <a:xfrm>
            <a:off x="457200" y="1261872"/>
            <a:ext cx="8229600" cy="402336"/>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02336"/>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02336"/>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No direct asks. These verbatim quotes from the transcript confirm the problem is real.</a:t>
            </a:r>
            <a:endParaRPr lang="en-US" sz="1250" dirty="0"/>
          </a:p>
        </p:txBody>
      </p:sp>
      <p:sp>
        <p:nvSpPr>
          <p:cNvPr id="10" name="Shape 8"/>
          <p:cNvSpPr/>
          <p:nvPr/>
        </p:nvSpPr>
        <p:spPr>
          <a:xfrm>
            <a:off x="457200" y="1828800"/>
            <a:ext cx="8229600" cy="6583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457200" y="1828800"/>
            <a:ext cx="45720" cy="658368"/>
          </a:xfrm>
          <a:prstGeom prst="rect">
            <a:avLst/>
          </a:prstGeom>
          <a:solidFill>
            <a:srgbClr val="005AEE"/>
          </a:solidFill>
          <a:ln w="12700">
            <a:solidFill>
              <a:srgbClr val="005AEE"/>
            </a:solidFill>
            <a:prstDash val="solid"/>
          </a:ln>
        </p:spPr>
        <p:txBody>
          <a:bodyPr/>
          <a:lstStyle/>
          <a:p>
            <a:endParaRPr lang="de-DE"/>
          </a:p>
        </p:txBody>
      </p:sp>
      <p:sp>
        <p:nvSpPr>
          <p:cNvPr id="12" name="Text 10"/>
          <p:cNvSpPr/>
          <p:nvPr/>
        </p:nvSpPr>
        <p:spPr>
          <a:xfrm>
            <a:off x="658368" y="1828800"/>
            <a:ext cx="7863840" cy="658368"/>
          </a:xfrm>
          <a:prstGeom prst="rect">
            <a:avLst/>
          </a:prstGeom>
          <a:noFill/>
          <a:ln/>
        </p:spPr>
        <p:txBody>
          <a:bodyPr wrap="square" lIns="0" tIns="0" rIns="0" bIns="0" rtlCol="0" anchor="ctr"/>
          <a:lstStyle/>
          <a:p>
            <a:pPr marL="0" indent="0" algn="l">
              <a:buNone/>
            </a:pPr>
            <a:r>
              <a:rPr lang="en-US" sz="1150" b="1" dirty="0">
                <a:solidFill>
                  <a:srgbClr val="005AEE"/>
                </a:solidFill>
                <a:latin typeface="Arial" pitchFamily="34" charset="0"/>
                <a:ea typeface="Arial" pitchFamily="34" charset="-122"/>
                <a:cs typeface="Arial" pitchFamily="34" charset="-120"/>
              </a:rPr>
              <a:t>Eugen  </a:t>
            </a:r>
            <a:r>
              <a:rPr lang="en-US" sz="1150" i="1" dirty="0">
                <a:solidFill>
                  <a:srgbClr val="111111"/>
                </a:solidFill>
                <a:latin typeface="Arial" pitchFamily="34" charset="0"/>
                <a:ea typeface="Arial" pitchFamily="34" charset="-122"/>
                <a:cs typeface="Arial" pitchFamily="34" charset="-120"/>
              </a:rPr>
              <a:t>"I cannot really tell you what kind of tools we're using... people just want a tool and then we give it to them."  </a:t>
            </a:r>
            <a:r>
              <a:rPr lang="en-US" sz="1150" b="1" dirty="0">
                <a:solidFill>
                  <a:srgbClr val="16A34A"/>
                </a:solidFill>
                <a:latin typeface="Arial" pitchFamily="34" charset="0"/>
                <a:ea typeface="Arial" pitchFamily="34" charset="-122"/>
                <a:cs typeface="Arial" pitchFamily="34" charset="-120"/>
              </a:rPr>
              <a:t>→ Zero cost visibility</a:t>
            </a:r>
            <a:endParaRPr lang="en-US" sz="1150" dirty="0"/>
          </a:p>
        </p:txBody>
      </p:sp>
      <p:sp>
        <p:nvSpPr>
          <p:cNvPr id="13" name="Shape 11"/>
          <p:cNvSpPr/>
          <p:nvPr/>
        </p:nvSpPr>
        <p:spPr>
          <a:xfrm>
            <a:off x="457200" y="2578608"/>
            <a:ext cx="8229600" cy="6583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4" name="Shape 12"/>
          <p:cNvSpPr/>
          <p:nvPr/>
        </p:nvSpPr>
        <p:spPr>
          <a:xfrm>
            <a:off x="457200" y="2578608"/>
            <a:ext cx="45720" cy="658368"/>
          </a:xfrm>
          <a:prstGeom prst="rect">
            <a:avLst/>
          </a:prstGeom>
          <a:solidFill>
            <a:srgbClr val="005AEE"/>
          </a:solidFill>
          <a:ln w="12700">
            <a:solidFill>
              <a:srgbClr val="005AEE"/>
            </a:solidFill>
            <a:prstDash val="solid"/>
          </a:ln>
        </p:spPr>
        <p:txBody>
          <a:bodyPr/>
          <a:lstStyle/>
          <a:p>
            <a:endParaRPr lang="de-DE"/>
          </a:p>
        </p:txBody>
      </p:sp>
      <p:sp>
        <p:nvSpPr>
          <p:cNvPr id="15" name="Text 13"/>
          <p:cNvSpPr/>
          <p:nvPr/>
        </p:nvSpPr>
        <p:spPr>
          <a:xfrm>
            <a:off x="658368" y="2578608"/>
            <a:ext cx="7863840" cy="658368"/>
          </a:xfrm>
          <a:prstGeom prst="rect">
            <a:avLst/>
          </a:prstGeom>
          <a:noFill/>
          <a:ln/>
        </p:spPr>
        <p:txBody>
          <a:bodyPr wrap="square" lIns="0" tIns="0" rIns="0" bIns="0" rtlCol="0" anchor="ctr"/>
          <a:lstStyle/>
          <a:p>
            <a:pPr marL="0" indent="0" algn="l">
              <a:buNone/>
            </a:pPr>
            <a:r>
              <a:rPr lang="en-US" sz="1150" b="1" dirty="0">
                <a:solidFill>
                  <a:srgbClr val="005AEE"/>
                </a:solidFill>
                <a:latin typeface="Arial" pitchFamily="34" charset="0"/>
                <a:ea typeface="Arial" pitchFamily="34" charset="-122"/>
                <a:cs typeface="Arial" pitchFamily="34" charset="-120"/>
              </a:rPr>
              <a:t>Thibaud  </a:t>
            </a:r>
            <a:r>
              <a:rPr lang="en-US" sz="1150" i="1" dirty="0">
                <a:solidFill>
                  <a:srgbClr val="111111"/>
                </a:solidFill>
                <a:latin typeface="Arial" pitchFamily="34" charset="0"/>
                <a:ea typeface="Arial" pitchFamily="34" charset="-122"/>
                <a:cs typeface="Arial" pitchFamily="34" charset="-120"/>
              </a:rPr>
              <a:t>"The stack is absolutely a mess. Wrong invoicing, pay cycles. There are a lot of problems."  </a:t>
            </a:r>
            <a:r>
              <a:rPr lang="en-US" sz="1150" b="1" dirty="0">
                <a:solidFill>
                  <a:srgbClr val="16A34A"/>
                </a:solidFill>
                <a:latin typeface="Arial" pitchFamily="34" charset="0"/>
                <a:ea typeface="Arial" pitchFamily="34" charset="-122"/>
                <a:cs typeface="Arial" pitchFamily="34" charset="-120"/>
              </a:rPr>
              <a:t>→ Core pain confirmed</a:t>
            </a:r>
            <a:endParaRPr lang="en-US" sz="1150" dirty="0"/>
          </a:p>
        </p:txBody>
      </p:sp>
      <p:sp>
        <p:nvSpPr>
          <p:cNvPr id="16" name="Shape 14"/>
          <p:cNvSpPr/>
          <p:nvPr/>
        </p:nvSpPr>
        <p:spPr>
          <a:xfrm>
            <a:off x="457200" y="3328416"/>
            <a:ext cx="8229600" cy="6583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7" name="Shape 15"/>
          <p:cNvSpPr/>
          <p:nvPr/>
        </p:nvSpPr>
        <p:spPr>
          <a:xfrm>
            <a:off x="457200" y="3328416"/>
            <a:ext cx="45720" cy="658368"/>
          </a:xfrm>
          <a:prstGeom prst="rect">
            <a:avLst/>
          </a:prstGeom>
          <a:solidFill>
            <a:srgbClr val="005AEE"/>
          </a:solidFill>
          <a:ln w="12700">
            <a:solidFill>
              <a:srgbClr val="005AEE"/>
            </a:solidFill>
            <a:prstDash val="solid"/>
          </a:ln>
        </p:spPr>
        <p:txBody>
          <a:bodyPr/>
          <a:lstStyle/>
          <a:p>
            <a:endParaRPr lang="de-DE"/>
          </a:p>
        </p:txBody>
      </p:sp>
      <p:sp>
        <p:nvSpPr>
          <p:cNvPr id="18" name="Text 16"/>
          <p:cNvSpPr/>
          <p:nvPr/>
        </p:nvSpPr>
        <p:spPr>
          <a:xfrm>
            <a:off x="658368" y="3328416"/>
            <a:ext cx="7863840" cy="658368"/>
          </a:xfrm>
          <a:prstGeom prst="rect">
            <a:avLst/>
          </a:prstGeom>
          <a:noFill/>
          <a:ln/>
        </p:spPr>
        <p:txBody>
          <a:bodyPr wrap="square" lIns="0" tIns="0" rIns="0" bIns="0" rtlCol="0" anchor="ctr"/>
          <a:lstStyle/>
          <a:p>
            <a:pPr marL="0" indent="0" algn="l">
              <a:buNone/>
            </a:pPr>
            <a:r>
              <a:rPr lang="en-US" sz="1150" b="1" dirty="0">
                <a:solidFill>
                  <a:srgbClr val="005AEE"/>
                </a:solidFill>
                <a:latin typeface="Arial" pitchFamily="34" charset="0"/>
                <a:ea typeface="Arial" pitchFamily="34" charset="-122"/>
                <a:cs typeface="Arial" pitchFamily="34" charset="-120"/>
              </a:rPr>
              <a:t>Thibaud  </a:t>
            </a:r>
            <a:r>
              <a:rPr lang="en-US" sz="1150" i="1" dirty="0">
                <a:solidFill>
                  <a:srgbClr val="111111"/>
                </a:solidFill>
                <a:latin typeface="Arial" pitchFamily="34" charset="0"/>
                <a:ea typeface="Arial" pitchFamily="34" charset="-122"/>
                <a:cs typeface="Arial" pitchFamily="34" charset="-120"/>
              </a:rPr>
              <a:t>"We kind of lost track of all the subcontractors we have and we're working with."  </a:t>
            </a:r>
            <a:r>
              <a:rPr lang="en-US" sz="1150" b="1" dirty="0">
                <a:solidFill>
                  <a:srgbClr val="16A34A"/>
                </a:solidFill>
                <a:latin typeface="Arial" pitchFamily="34" charset="0"/>
                <a:ea typeface="Arial" pitchFamily="34" charset="-122"/>
                <a:cs typeface="Arial" pitchFamily="34" charset="-120"/>
              </a:rPr>
              <a:t>→ Duplicate payments likely</a:t>
            </a:r>
            <a:endParaRPr lang="en-US" sz="1150" dirty="0"/>
          </a:p>
        </p:txBody>
      </p:sp>
      <p:sp>
        <p:nvSpPr>
          <p:cNvPr id="19" name="Shape 17"/>
          <p:cNvSpPr/>
          <p:nvPr/>
        </p:nvSpPr>
        <p:spPr>
          <a:xfrm>
            <a:off x="457200" y="4078224"/>
            <a:ext cx="8229600" cy="65836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0" name="Shape 18"/>
          <p:cNvSpPr/>
          <p:nvPr/>
        </p:nvSpPr>
        <p:spPr>
          <a:xfrm>
            <a:off x="457200" y="4078224"/>
            <a:ext cx="45720" cy="658368"/>
          </a:xfrm>
          <a:prstGeom prst="rect">
            <a:avLst/>
          </a:prstGeom>
          <a:solidFill>
            <a:srgbClr val="005AEE"/>
          </a:solidFill>
          <a:ln w="12700">
            <a:solidFill>
              <a:srgbClr val="005AEE"/>
            </a:solidFill>
            <a:prstDash val="solid"/>
          </a:ln>
        </p:spPr>
        <p:txBody>
          <a:bodyPr/>
          <a:lstStyle/>
          <a:p>
            <a:endParaRPr lang="de-DE"/>
          </a:p>
        </p:txBody>
      </p:sp>
      <p:sp>
        <p:nvSpPr>
          <p:cNvPr id="21" name="Text 19"/>
          <p:cNvSpPr/>
          <p:nvPr/>
        </p:nvSpPr>
        <p:spPr>
          <a:xfrm>
            <a:off x="658368" y="4078224"/>
            <a:ext cx="7863840" cy="658368"/>
          </a:xfrm>
          <a:prstGeom prst="rect">
            <a:avLst/>
          </a:prstGeom>
          <a:noFill/>
          <a:ln/>
        </p:spPr>
        <p:txBody>
          <a:bodyPr wrap="square" lIns="0" tIns="0" rIns="0" bIns="0" rtlCol="0" anchor="ctr"/>
          <a:lstStyle/>
          <a:p>
            <a:pPr marL="0" indent="0" algn="l">
              <a:buNone/>
            </a:pPr>
            <a:r>
              <a:rPr lang="en-US" sz="1150" b="1" dirty="0">
                <a:solidFill>
                  <a:srgbClr val="005AEE"/>
                </a:solidFill>
                <a:latin typeface="Arial" pitchFamily="34" charset="0"/>
                <a:ea typeface="Arial" pitchFamily="34" charset="-122"/>
                <a:cs typeface="Arial" pitchFamily="34" charset="-120"/>
              </a:rPr>
              <a:t>Both  </a:t>
            </a:r>
            <a:r>
              <a:rPr lang="en-US" sz="1150" i="1" dirty="0">
                <a:solidFill>
                  <a:srgbClr val="111111"/>
                </a:solidFill>
                <a:latin typeface="Arial" pitchFamily="34" charset="0"/>
                <a:ea typeface="Arial" pitchFamily="34" charset="-122"/>
                <a:cs typeface="Arial" pitchFamily="34" charset="-120"/>
              </a:rPr>
              <a:t>"Are we actually compliant by doing what we are doing?" — asked unprompted.  </a:t>
            </a:r>
            <a:r>
              <a:rPr lang="en-US" sz="1150" b="1" dirty="0">
                <a:solidFill>
                  <a:srgbClr val="16A34A"/>
                </a:solidFill>
                <a:latin typeface="Arial" pitchFamily="34" charset="0"/>
                <a:ea typeface="Arial" pitchFamily="34" charset="-122"/>
                <a:cs typeface="Arial" pitchFamily="34" charset="-120"/>
              </a:rPr>
              <a:t>→ Compliance anxiety real</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ContractOS — five agents, one per capability, zero automated decisions</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02  THE SOLUTION</a:t>
            </a:r>
            <a:endParaRPr lang="en-US" sz="850" dirty="0"/>
          </a:p>
        </p:txBody>
      </p:sp>
      <p:sp>
        <p:nvSpPr>
          <p:cNvPr id="7" name="Shape 5"/>
          <p:cNvSpPr/>
          <p:nvPr/>
        </p:nvSpPr>
        <p:spPr>
          <a:xfrm>
            <a:off x="457200" y="1261872"/>
            <a:ext cx="8229600" cy="420624"/>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20624"/>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20624"/>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One interface. Five AI agents orchestrated by LangGraph. Every output goes to a human before any action.</a:t>
            </a:r>
            <a:endParaRPr lang="en-US" sz="1250" dirty="0"/>
          </a:p>
        </p:txBody>
      </p:sp>
      <p:sp>
        <p:nvSpPr>
          <p:cNvPr id="10" name="Shape 8"/>
          <p:cNvSpPr/>
          <p:nvPr/>
        </p:nvSpPr>
        <p:spPr>
          <a:xfrm>
            <a:off x="292608" y="1828800"/>
            <a:ext cx="1591056" cy="285292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292608" y="1828800"/>
            <a:ext cx="1591056" cy="54864"/>
          </a:xfrm>
          <a:prstGeom prst="rect">
            <a:avLst/>
          </a:prstGeom>
          <a:solidFill>
            <a:srgbClr val="005AEE"/>
          </a:solidFill>
          <a:ln w="12700">
            <a:solidFill>
              <a:srgbClr val="005AEE"/>
            </a:solidFill>
            <a:prstDash val="solid"/>
          </a:ln>
        </p:spPr>
        <p:txBody>
          <a:bodyPr/>
          <a:lstStyle/>
          <a:p>
            <a:endParaRPr lang="de-DE"/>
          </a:p>
        </p:txBody>
      </p:sp>
      <p:sp>
        <p:nvSpPr>
          <p:cNvPr id="12" name="Shape 10"/>
          <p:cNvSpPr/>
          <p:nvPr/>
        </p:nvSpPr>
        <p:spPr>
          <a:xfrm>
            <a:off x="795528" y="1975104"/>
            <a:ext cx="585216" cy="585216"/>
          </a:xfrm>
          <a:prstGeom prst="ellipse">
            <a:avLst/>
          </a:prstGeom>
          <a:solidFill>
            <a:srgbClr val="005AEE"/>
          </a:solidFill>
          <a:ln w="12700">
            <a:solidFill>
              <a:srgbClr val="005AEE"/>
            </a:solidFill>
            <a:prstDash val="solid"/>
          </a:ln>
        </p:spPr>
        <p:txBody>
          <a:bodyPr/>
          <a:lstStyle/>
          <a:p>
            <a:endParaRPr lang="de-DE"/>
          </a:p>
        </p:txBody>
      </p:sp>
      <p:sp>
        <p:nvSpPr>
          <p:cNvPr id="13" name="Text 11"/>
          <p:cNvSpPr/>
          <p:nvPr/>
        </p:nvSpPr>
        <p:spPr>
          <a:xfrm>
            <a:off x="795528" y="1975104"/>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4" name="Text 12"/>
          <p:cNvSpPr/>
          <p:nvPr/>
        </p:nvSpPr>
        <p:spPr>
          <a:xfrm>
            <a:off x="365760" y="2743200"/>
            <a:ext cx="1444752" cy="475488"/>
          </a:xfrm>
          <a:prstGeom prst="rect">
            <a:avLst/>
          </a:prstGeom>
          <a:noFill/>
          <a:ln/>
        </p:spPr>
        <p:txBody>
          <a:bodyPr wrap="square" lIns="0" tIns="0" rIns="0" bIns="0" rtlCol="0" anchor="ctr"/>
          <a:lstStyle/>
          <a:p>
            <a:pPr marL="0" indent="0" algn="ctr">
              <a:buNone/>
            </a:pPr>
            <a:r>
              <a:rPr lang="en-US" sz="1100" b="1" dirty="0">
                <a:solidFill>
                  <a:srgbClr val="111111"/>
                </a:solidFill>
                <a:latin typeface="Arial" pitchFamily="34" charset="0"/>
                <a:ea typeface="Arial" pitchFamily="34" charset="-122"/>
                <a:cs typeface="Arial" pitchFamily="34" charset="-120"/>
              </a:rPr>
              <a:t>Contract</a:t>
            </a:r>
            <a:endParaRPr lang="en-US" sz="1100" dirty="0"/>
          </a:p>
          <a:p>
            <a:pPr marL="0" indent="0" algn="ctr">
              <a:buNone/>
            </a:pPr>
            <a:r>
              <a:rPr lang="en-US" sz="1100" b="1" dirty="0">
                <a:solidFill>
                  <a:srgbClr val="111111"/>
                </a:solidFill>
                <a:latin typeface="Arial" pitchFamily="34" charset="0"/>
                <a:ea typeface="Arial" pitchFamily="34" charset="-122"/>
                <a:cs typeface="Arial" pitchFamily="34" charset="-120"/>
              </a:rPr>
              <a:t>Intelligence</a:t>
            </a:r>
            <a:endParaRPr lang="en-US" sz="1100" dirty="0"/>
          </a:p>
        </p:txBody>
      </p:sp>
      <p:sp>
        <p:nvSpPr>
          <p:cNvPr id="15" name="Text 13"/>
          <p:cNvSpPr/>
          <p:nvPr/>
        </p:nvSpPr>
        <p:spPr>
          <a:xfrm>
            <a:off x="365760" y="3255264"/>
            <a:ext cx="1444752" cy="237744"/>
          </a:xfrm>
          <a:prstGeom prst="rect">
            <a:avLst/>
          </a:prstGeom>
          <a:noFill/>
          <a:ln/>
        </p:spPr>
        <p:txBody>
          <a:bodyPr wrap="square" lIns="0" tIns="0" rIns="0" bIns="0" rtlCol="0" anchor="ctr"/>
          <a:lstStyle/>
          <a:p>
            <a:pPr marL="0" indent="0" algn="ctr">
              <a:buNone/>
            </a:pPr>
            <a:r>
              <a:rPr lang="en-US" sz="900" dirty="0">
                <a:solidFill>
                  <a:srgbClr val="005AEE"/>
                </a:solidFill>
                <a:latin typeface="Arial" pitchFamily="34" charset="0"/>
                <a:ea typeface="Arial" pitchFamily="34" charset="-122"/>
                <a:cs typeface="Arial" pitchFamily="34" charset="-120"/>
              </a:rPr>
              <a:t>Agent 1</a:t>
            </a:r>
            <a:endParaRPr lang="en-US" sz="900" dirty="0"/>
          </a:p>
        </p:txBody>
      </p:sp>
      <p:sp>
        <p:nvSpPr>
          <p:cNvPr id="16" name="Text 14"/>
          <p:cNvSpPr/>
          <p:nvPr/>
        </p:nvSpPr>
        <p:spPr>
          <a:xfrm>
            <a:off x="365760" y="3529584"/>
            <a:ext cx="1444752" cy="932688"/>
          </a:xfrm>
          <a:prstGeom prst="rect">
            <a:avLst/>
          </a:prstGeom>
          <a:noFill/>
          <a:ln/>
        </p:spPr>
        <p:txBody>
          <a:bodyPr wrap="square" lIns="0" tIns="0" rIns="0" bIns="0" rtlCol="0" anchor="ctr"/>
          <a:lstStyle/>
          <a:p>
            <a:pPr marL="0" indent="0" algn="ctr">
              <a:buNone/>
            </a:pPr>
            <a:r>
              <a:rPr lang="en-US" sz="800" dirty="0">
                <a:solidFill>
                  <a:srgbClr val="4A4A4A"/>
                </a:solidFill>
                <a:latin typeface="Arial" pitchFamily="34" charset="0"/>
                <a:ea typeface="Arial" pitchFamily="34" charset="-122"/>
                <a:cs typeface="Arial" pitchFamily="34" charset="-120"/>
              </a:rPr>
              <a:t>LLM ingests contracts, extracts JSON: name, role, rate, currency, jurisdiction, notice period, IP clause, GDPR clause, working arrangement. Output to Contract Register DB.</a:t>
            </a:r>
            <a:endParaRPr lang="en-US" sz="800" dirty="0"/>
          </a:p>
        </p:txBody>
      </p:sp>
      <p:sp>
        <p:nvSpPr>
          <p:cNvPr id="17" name="Shape 15"/>
          <p:cNvSpPr/>
          <p:nvPr/>
        </p:nvSpPr>
        <p:spPr>
          <a:xfrm>
            <a:off x="2011680" y="1828800"/>
            <a:ext cx="1591056" cy="285292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8" name="Shape 16"/>
          <p:cNvSpPr/>
          <p:nvPr/>
        </p:nvSpPr>
        <p:spPr>
          <a:xfrm>
            <a:off x="2011680" y="1828800"/>
            <a:ext cx="1591056" cy="54864"/>
          </a:xfrm>
          <a:prstGeom prst="rect">
            <a:avLst/>
          </a:prstGeom>
          <a:solidFill>
            <a:srgbClr val="D97706"/>
          </a:solidFill>
          <a:ln w="12700">
            <a:solidFill>
              <a:srgbClr val="D97706"/>
            </a:solidFill>
            <a:prstDash val="solid"/>
          </a:ln>
        </p:spPr>
        <p:txBody>
          <a:bodyPr/>
          <a:lstStyle/>
          <a:p>
            <a:endParaRPr lang="de-DE"/>
          </a:p>
        </p:txBody>
      </p:sp>
      <p:sp>
        <p:nvSpPr>
          <p:cNvPr id="19" name="Shape 17"/>
          <p:cNvSpPr/>
          <p:nvPr/>
        </p:nvSpPr>
        <p:spPr>
          <a:xfrm>
            <a:off x="2514600" y="1975104"/>
            <a:ext cx="585216" cy="585216"/>
          </a:xfrm>
          <a:prstGeom prst="ellipse">
            <a:avLst/>
          </a:prstGeom>
          <a:solidFill>
            <a:srgbClr val="D97706"/>
          </a:solidFill>
          <a:ln w="12700">
            <a:solidFill>
              <a:srgbClr val="D97706"/>
            </a:solidFill>
            <a:prstDash val="solid"/>
          </a:ln>
        </p:spPr>
        <p:txBody>
          <a:bodyPr/>
          <a:lstStyle/>
          <a:p>
            <a:endParaRPr lang="de-DE"/>
          </a:p>
        </p:txBody>
      </p:sp>
      <p:sp>
        <p:nvSpPr>
          <p:cNvPr id="20" name="Text 18"/>
          <p:cNvSpPr/>
          <p:nvPr/>
        </p:nvSpPr>
        <p:spPr>
          <a:xfrm>
            <a:off x="2514600" y="1975104"/>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1" name="Shape 19"/>
          <p:cNvSpPr/>
          <p:nvPr/>
        </p:nvSpPr>
        <p:spPr>
          <a:xfrm>
            <a:off x="2304288" y="2670048"/>
            <a:ext cx="1005840" cy="219456"/>
          </a:xfrm>
          <a:prstGeom prst="rect">
            <a:avLst/>
          </a:prstGeom>
          <a:solidFill>
            <a:srgbClr val="FFF7ED"/>
          </a:solidFill>
          <a:ln w="12700">
            <a:solidFill>
              <a:srgbClr val="D97706"/>
            </a:solidFill>
            <a:prstDash val="solid"/>
          </a:ln>
          <a:effectLst>
            <a:outerShdw blurRad="101600" dist="25400" dir="8100000" algn="bl" rotWithShape="0">
              <a:srgbClr val="000000">
                <a:alpha val="7000"/>
              </a:srgbClr>
            </a:outerShdw>
          </a:effectLst>
        </p:spPr>
        <p:txBody>
          <a:bodyPr/>
          <a:lstStyle/>
          <a:p>
            <a:endParaRPr lang="de-DE"/>
          </a:p>
        </p:txBody>
      </p:sp>
      <p:sp>
        <p:nvSpPr>
          <p:cNvPr id="22" name="Text 20"/>
          <p:cNvSpPr/>
          <p:nvPr/>
        </p:nvSpPr>
        <p:spPr>
          <a:xfrm>
            <a:off x="2304288" y="2670048"/>
            <a:ext cx="1005840" cy="219456"/>
          </a:xfrm>
          <a:prstGeom prst="rect">
            <a:avLst/>
          </a:prstGeom>
          <a:noFill/>
          <a:ln/>
        </p:spPr>
        <p:txBody>
          <a:bodyPr wrap="square" lIns="0" tIns="0" rIns="0" bIns="0" rtlCol="0" anchor="ctr"/>
          <a:lstStyle/>
          <a:p>
            <a:pPr marL="0" indent="0" algn="ctr">
              <a:buNone/>
            </a:pPr>
            <a:r>
              <a:rPr lang="en-US" sz="800" b="1" dirty="0">
                <a:solidFill>
                  <a:srgbClr val="D97706"/>
                </a:solidFill>
                <a:latin typeface="Arial" pitchFamily="34" charset="0"/>
                <a:ea typeface="Arial" pitchFamily="34" charset="-122"/>
                <a:cs typeface="Arial" pitchFamily="34" charset="-120"/>
              </a:rPr>
              <a:t>UPDATED v1.1</a:t>
            </a:r>
            <a:endParaRPr lang="en-US" sz="800" dirty="0"/>
          </a:p>
        </p:txBody>
      </p:sp>
      <p:sp>
        <p:nvSpPr>
          <p:cNvPr id="23" name="Text 21"/>
          <p:cNvSpPr/>
          <p:nvPr/>
        </p:nvSpPr>
        <p:spPr>
          <a:xfrm>
            <a:off x="2084832" y="2926080"/>
            <a:ext cx="1444752" cy="475488"/>
          </a:xfrm>
          <a:prstGeom prst="rect">
            <a:avLst/>
          </a:prstGeom>
          <a:noFill/>
          <a:ln/>
        </p:spPr>
        <p:txBody>
          <a:bodyPr wrap="square" lIns="0" tIns="0" rIns="0" bIns="0" rtlCol="0" anchor="ctr"/>
          <a:lstStyle/>
          <a:p>
            <a:pPr marL="0" indent="0" algn="ctr">
              <a:buNone/>
            </a:pPr>
            <a:r>
              <a:rPr lang="en-US" sz="1100" b="1" dirty="0">
                <a:solidFill>
                  <a:srgbClr val="111111"/>
                </a:solidFill>
                <a:latin typeface="Arial" pitchFamily="34" charset="0"/>
                <a:ea typeface="Arial" pitchFamily="34" charset="-122"/>
                <a:cs typeface="Arial" pitchFamily="34" charset="-120"/>
              </a:rPr>
              <a:t>Invoice</a:t>
            </a:r>
            <a:endParaRPr lang="en-US" sz="1100" dirty="0"/>
          </a:p>
          <a:p>
            <a:pPr marL="0" indent="0" algn="ctr">
              <a:buNone/>
            </a:pPr>
            <a:r>
              <a:rPr lang="en-US" sz="1100" b="1" dirty="0">
                <a:solidFill>
                  <a:srgbClr val="111111"/>
                </a:solidFill>
                <a:latin typeface="Arial" pitchFamily="34" charset="0"/>
                <a:ea typeface="Arial" pitchFamily="34" charset="-122"/>
                <a:cs typeface="Arial" pitchFamily="34" charset="-120"/>
              </a:rPr>
              <a:t>Validation</a:t>
            </a:r>
            <a:endParaRPr lang="en-US" sz="1100" dirty="0"/>
          </a:p>
        </p:txBody>
      </p:sp>
      <p:sp>
        <p:nvSpPr>
          <p:cNvPr id="24" name="Text 22"/>
          <p:cNvSpPr/>
          <p:nvPr/>
        </p:nvSpPr>
        <p:spPr>
          <a:xfrm>
            <a:off x="2084832" y="3401568"/>
            <a:ext cx="1444752" cy="237744"/>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Agent 2</a:t>
            </a:r>
            <a:endParaRPr lang="en-US" sz="900" dirty="0"/>
          </a:p>
        </p:txBody>
      </p:sp>
      <p:sp>
        <p:nvSpPr>
          <p:cNvPr id="25" name="Text 23"/>
          <p:cNvSpPr/>
          <p:nvPr/>
        </p:nvSpPr>
        <p:spPr>
          <a:xfrm>
            <a:off x="2084832" y="3675888"/>
            <a:ext cx="1444752" cy="932688"/>
          </a:xfrm>
          <a:prstGeom prst="rect">
            <a:avLst/>
          </a:prstGeom>
          <a:noFill/>
          <a:ln/>
        </p:spPr>
        <p:txBody>
          <a:bodyPr wrap="square" lIns="0" tIns="0" rIns="0" bIns="0" rtlCol="0" anchor="ctr"/>
          <a:lstStyle/>
          <a:p>
            <a:pPr marL="0" indent="0" algn="ctr">
              <a:buNone/>
            </a:pPr>
            <a:r>
              <a:rPr lang="en-US" sz="800" dirty="0">
                <a:solidFill>
                  <a:srgbClr val="4A4A4A"/>
                </a:solidFill>
                <a:latin typeface="Arial" pitchFamily="34" charset="0"/>
                <a:ea typeface="Arial" pitchFamily="34" charset="-122"/>
                <a:cs typeface="Arial" pitchFamily="34" charset="-120"/>
              </a:rPr>
              <a:t>Validates invoices vs contract terms. Flags amount, currency, scope mismatches. </a:t>
            </a:r>
            <a:r>
              <a:rPr lang="en-US" sz="800" b="1" u="sng" dirty="0">
                <a:solidFill>
                  <a:srgbClr val="4A4A4A"/>
                </a:solidFill>
                <a:latin typeface="Arial" pitchFamily="34" charset="0"/>
                <a:ea typeface="Arial" pitchFamily="34" charset="-122"/>
                <a:cs typeface="Arial" pitchFamily="34" charset="-120"/>
              </a:rPr>
              <a:t>Now also</a:t>
            </a:r>
            <a:r>
              <a:rPr lang="en-US" sz="800" b="1" dirty="0">
                <a:solidFill>
                  <a:srgbClr val="4A4A4A"/>
                </a:solidFill>
                <a:latin typeface="Arial" pitchFamily="34" charset="0"/>
                <a:ea typeface="Arial" pitchFamily="34" charset="-122"/>
                <a:cs typeface="Arial" pitchFamily="34" charset="-120"/>
              </a:rPr>
              <a:t>: PO matching + local accounting rules per jurisdiction.</a:t>
            </a:r>
            <a:endParaRPr lang="en-US" sz="800" b="1" dirty="0"/>
          </a:p>
        </p:txBody>
      </p:sp>
      <p:sp>
        <p:nvSpPr>
          <p:cNvPr id="26" name="Shape 24"/>
          <p:cNvSpPr/>
          <p:nvPr/>
        </p:nvSpPr>
        <p:spPr>
          <a:xfrm>
            <a:off x="3730752" y="1828800"/>
            <a:ext cx="1591056" cy="285292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7" name="Shape 25"/>
          <p:cNvSpPr/>
          <p:nvPr/>
        </p:nvSpPr>
        <p:spPr>
          <a:xfrm>
            <a:off x="3730752" y="1828800"/>
            <a:ext cx="1591056" cy="54864"/>
          </a:xfrm>
          <a:prstGeom prst="rect">
            <a:avLst/>
          </a:prstGeom>
          <a:solidFill>
            <a:srgbClr val="005AEE"/>
          </a:solidFill>
          <a:ln w="12700">
            <a:solidFill>
              <a:srgbClr val="005AEE"/>
            </a:solidFill>
            <a:prstDash val="solid"/>
          </a:ln>
        </p:spPr>
        <p:txBody>
          <a:bodyPr/>
          <a:lstStyle/>
          <a:p>
            <a:endParaRPr lang="de-DE"/>
          </a:p>
        </p:txBody>
      </p:sp>
      <p:sp>
        <p:nvSpPr>
          <p:cNvPr id="28" name="Shape 26"/>
          <p:cNvSpPr/>
          <p:nvPr/>
        </p:nvSpPr>
        <p:spPr>
          <a:xfrm>
            <a:off x="4233672" y="1975104"/>
            <a:ext cx="585216" cy="585216"/>
          </a:xfrm>
          <a:prstGeom prst="ellipse">
            <a:avLst/>
          </a:prstGeom>
          <a:solidFill>
            <a:srgbClr val="005AEE"/>
          </a:solidFill>
          <a:ln w="12700">
            <a:solidFill>
              <a:srgbClr val="005AEE"/>
            </a:solidFill>
            <a:prstDash val="solid"/>
          </a:ln>
        </p:spPr>
        <p:txBody>
          <a:bodyPr/>
          <a:lstStyle/>
          <a:p>
            <a:endParaRPr lang="de-DE"/>
          </a:p>
        </p:txBody>
      </p:sp>
      <p:sp>
        <p:nvSpPr>
          <p:cNvPr id="29" name="Text 27"/>
          <p:cNvSpPr/>
          <p:nvPr/>
        </p:nvSpPr>
        <p:spPr>
          <a:xfrm>
            <a:off x="4233672" y="1975104"/>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30" name="Text 28"/>
          <p:cNvSpPr/>
          <p:nvPr/>
        </p:nvSpPr>
        <p:spPr>
          <a:xfrm>
            <a:off x="3803904" y="2743200"/>
            <a:ext cx="1444752" cy="475488"/>
          </a:xfrm>
          <a:prstGeom prst="rect">
            <a:avLst/>
          </a:prstGeom>
          <a:noFill/>
          <a:ln/>
        </p:spPr>
        <p:txBody>
          <a:bodyPr wrap="square" lIns="0" tIns="0" rIns="0" bIns="0" rtlCol="0" anchor="ctr"/>
          <a:lstStyle/>
          <a:p>
            <a:pPr marL="0" indent="0" algn="ctr">
              <a:buNone/>
            </a:pPr>
            <a:r>
              <a:rPr lang="en-US" sz="1100" b="1" dirty="0">
                <a:solidFill>
                  <a:srgbClr val="111111"/>
                </a:solidFill>
                <a:latin typeface="Arial" pitchFamily="34" charset="0"/>
                <a:ea typeface="Arial" pitchFamily="34" charset="-122"/>
                <a:cs typeface="Arial" pitchFamily="34" charset="-120"/>
              </a:rPr>
              <a:t>Overlap</a:t>
            </a:r>
            <a:endParaRPr lang="en-US" sz="1100" dirty="0"/>
          </a:p>
          <a:p>
            <a:pPr marL="0" indent="0" algn="ctr">
              <a:buNone/>
            </a:pPr>
            <a:r>
              <a:rPr lang="en-US" sz="1100" b="1" dirty="0">
                <a:solidFill>
                  <a:srgbClr val="111111"/>
                </a:solidFill>
                <a:latin typeface="Arial" pitchFamily="34" charset="0"/>
                <a:ea typeface="Arial" pitchFamily="34" charset="-122"/>
                <a:cs typeface="Arial" pitchFamily="34" charset="-120"/>
              </a:rPr>
              <a:t>Detection</a:t>
            </a:r>
            <a:endParaRPr lang="en-US" sz="1100" dirty="0"/>
          </a:p>
        </p:txBody>
      </p:sp>
      <p:sp>
        <p:nvSpPr>
          <p:cNvPr id="31" name="Text 29"/>
          <p:cNvSpPr/>
          <p:nvPr/>
        </p:nvSpPr>
        <p:spPr>
          <a:xfrm>
            <a:off x="3803904" y="3255264"/>
            <a:ext cx="1444752" cy="237744"/>
          </a:xfrm>
          <a:prstGeom prst="rect">
            <a:avLst/>
          </a:prstGeom>
          <a:noFill/>
          <a:ln/>
        </p:spPr>
        <p:txBody>
          <a:bodyPr wrap="square" lIns="0" tIns="0" rIns="0" bIns="0" rtlCol="0" anchor="ctr"/>
          <a:lstStyle/>
          <a:p>
            <a:pPr marL="0" indent="0" algn="ctr">
              <a:buNone/>
            </a:pPr>
            <a:r>
              <a:rPr lang="en-US" sz="900" dirty="0">
                <a:solidFill>
                  <a:srgbClr val="005AEE"/>
                </a:solidFill>
                <a:latin typeface="Arial" pitchFamily="34" charset="0"/>
                <a:ea typeface="Arial" pitchFamily="34" charset="-122"/>
                <a:cs typeface="Arial" pitchFamily="34" charset="-120"/>
              </a:rPr>
              <a:t>Agent 3</a:t>
            </a:r>
            <a:endParaRPr lang="en-US" sz="900" dirty="0"/>
          </a:p>
        </p:txBody>
      </p:sp>
      <p:sp>
        <p:nvSpPr>
          <p:cNvPr id="32" name="Text 30"/>
          <p:cNvSpPr/>
          <p:nvPr/>
        </p:nvSpPr>
        <p:spPr>
          <a:xfrm>
            <a:off x="3803904" y="3529584"/>
            <a:ext cx="1444752" cy="932688"/>
          </a:xfrm>
          <a:prstGeom prst="rect">
            <a:avLst/>
          </a:prstGeom>
          <a:noFill/>
          <a:ln/>
        </p:spPr>
        <p:txBody>
          <a:bodyPr wrap="square" lIns="0" tIns="0" rIns="0" bIns="0" rtlCol="0" anchor="ctr"/>
          <a:lstStyle/>
          <a:p>
            <a:pPr marL="0" indent="0" algn="ctr">
              <a:buNone/>
            </a:pPr>
            <a:r>
              <a:rPr lang="en-US" sz="800" dirty="0">
                <a:solidFill>
                  <a:srgbClr val="4A4A4A"/>
                </a:solidFill>
                <a:latin typeface="Arial" pitchFamily="34" charset="0"/>
                <a:ea typeface="Arial" pitchFamily="34" charset="-122"/>
                <a:cs typeface="Arial" pitchFamily="34" charset="-120"/>
              </a:rPr>
              <a:t>Semantic similarity: contractor scope vs internal job roles. Flags pairs where overlap exceeds threshold. Output: overlap alert + estimated duplicate cost.</a:t>
            </a:r>
            <a:endParaRPr lang="en-US" sz="800" dirty="0"/>
          </a:p>
        </p:txBody>
      </p:sp>
      <p:sp>
        <p:nvSpPr>
          <p:cNvPr id="33" name="Shape 31"/>
          <p:cNvSpPr/>
          <p:nvPr/>
        </p:nvSpPr>
        <p:spPr>
          <a:xfrm>
            <a:off x="5449824" y="1828800"/>
            <a:ext cx="1591056" cy="285292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34" name="Shape 32"/>
          <p:cNvSpPr/>
          <p:nvPr/>
        </p:nvSpPr>
        <p:spPr>
          <a:xfrm>
            <a:off x="5449824" y="1828800"/>
            <a:ext cx="1591056" cy="54864"/>
          </a:xfrm>
          <a:prstGeom prst="rect">
            <a:avLst/>
          </a:prstGeom>
          <a:solidFill>
            <a:srgbClr val="D97706"/>
          </a:solidFill>
          <a:ln w="12700">
            <a:solidFill>
              <a:srgbClr val="D97706"/>
            </a:solidFill>
            <a:prstDash val="solid"/>
          </a:ln>
        </p:spPr>
        <p:txBody>
          <a:bodyPr/>
          <a:lstStyle/>
          <a:p>
            <a:endParaRPr lang="de-DE"/>
          </a:p>
        </p:txBody>
      </p:sp>
      <p:sp>
        <p:nvSpPr>
          <p:cNvPr id="35" name="Shape 33"/>
          <p:cNvSpPr/>
          <p:nvPr/>
        </p:nvSpPr>
        <p:spPr>
          <a:xfrm>
            <a:off x="5952744" y="1975104"/>
            <a:ext cx="585216" cy="585216"/>
          </a:xfrm>
          <a:prstGeom prst="ellipse">
            <a:avLst/>
          </a:prstGeom>
          <a:solidFill>
            <a:srgbClr val="D97706"/>
          </a:solidFill>
          <a:ln w="12700">
            <a:solidFill>
              <a:srgbClr val="D97706"/>
            </a:solidFill>
            <a:prstDash val="solid"/>
          </a:ln>
        </p:spPr>
        <p:txBody>
          <a:bodyPr/>
          <a:lstStyle/>
          <a:p>
            <a:endParaRPr lang="de-DE"/>
          </a:p>
        </p:txBody>
      </p:sp>
      <p:sp>
        <p:nvSpPr>
          <p:cNvPr id="36" name="Text 34"/>
          <p:cNvSpPr/>
          <p:nvPr/>
        </p:nvSpPr>
        <p:spPr>
          <a:xfrm>
            <a:off x="5952744" y="1975104"/>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37" name="Shape 35"/>
          <p:cNvSpPr/>
          <p:nvPr/>
        </p:nvSpPr>
        <p:spPr>
          <a:xfrm>
            <a:off x="5742432" y="2670048"/>
            <a:ext cx="1005840" cy="219456"/>
          </a:xfrm>
          <a:prstGeom prst="rect">
            <a:avLst/>
          </a:prstGeom>
          <a:solidFill>
            <a:srgbClr val="FFF7ED"/>
          </a:solidFill>
          <a:ln w="12700">
            <a:solidFill>
              <a:srgbClr val="D97706"/>
            </a:solidFill>
            <a:prstDash val="solid"/>
          </a:ln>
          <a:effectLst>
            <a:outerShdw blurRad="101600" dist="25400" dir="8100000" algn="bl" rotWithShape="0">
              <a:srgbClr val="000000">
                <a:alpha val="7000"/>
              </a:srgbClr>
            </a:outerShdw>
          </a:effectLst>
        </p:spPr>
        <p:txBody>
          <a:bodyPr/>
          <a:lstStyle/>
          <a:p>
            <a:endParaRPr lang="de-DE"/>
          </a:p>
        </p:txBody>
      </p:sp>
      <p:sp>
        <p:nvSpPr>
          <p:cNvPr id="38" name="Text 36"/>
          <p:cNvSpPr/>
          <p:nvPr/>
        </p:nvSpPr>
        <p:spPr>
          <a:xfrm>
            <a:off x="5742432" y="2670048"/>
            <a:ext cx="1005840" cy="219456"/>
          </a:xfrm>
          <a:prstGeom prst="rect">
            <a:avLst/>
          </a:prstGeom>
          <a:noFill/>
          <a:ln/>
        </p:spPr>
        <p:txBody>
          <a:bodyPr wrap="square" lIns="0" tIns="0" rIns="0" bIns="0" rtlCol="0" anchor="ctr"/>
          <a:lstStyle/>
          <a:p>
            <a:pPr marL="0" indent="0" algn="ctr">
              <a:buNone/>
            </a:pPr>
            <a:r>
              <a:rPr lang="en-US" sz="800" b="1" dirty="0">
                <a:solidFill>
                  <a:srgbClr val="D97706"/>
                </a:solidFill>
                <a:latin typeface="Arial" pitchFamily="34" charset="0"/>
                <a:ea typeface="Arial" pitchFamily="34" charset="-122"/>
                <a:cs typeface="Arial" pitchFamily="34" charset="-120"/>
              </a:rPr>
              <a:t>UPDATED v1.1</a:t>
            </a:r>
            <a:endParaRPr lang="en-US" sz="800" dirty="0"/>
          </a:p>
        </p:txBody>
      </p:sp>
      <p:sp>
        <p:nvSpPr>
          <p:cNvPr id="39" name="Text 37"/>
          <p:cNvSpPr/>
          <p:nvPr/>
        </p:nvSpPr>
        <p:spPr>
          <a:xfrm>
            <a:off x="5522976" y="2926080"/>
            <a:ext cx="1444752" cy="475488"/>
          </a:xfrm>
          <a:prstGeom prst="rect">
            <a:avLst/>
          </a:prstGeom>
          <a:noFill/>
          <a:ln/>
        </p:spPr>
        <p:txBody>
          <a:bodyPr wrap="square" lIns="0" tIns="0" rIns="0" bIns="0" rtlCol="0" anchor="ctr"/>
          <a:lstStyle/>
          <a:p>
            <a:pPr marL="0" indent="0" algn="ctr">
              <a:buNone/>
            </a:pPr>
            <a:r>
              <a:rPr lang="en-US" sz="1100" b="1" dirty="0">
                <a:solidFill>
                  <a:srgbClr val="111111"/>
                </a:solidFill>
                <a:latin typeface="Arial" pitchFamily="34" charset="0"/>
                <a:ea typeface="Arial" pitchFamily="34" charset="-122"/>
                <a:cs typeface="Arial" pitchFamily="34" charset="-120"/>
              </a:rPr>
              <a:t>Compliance</a:t>
            </a:r>
            <a:endParaRPr lang="en-US" sz="1100" dirty="0"/>
          </a:p>
          <a:p>
            <a:pPr marL="0" indent="0" algn="ctr">
              <a:buNone/>
            </a:pPr>
            <a:r>
              <a:rPr lang="en-US" sz="1100" b="1" dirty="0">
                <a:solidFill>
                  <a:srgbClr val="111111"/>
                </a:solidFill>
                <a:latin typeface="Arial" pitchFamily="34" charset="0"/>
                <a:ea typeface="Arial" pitchFamily="34" charset="-122"/>
                <a:cs typeface="Arial" pitchFamily="34" charset="-120"/>
              </a:rPr>
              <a:t>Flagging</a:t>
            </a:r>
            <a:endParaRPr lang="en-US" sz="1100" dirty="0"/>
          </a:p>
        </p:txBody>
      </p:sp>
      <p:sp>
        <p:nvSpPr>
          <p:cNvPr id="40" name="Text 38"/>
          <p:cNvSpPr/>
          <p:nvPr/>
        </p:nvSpPr>
        <p:spPr>
          <a:xfrm>
            <a:off x="5522976" y="3401568"/>
            <a:ext cx="1444752" cy="237744"/>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Agent 4</a:t>
            </a:r>
            <a:endParaRPr lang="en-US" sz="900" dirty="0"/>
          </a:p>
        </p:txBody>
      </p:sp>
      <p:sp>
        <p:nvSpPr>
          <p:cNvPr id="41" name="Text 39"/>
          <p:cNvSpPr/>
          <p:nvPr/>
        </p:nvSpPr>
        <p:spPr>
          <a:xfrm>
            <a:off x="5522976" y="3675888"/>
            <a:ext cx="1444752" cy="932688"/>
          </a:xfrm>
          <a:prstGeom prst="rect">
            <a:avLst/>
          </a:prstGeom>
          <a:noFill/>
          <a:ln/>
        </p:spPr>
        <p:txBody>
          <a:bodyPr wrap="square" lIns="0" tIns="0" rIns="0" bIns="0" rtlCol="0" anchor="ctr"/>
          <a:lstStyle/>
          <a:p>
            <a:pPr marL="0" indent="0" algn="ctr">
              <a:buNone/>
            </a:pPr>
            <a:r>
              <a:rPr lang="en-US" sz="800" dirty="0">
                <a:solidFill>
                  <a:srgbClr val="4A4A4A"/>
                </a:solidFill>
                <a:latin typeface="Arial" pitchFamily="34" charset="0"/>
                <a:ea typeface="Arial" pitchFamily="34" charset="-122"/>
                <a:cs typeface="Arial" pitchFamily="34" charset="-120"/>
              </a:rPr>
              <a:t>Red/Amber/Green per contract: GDPR, IP, misclassification (NL DBA, German rules). </a:t>
            </a:r>
            <a:r>
              <a:rPr lang="en-US" sz="800" b="1" u="sng" dirty="0">
                <a:solidFill>
                  <a:srgbClr val="4A4A4A"/>
                </a:solidFill>
                <a:latin typeface="Arial" pitchFamily="34" charset="0"/>
                <a:ea typeface="Arial" pitchFamily="34" charset="-122"/>
                <a:cs typeface="Arial" pitchFamily="34" charset="-120"/>
              </a:rPr>
              <a:t>Now also:</a:t>
            </a:r>
            <a:r>
              <a:rPr lang="en-US" sz="800" b="1" dirty="0">
                <a:solidFill>
                  <a:srgbClr val="4A4A4A"/>
                </a:solidFill>
                <a:latin typeface="Arial" pitchFamily="34" charset="0"/>
                <a:ea typeface="Arial" pitchFamily="34" charset="-122"/>
                <a:cs typeface="Arial" pitchFamily="34" charset="-120"/>
              </a:rPr>
              <a:t> EOR flag for countries where Oracle has no legal entity.</a:t>
            </a:r>
            <a:endParaRPr lang="en-US" sz="800" b="1" dirty="0"/>
          </a:p>
        </p:txBody>
      </p:sp>
      <p:sp>
        <p:nvSpPr>
          <p:cNvPr id="42" name="Shape 40"/>
          <p:cNvSpPr/>
          <p:nvPr/>
        </p:nvSpPr>
        <p:spPr>
          <a:xfrm>
            <a:off x="7168896" y="1828800"/>
            <a:ext cx="1591056" cy="285292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43" name="Shape 41"/>
          <p:cNvSpPr/>
          <p:nvPr/>
        </p:nvSpPr>
        <p:spPr>
          <a:xfrm>
            <a:off x="7168896" y="1828800"/>
            <a:ext cx="1591056" cy="54864"/>
          </a:xfrm>
          <a:prstGeom prst="rect">
            <a:avLst/>
          </a:prstGeom>
          <a:solidFill>
            <a:srgbClr val="D97706"/>
          </a:solidFill>
          <a:ln w="12700">
            <a:solidFill>
              <a:srgbClr val="D97706"/>
            </a:solidFill>
            <a:prstDash val="solid"/>
          </a:ln>
        </p:spPr>
        <p:txBody>
          <a:bodyPr/>
          <a:lstStyle/>
          <a:p>
            <a:endParaRPr lang="de-DE"/>
          </a:p>
        </p:txBody>
      </p:sp>
      <p:sp>
        <p:nvSpPr>
          <p:cNvPr id="44" name="Shape 42"/>
          <p:cNvSpPr/>
          <p:nvPr/>
        </p:nvSpPr>
        <p:spPr>
          <a:xfrm>
            <a:off x="7671816" y="1975104"/>
            <a:ext cx="585216" cy="585216"/>
          </a:xfrm>
          <a:prstGeom prst="ellipse">
            <a:avLst/>
          </a:prstGeom>
          <a:solidFill>
            <a:srgbClr val="D97706"/>
          </a:solidFill>
          <a:ln w="12700">
            <a:solidFill>
              <a:srgbClr val="D97706"/>
            </a:solidFill>
            <a:prstDash val="solid"/>
          </a:ln>
        </p:spPr>
        <p:txBody>
          <a:bodyPr/>
          <a:lstStyle/>
          <a:p>
            <a:endParaRPr lang="de-DE"/>
          </a:p>
        </p:txBody>
      </p:sp>
      <p:sp>
        <p:nvSpPr>
          <p:cNvPr id="45" name="Text 43"/>
          <p:cNvSpPr/>
          <p:nvPr/>
        </p:nvSpPr>
        <p:spPr>
          <a:xfrm>
            <a:off x="7671816" y="1975104"/>
            <a:ext cx="585216" cy="585216"/>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46" name="Shape 44"/>
          <p:cNvSpPr/>
          <p:nvPr/>
        </p:nvSpPr>
        <p:spPr>
          <a:xfrm>
            <a:off x="7461504" y="2670048"/>
            <a:ext cx="1005840" cy="219456"/>
          </a:xfrm>
          <a:prstGeom prst="rect">
            <a:avLst/>
          </a:prstGeom>
          <a:solidFill>
            <a:srgbClr val="FFF7ED"/>
          </a:solidFill>
          <a:ln w="12700">
            <a:solidFill>
              <a:srgbClr val="D97706"/>
            </a:solidFill>
            <a:prstDash val="solid"/>
          </a:ln>
          <a:effectLst>
            <a:outerShdw blurRad="101600" dist="25400" dir="8100000" algn="bl" rotWithShape="0">
              <a:srgbClr val="000000">
                <a:alpha val="7000"/>
              </a:srgbClr>
            </a:outerShdw>
          </a:effectLst>
        </p:spPr>
        <p:txBody>
          <a:bodyPr/>
          <a:lstStyle/>
          <a:p>
            <a:endParaRPr lang="de-DE"/>
          </a:p>
        </p:txBody>
      </p:sp>
      <p:sp>
        <p:nvSpPr>
          <p:cNvPr id="47" name="Text 45"/>
          <p:cNvSpPr/>
          <p:nvPr/>
        </p:nvSpPr>
        <p:spPr>
          <a:xfrm>
            <a:off x="7461504" y="2670048"/>
            <a:ext cx="1005840" cy="219456"/>
          </a:xfrm>
          <a:prstGeom prst="rect">
            <a:avLst/>
          </a:prstGeom>
          <a:noFill/>
          <a:ln/>
        </p:spPr>
        <p:txBody>
          <a:bodyPr wrap="square" lIns="0" tIns="0" rIns="0" bIns="0" rtlCol="0" anchor="ctr"/>
          <a:lstStyle/>
          <a:p>
            <a:pPr marL="0" indent="0" algn="ctr">
              <a:buNone/>
            </a:pPr>
            <a:r>
              <a:rPr lang="en-US" sz="800" b="1" dirty="0">
                <a:solidFill>
                  <a:srgbClr val="D97706"/>
                </a:solidFill>
                <a:latin typeface="Arial" pitchFamily="34" charset="0"/>
                <a:ea typeface="Arial" pitchFamily="34" charset="-122"/>
                <a:cs typeface="Arial" pitchFamily="34" charset="-120"/>
              </a:rPr>
              <a:t>UPDATED v1.1</a:t>
            </a:r>
            <a:endParaRPr lang="en-US" sz="800" dirty="0"/>
          </a:p>
        </p:txBody>
      </p:sp>
      <p:sp>
        <p:nvSpPr>
          <p:cNvPr id="48" name="Text 46"/>
          <p:cNvSpPr/>
          <p:nvPr/>
        </p:nvSpPr>
        <p:spPr>
          <a:xfrm>
            <a:off x="7242048" y="2926080"/>
            <a:ext cx="1444752" cy="475488"/>
          </a:xfrm>
          <a:prstGeom prst="rect">
            <a:avLst/>
          </a:prstGeom>
          <a:noFill/>
          <a:ln/>
        </p:spPr>
        <p:txBody>
          <a:bodyPr wrap="square" lIns="0" tIns="0" rIns="0" bIns="0" rtlCol="0" anchor="ctr"/>
          <a:lstStyle/>
          <a:p>
            <a:pPr marL="0" indent="0" algn="ctr">
              <a:buNone/>
            </a:pPr>
            <a:r>
              <a:rPr lang="en-US" sz="1100" b="1" dirty="0">
                <a:solidFill>
                  <a:srgbClr val="111111"/>
                </a:solidFill>
                <a:latin typeface="Arial" pitchFamily="34" charset="0"/>
                <a:ea typeface="Arial" pitchFamily="34" charset="-122"/>
                <a:cs typeface="Arial" pitchFamily="34" charset="-120"/>
              </a:rPr>
              <a:t>Cost</a:t>
            </a:r>
            <a:endParaRPr lang="en-US" sz="1100" dirty="0"/>
          </a:p>
          <a:p>
            <a:pPr marL="0" indent="0" algn="ctr">
              <a:buNone/>
            </a:pPr>
            <a:r>
              <a:rPr lang="en-US" sz="1100" b="1" dirty="0">
                <a:solidFill>
                  <a:srgbClr val="111111"/>
                </a:solidFill>
                <a:latin typeface="Arial" pitchFamily="34" charset="0"/>
                <a:ea typeface="Arial" pitchFamily="34" charset="-122"/>
                <a:cs typeface="Arial" pitchFamily="34" charset="-120"/>
              </a:rPr>
              <a:t>Categorisation</a:t>
            </a:r>
            <a:endParaRPr lang="en-US" sz="1100" dirty="0"/>
          </a:p>
        </p:txBody>
      </p:sp>
      <p:sp>
        <p:nvSpPr>
          <p:cNvPr id="49" name="Text 47"/>
          <p:cNvSpPr/>
          <p:nvPr/>
        </p:nvSpPr>
        <p:spPr>
          <a:xfrm>
            <a:off x="7242048" y="3401568"/>
            <a:ext cx="1444752" cy="237744"/>
          </a:xfrm>
          <a:prstGeom prst="rect">
            <a:avLst/>
          </a:prstGeom>
          <a:noFill/>
          <a:ln/>
        </p:spPr>
        <p:txBody>
          <a:bodyPr wrap="square" lIns="0" tIns="0" rIns="0" bIns="0" rtlCol="0" anchor="ctr"/>
          <a:lstStyle/>
          <a:p>
            <a:pPr marL="0" indent="0" algn="ctr">
              <a:buNone/>
            </a:pPr>
            <a:r>
              <a:rPr lang="en-US" sz="900" dirty="0">
                <a:solidFill>
                  <a:srgbClr val="D97706"/>
                </a:solidFill>
                <a:latin typeface="Arial" pitchFamily="34" charset="0"/>
                <a:ea typeface="Arial" pitchFamily="34" charset="-122"/>
                <a:cs typeface="Arial" pitchFamily="34" charset="-120"/>
              </a:rPr>
              <a:t>Agent 5</a:t>
            </a:r>
            <a:endParaRPr lang="en-US" sz="900" dirty="0"/>
          </a:p>
        </p:txBody>
      </p:sp>
      <p:sp>
        <p:nvSpPr>
          <p:cNvPr id="50" name="Text 48"/>
          <p:cNvSpPr/>
          <p:nvPr/>
        </p:nvSpPr>
        <p:spPr>
          <a:xfrm>
            <a:off x="7242048" y="3675888"/>
            <a:ext cx="1444752" cy="932688"/>
          </a:xfrm>
          <a:prstGeom prst="rect">
            <a:avLst/>
          </a:prstGeom>
          <a:noFill/>
          <a:ln/>
        </p:spPr>
        <p:txBody>
          <a:bodyPr wrap="square" lIns="0" tIns="0" rIns="0" bIns="0" rtlCol="0" anchor="ctr"/>
          <a:lstStyle/>
          <a:p>
            <a:pPr marL="0" indent="0" algn="ctr">
              <a:buNone/>
            </a:pPr>
            <a:r>
              <a:rPr lang="en-US" sz="800" dirty="0">
                <a:solidFill>
                  <a:srgbClr val="4A4A4A"/>
                </a:solidFill>
                <a:latin typeface="Arial" pitchFamily="34" charset="0"/>
                <a:ea typeface="Arial" pitchFamily="34" charset="-122"/>
                <a:cs typeface="Arial" pitchFamily="34" charset="-120"/>
              </a:rPr>
              <a:t>Categorises all spend by country, type, team, intermediary. </a:t>
            </a:r>
            <a:r>
              <a:rPr lang="en-US" sz="800" b="1" u="sng" dirty="0">
                <a:solidFill>
                  <a:srgbClr val="4A4A4A"/>
                </a:solidFill>
                <a:latin typeface="Arial" pitchFamily="34" charset="0"/>
                <a:ea typeface="Arial" pitchFamily="34" charset="-122"/>
                <a:cs typeface="Arial" pitchFamily="34" charset="-120"/>
              </a:rPr>
              <a:t>Now includes</a:t>
            </a:r>
            <a:r>
              <a:rPr lang="en-US" sz="800" b="1" dirty="0">
                <a:solidFill>
                  <a:srgbClr val="4A4A4A"/>
                </a:solidFill>
                <a:latin typeface="Arial" pitchFamily="34" charset="0"/>
                <a:ea typeface="Arial" pitchFamily="34" charset="-122"/>
                <a:cs typeface="Arial" pitchFamily="34" charset="-120"/>
              </a:rPr>
              <a:t>: EOR fees + intermediary subcategories. Alert if intermediary &gt; 30% of country spend.</a:t>
            </a:r>
            <a:endParaRPr lang="en-US" sz="800" b="1" dirty="0"/>
          </a:p>
        </p:txBody>
      </p:sp>
      <p:sp>
        <p:nvSpPr>
          <p:cNvPr id="51" name="Shape 49"/>
          <p:cNvSpPr/>
          <p:nvPr/>
        </p:nvSpPr>
        <p:spPr>
          <a:xfrm>
            <a:off x="0" y="4809744"/>
            <a:ext cx="9144000" cy="347472"/>
          </a:xfrm>
          <a:prstGeom prst="rect">
            <a:avLst/>
          </a:prstGeom>
          <a:solidFill>
            <a:srgbClr val="FFF7ED"/>
          </a:solidFill>
          <a:ln w="12700">
            <a:solidFill>
              <a:srgbClr val="FFF7ED"/>
            </a:solidFill>
            <a:prstDash val="solid"/>
          </a:ln>
        </p:spPr>
        <p:txBody>
          <a:bodyPr/>
          <a:lstStyle/>
          <a:p>
            <a:endParaRPr lang="de-DE"/>
          </a:p>
        </p:txBody>
      </p:sp>
      <p:sp>
        <p:nvSpPr>
          <p:cNvPr id="52" name="Shape 50"/>
          <p:cNvSpPr/>
          <p:nvPr/>
        </p:nvSpPr>
        <p:spPr>
          <a:xfrm>
            <a:off x="0" y="4809744"/>
            <a:ext cx="9144000" cy="36576"/>
          </a:xfrm>
          <a:prstGeom prst="rect">
            <a:avLst/>
          </a:prstGeom>
          <a:solidFill>
            <a:srgbClr val="D97706"/>
          </a:solidFill>
          <a:ln w="12700">
            <a:solidFill>
              <a:srgbClr val="D97706"/>
            </a:solidFill>
            <a:prstDash val="solid"/>
          </a:ln>
        </p:spPr>
        <p:txBody>
          <a:bodyPr/>
          <a:lstStyle/>
          <a:p>
            <a:endParaRPr lang="de-DE"/>
          </a:p>
        </p:txBody>
      </p:sp>
      <p:sp>
        <p:nvSpPr>
          <p:cNvPr id="53" name="Text 51"/>
          <p:cNvSpPr/>
          <p:nvPr/>
        </p:nvSpPr>
        <p:spPr>
          <a:xfrm>
            <a:off x="457200" y="4846320"/>
            <a:ext cx="8229600" cy="274320"/>
          </a:xfrm>
          <a:prstGeom prst="rect">
            <a:avLst/>
          </a:prstGeom>
          <a:noFill/>
          <a:ln/>
        </p:spPr>
        <p:txBody>
          <a:bodyPr wrap="square" lIns="0" tIns="0" rIns="0" bIns="0" rtlCol="0" anchor="ctr"/>
          <a:lstStyle/>
          <a:p>
            <a:pPr marL="0" indent="0" algn="l">
              <a:buNone/>
            </a:pPr>
            <a:r>
              <a:rPr lang="en-US" sz="1000" b="1" dirty="0">
                <a:solidFill>
                  <a:srgbClr val="92400E"/>
                </a:solidFill>
                <a:latin typeface="Arial" pitchFamily="34" charset="0"/>
                <a:ea typeface="Arial" pitchFamily="34" charset="-122"/>
                <a:cs typeface="Arial" pitchFamily="34" charset="-120"/>
              </a:rPr>
              <a:t>⚠  Human approves every flag before any payment is sent or any contractor is reclassified — this is technically enforced, not just policy.</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AI only where language understanding is required — everything else is plain software</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02  AI vs SOFTWARE</a:t>
            </a:r>
            <a:endParaRPr lang="en-US" sz="850" dirty="0"/>
          </a:p>
        </p:txBody>
      </p:sp>
      <p:sp>
        <p:nvSpPr>
          <p:cNvPr id="7" name="Shape 5"/>
          <p:cNvSpPr/>
          <p:nvPr/>
        </p:nvSpPr>
        <p:spPr>
          <a:xfrm>
            <a:off x="457200" y="1261872"/>
            <a:ext cx="8229600" cy="402336"/>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02336"/>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02336"/>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This boundary is what keeps the system auditable, maintainable, and cost-efficient.</a:t>
            </a:r>
            <a:endParaRPr lang="en-US" sz="1250" dirty="0"/>
          </a:p>
        </p:txBody>
      </p:sp>
      <p:sp>
        <p:nvSpPr>
          <p:cNvPr id="10" name="Text 8"/>
          <p:cNvSpPr/>
          <p:nvPr/>
        </p:nvSpPr>
        <p:spPr>
          <a:xfrm>
            <a:off x="457200" y="1773936"/>
            <a:ext cx="4023360" cy="310896"/>
          </a:xfrm>
          <a:prstGeom prst="rect">
            <a:avLst/>
          </a:prstGeom>
          <a:noFill/>
          <a:ln/>
        </p:spPr>
        <p:txBody>
          <a:bodyPr wrap="square" lIns="0" tIns="0" rIns="0" bIns="0" rtlCol="0" anchor="ctr"/>
          <a:lstStyle/>
          <a:p>
            <a:pPr marL="0" indent="0" algn="l">
              <a:buNone/>
            </a:pPr>
            <a:r>
              <a:rPr lang="en-US" sz="1200" b="1" dirty="0">
                <a:solidFill>
                  <a:srgbClr val="005AEE"/>
                </a:solidFill>
                <a:latin typeface="Arial" pitchFamily="34" charset="0"/>
                <a:ea typeface="Arial" pitchFamily="34" charset="-122"/>
                <a:cs typeface="Arial" pitchFamily="34" charset="-120"/>
              </a:rPr>
              <a:t>Needs LLM reasoning</a:t>
            </a:r>
            <a:endParaRPr lang="en-US" sz="1200" dirty="0"/>
          </a:p>
        </p:txBody>
      </p:sp>
      <p:sp>
        <p:nvSpPr>
          <p:cNvPr id="11" name="Text 9"/>
          <p:cNvSpPr/>
          <p:nvPr/>
        </p:nvSpPr>
        <p:spPr>
          <a:xfrm>
            <a:off x="4754880" y="1773936"/>
            <a:ext cx="4023360" cy="310896"/>
          </a:xfrm>
          <a:prstGeom prst="rect">
            <a:avLst/>
          </a:prstGeom>
          <a:noFill/>
          <a:ln/>
        </p:spPr>
        <p:txBody>
          <a:bodyPr wrap="square" lIns="0" tIns="0" rIns="0" bIns="0" rtlCol="0" anchor="ctr"/>
          <a:lstStyle/>
          <a:p>
            <a:pPr marL="0" indent="0" algn="l">
              <a:buNone/>
            </a:pPr>
            <a:r>
              <a:rPr lang="en-US" sz="1200" b="1" dirty="0">
                <a:solidFill>
                  <a:srgbClr val="4A4A4A"/>
                </a:solidFill>
                <a:latin typeface="Arial" pitchFamily="34" charset="0"/>
                <a:ea typeface="Arial" pitchFamily="34" charset="-122"/>
                <a:cs typeface="Arial" pitchFamily="34" charset="-120"/>
              </a:rPr>
              <a:t>Plain software sufficient</a:t>
            </a:r>
            <a:endParaRPr lang="en-US" sz="1200" dirty="0"/>
          </a:p>
        </p:txBody>
      </p:sp>
      <p:sp>
        <p:nvSpPr>
          <p:cNvPr id="12" name="Shape 10"/>
          <p:cNvSpPr/>
          <p:nvPr/>
        </p:nvSpPr>
        <p:spPr>
          <a:xfrm>
            <a:off x="457200" y="2157984"/>
            <a:ext cx="4023360" cy="457200"/>
          </a:xfrm>
          <a:prstGeom prst="rect">
            <a:avLst/>
          </a:prstGeom>
          <a:solidFill>
            <a:srgbClr val="E8F0FD"/>
          </a:solidFill>
          <a:ln w="12700">
            <a:solidFill>
              <a:srgbClr val="C5D9FA"/>
            </a:solidFill>
            <a:prstDash val="solid"/>
          </a:ln>
        </p:spPr>
        <p:txBody>
          <a:bodyPr/>
          <a:lstStyle/>
          <a:p>
            <a:endParaRPr lang="de-DE"/>
          </a:p>
        </p:txBody>
      </p:sp>
      <p:sp>
        <p:nvSpPr>
          <p:cNvPr id="13" name="Shape 11"/>
          <p:cNvSpPr/>
          <p:nvPr/>
        </p:nvSpPr>
        <p:spPr>
          <a:xfrm>
            <a:off x="457200" y="2157984"/>
            <a:ext cx="45720" cy="457200"/>
          </a:xfrm>
          <a:prstGeom prst="rect">
            <a:avLst/>
          </a:prstGeom>
          <a:solidFill>
            <a:srgbClr val="005AEE"/>
          </a:solidFill>
          <a:ln w="12700">
            <a:solidFill>
              <a:srgbClr val="005AEE"/>
            </a:solidFill>
            <a:prstDash val="solid"/>
          </a:ln>
        </p:spPr>
        <p:txBody>
          <a:bodyPr/>
          <a:lstStyle/>
          <a:p>
            <a:endParaRPr lang="de-DE"/>
          </a:p>
        </p:txBody>
      </p:sp>
      <p:sp>
        <p:nvSpPr>
          <p:cNvPr id="14" name="Text 12"/>
          <p:cNvSpPr/>
          <p:nvPr/>
        </p:nvSpPr>
        <p:spPr>
          <a:xfrm>
            <a:off x="594360" y="2157984"/>
            <a:ext cx="3794760" cy="457200"/>
          </a:xfrm>
          <a:prstGeom prst="rect">
            <a:avLst/>
          </a:prstGeom>
          <a:noFill/>
          <a:ln/>
        </p:spPr>
        <p:txBody>
          <a:bodyPr wrap="square" lIns="0" tIns="0" rIns="0" bIns="0" rtlCol="0" anchor="ctr"/>
          <a:lstStyle/>
          <a:p>
            <a:pPr marL="0" indent="0" algn="l">
              <a:buNone/>
            </a:pPr>
            <a:r>
              <a:rPr lang="en-US" sz="1050" dirty="0">
                <a:solidFill>
                  <a:srgbClr val="222222"/>
                </a:solidFill>
                <a:latin typeface="Arial" pitchFamily="34" charset="0"/>
                <a:ea typeface="Arial" pitchFamily="34" charset="-122"/>
                <a:cs typeface="Arial" pitchFamily="34" charset="-120"/>
              </a:rPr>
              <a:t>◆  Extracting data from unstructured multilingual contract templates</a:t>
            </a:r>
            <a:endParaRPr lang="en-US" sz="1050" dirty="0"/>
          </a:p>
        </p:txBody>
      </p:sp>
      <p:sp>
        <p:nvSpPr>
          <p:cNvPr id="15" name="Shape 13"/>
          <p:cNvSpPr/>
          <p:nvPr/>
        </p:nvSpPr>
        <p:spPr>
          <a:xfrm>
            <a:off x="457200" y="2670048"/>
            <a:ext cx="4023360" cy="457200"/>
          </a:xfrm>
          <a:prstGeom prst="rect">
            <a:avLst/>
          </a:prstGeom>
          <a:solidFill>
            <a:srgbClr val="E8F0FD"/>
          </a:solidFill>
          <a:ln w="12700">
            <a:solidFill>
              <a:srgbClr val="C5D9FA"/>
            </a:solidFill>
            <a:prstDash val="solid"/>
          </a:ln>
        </p:spPr>
        <p:txBody>
          <a:bodyPr/>
          <a:lstStyle/>
          <a:p>
            <a:endParaRPr lang="de-DE"/>
          </a:p>
        </p:txBody>
      </p:sp>
      <p:sp>
        <p:nvSpPr>
          <p:cNvPr id="16" name="Shape 14"/>
          <p:cNvSpPr/>
          <p:nvPr/>
        </p:nvSpPr>
        <p:spPr>
          <a:xfrm>
            <a:off x="457200" y="2670048"/>
            <a:ext cx="45720" cy="457200"/>
          </a:xfrm>
          <a:prstGeom prst="rect">
            <a:avLst/>
          </a:prstGeom>
          <a:solidFill>
            <a:srgbClr val="005AEE"/>
          </a:solidFill>
          <a:ln w="12700">
            <a:solidFill>
              <a:srgbClr val="005AEE"/>
            </a:solidFill>
            <a:prstDash val="solid"/>
          </a:ln>
        </p:spPr>
        <p:txBody>
          <a:bodyPr/>
          <a:lstStyle/>
          <a:p>
            <a:endParaRPr lang="de-DE"/>
          </a:p>
        </p:txBody>
      </p:sp>
      <p:sp>
        <p:nvSpPr>
          <p:cNvPr id="17" name="Text 15"/>
          <p:cNvSpPr/>
          <p:nvPr/>
        </p:nvSpPr>
        <p:spPr>
          <a:xfrm>
            <a:off x="594360" y="2670048"/>
            <a:ext cx="3794760" cy="457200"/>
          </a:xfrm>
          <a:prstGeom prst="rect">
            <a:avLst/>
          </a:prstGeom>
          <a:noFill/>
          <a:ln/>
        </p:spPr>
        <p:txBody>
          <a:bodyPr wrap="square" lIns="0" tIns="0" rIns="0" bIns="0" rtlCol="0" anchor="ctr"/>
          <a:lstStyle/>
          <a:p>
            <a:pPr marL="0" indent="0" algn="l">
              <a:buNone/>
            </a:pPr>
            <a:r>
              <a:rPr lang="en-US" sz="1050" dirty="0">
                <a:solidFill>
                  <a:srgbClr val="222222"/>
                </a:solidFill>
                <a:latin typeface="Arial" pitchFamily="34" charset="0"/>
                <a:ea typeface="Arial" pitchFamily="34" charset="-122"/>
                <a:cs typeface="Arial" pitchFamily="34" charset="-120"/>
              </a:rPr>
              <a:t>◆  Semantic overlap: contractor scope vs internal job role descriptions</a:t>
            </a:r>
            <a:endParaRPr lang="en-US" sz="1050" dirty="0"/>
          </a:p>
        </p:txBody>
      </p:sp>
      <p:sp>
        <p:nvSpPr>
          <p:cNvPr id="18" name="Shape 16"/>
          <p:cNvSpPr/>
          <p:nvPr/>
        </p:nvSpPr>
        <p:spPr>
          <a:xfrm>
            <a:off x="457200" y="3182112"/>
            <a:ext cx="4023360" cy="457200"/>
          </a:xfrm>
          <a:prstGeom prst="rect">
            <a:avLst/>
          </a:prstGeom>
          <a:solidFill>
            <a:srgbClr val="E8F0FD"/>
          </a:solidFill>
          <a:ln w="12700">
            <a:solidFill>
              <a:srgbClr val="C5D9FA"/>
            </a:solidFill>
            <a:prstDash val="solid"/>
          </a:ln>
        </p:spPr>
        <p:txBody>
          <a:bodyPr/>
          <a:lstStyle/>
          <a:p>
            <a:endParaRPr lang="de-DE"/>
          </a:p>
        </p:txBody>
      </p:sp>
      <p:sp>
        <p:nvSpPr>
          <p:cNvPr id="19" name="Shape 17"/>
          <p:cNvSpPr/>
          <p:nvPr/>
        </p:nvSpPr>
        <p:spPr>
          <a:xfrm>
            <a:off x="457200" y="3182112"/>
            <a:ext cx="45720" cy="457200"/>
          </a:xfrm>
          <a:prstGeom prst="rect">
            <a:avLst/>
          </a:prstGeom>
          <a:solidFill>
            <a:srgbClr val="005AEE"/>
          </a:solidFill>
          <a:ln w="12700">
            <a:solidFill>
              <a:srgbClr val="005AEE"/>
            </a:solidFill>
            <a:prstDash val="solid"/>
          </a:ln>
        </p:spPr>
        <p:txBody>
          <a:bodyPr/>
          <a:lstStyle/>
          <a:p>
            <a:endParaRPr lang="de-DE"/>
          </a:p>
        </p:txBody>
      </p:sp>
      <p:sp>
        <p:nvSpPr>
          <p:cNvPr id="20" name="Text 18"/>
          <p:cNvSpPr/>
          <p:nvPr/>
        </p:nvSpPr>
        <p:spPr>
          <a:xfrm>
            <a:off x="594360" y="3182112"/>
            <a:ext cx="3794760" cy="457200"/>
          </a:xfrm>
          <a:prstGeom prst="rect">
            <a:avLst/>
          </a:prstGeom>
          <a:noFill/>
          <a:ln/>
        </p:spPr>
        <p:txBody>
          <a:bodyPr wrap="square" lIns="0" tIns="0" rIns="0" bIns="0" rtlCol="0" anchor="ctr"/>
          <a:lstStyle/>
          <a:p>
            <a:pPr marL="0" indent="0" algn="l">
              <a:buNone/>
            </a:pPr>
            <a:r>
              <a:rPr lang="en-US" sz="1050" dirty="0">
                <a:solidFill>
                  <a:srgbClr val="222222"/>
                </a:solidFill>
                <a:latin typeface="Arial" pitchFamily="34" charset="0"/>
                <a:ea typeface="Arial" pitchFamily="34" charset="-122"/>
                <a:cs typeface="Arial" pitchFamily="34" charset="-120"/>
              </a:rPr>
              <a:t>◆  Misclassification risk from natural language working arrangements</a:t>
            </a:r>
            <a:endParaRPr lang="en-US" sz="1050" dirty="0"/>
          </a:p>
        </p:txBody>
      </p:sp>
      <p:sp>
        <p:nvSpPr>
          <p:cNvPr id="21" name="Shape 19"/>
          <p:cNvSpPr/>
          <p:nvPr/>
        </p:nvSpPr>
        <p:spPr>
          <a:xfrm>
            <a:off x="457200" y="3694176"/>
            <a:ext cx="4023360" cy="457200"/>
          </a:xfrm>
          <a:prstGeom prst="rect">
            <a:avLst/>
          </a:prstGeom>
          <a:solidFill>
            <a:srgbClr val="E8F0FD"/>
          </a:solidFill>
          <a:ln w="12700">
            <a:solidFill>
              <a:srgbClr val="C5D9FA"/>
            </a:solidFill>
            <a:prstDash val="solid"/>
          </a:ln>
        </p:spPr>
        <p:txBody>
          <a:bodyPr/>
          <a:lstStyle/>
          <a:p>
            <a:endParaRPr lang="de-DE"/>
          </a:p>
        </p:txBody>
      </p:sp>
      <p:sp>
        <p:nvSpPr>
          <p:cNvPr id="22" name="Shape 20"/>
          <p:cNvSpPr/>
          <p:nvPr/>
        </p:nvSpPr>
        <p:spPr>
          <a:xfrm>
            <a:off x="457200" y="3694176"/>
            <a:ext cx="45720" cy="457200"/>
          </a:xfrm>
          <a:prstGeom prst="rect">
            <a:avLst/>
          </a:prstGeom>
          <a:solidFill>
            <a:srgbClr val="005AEE"/>
          </a:solidFill>
          <a:ln w="12700">
            <a:solidFill>
              <a:srgbClr val="005AEE"/>
            </a:solidFill>
            <a:prstDash val="solid"/>
          </a:ln>
        </p:spPr>
        <p:txBody>
          <a:bodyPr/>
          <a:lstStyle/>
          <a:p>
            <a:endParaRPr lang="de-DE"/>
          </a:p>
        </p:txBody>
      </p:sp>
      <p:sp>
        <p:nvSpPr>
          <p:cNvPr id="23" name="Text 21"/>
          <p:cNvSpPr/>
          <p:nvPr/>
        </p:nvSpPr>
        <p:spPr>
          <a:xfrm>
            <a:off x="594360" y="3694176"/>
            <a:ext cx="3794760" cy="457200"/>
          </a:xfrm>
          <a:prstGeom prst="rect">
            <a:avLst/>
          </a:prstGeom>
          <a:noFill/>
          <a:ln/>
        </p:spPr>
        <p:txBody>
          <a:bodyPr wrap="square" lIns="0" tIns="0" rIns="0" bIns="0" rtlCol="0" anchor="ctr"/>
          <a:lstStyle/>
          <a:p>
            <a:pPr marL="0" indent="0" algn="l">
              <a:buNone/>
            </a:pPr>
            <a:r>
              <a:rPr lang="en-US" sz="1050" dirty="0">
                <a:solidFill>
                  <a:srgbClr val="222222"/>
                </a:solidFill>
                <a:latin typeface="Arial" pitchFamily="34" charset="0"/>
                <a:ea typeface="Arial" pitchFamily="34" charset="-122"/>
                <a:cs typeface="Arial" pitchFamily="34" charset="-120"/>
              </a:rPr>
              <a:t>◆  Missing clause detection using jurisdiction-specific legal knowledge</a:t>
            </a:r>
            <a:endParaRPr lang="en-US" sz="1050" dirty="0"/>
          </a:p>
        </p:txBody>
      </p:sp>
      <p:sp>
        <p:nvSpPr>
          <p:cNvPr id="24" name="Shape 22"/>
          <p:cNvSpPr/>
          <p:nvPr/>
        </p:nvSpPr>
        <p:spPr>
          <a:xfrm>
            <a:off x="457200" y="4206240"/>
            <a:ext cx="4023360" cy="457200"/>
          </a:xfrm>
          <a:prstGeom prst="rect">
            <a:avLst/>
          </a:prstGeom>
          <a:solidFill>
            <a:srgbClr val="E8F0FD"/>
          </a:solidFill>
          <a:ln w="12700">
            <a:solidFill>
              <a:srgbClr val="C5D9FA"/>
            </a:solidFill>
            <a:prstDash val="solid"/>
          </a:ln>
        </p:spPr>
        <p:txBody>
          <a:bodyPr/>
          <a:lstStyle/>
          <a:p>
            <a:endParaRPr lang="de-DE"/>
          </a:p>
        </p:txBody>
      </p:sp>
      <p:sp>
        <p:nvSpPr>
          <p:cNvPr id="25" name="Shape 23"/>
          <p:cNvSpPr/>
          <p:nvPr/>
        </p:nvSpPr>
        <p:spPr>
          <a:xfrm>
            <a:off x="457200" y="4206240"/>
            <a:ext cx="45720" cy="457200"/>
          </a:xfrm>
          <a:prstGeom prst="rect">
            <a:avLst/>
          </a:prstGeom>
          <a:solidFill>
            <a:srgbClr val="005AEE"/>
          </a:solidFill>
          <a:ln w="12700">
            <a:solidFill>
              <a:srgbClr val="005AEE"/>
            </a:solidFill>
            <a:prstDash val="solid"/>
          </a:ln>
        </p:spPr>
        <p:txBody>
          <a:bodyPr/>
          <a:lstStyle/>
          <a:p>
            <a:endParaRPr lang="de-DE"/>
          </a:p>
        </p:txBody>
      </p:sp>
      <p:sp>
        <p:nvSpPr>
          <p:cNvPr id="26" name="Text 24"/>
          <p:cNvSpPr/>
          <p:nvPr/>
        </p:nvSpPr>
        <p:spPr>
          <a:xfrm>
            <a:off x="594360" y="4206240"/>
            <a:ext cx="3794760" cy="457200"/>
          </a:xfrm>
          <a:prstGeom prst="rect">
            <a:avLst/>
          </a:prstGeom>
          <a:noFill/>
          <a:ln/>
        </p:spPr>
        <p:txBody>
          <a:bodyPr wrap="square" lIns="0" tIns="0" rIns="0" bIns="0" rtlCol="0" anchor="ctr"/>
          <a:lstStyle/>
          <a:p>
            <a:pPr marL="0" indent="0" algn="l">
              <a:buNone/>
            </a:pPr>
            <a:r>
              <a:rPr lang="en-US" sz="1050" dirty="0">
                <a:solidFill>
                  <a:srgbClr val="222222"/>
                </a:solidFill>
                <a:latin typeface="Arial" pitchFamily="34" charset="0"/>
                <a:ea typeface="Arial" pitchFamily="34" charset="-122"/>
                <a:cs typeface="Arial" pitchFamily="34" charset="-120"/>
              </a:rPr>
              <a:t>◆  Invoice anomaly detection across inconsistent multilingual formats</a:t>
            </a:r>
            <a:endParaRPr lang="en-US" sz="1050" dirty="0"/>
          </a:p>
        </p:txBody>
      </p:sp>
      <p:sp>
        <p:nvSpPr>
          <p:cNvPr id="27" name="Shape 25"/>
          <p:cNvSpPr/>
          <p:nvPr/>
        </p:nvSpPr>
        <p:spPr>
          <a:xfrm>
            <a:off x="4754880" y="2157984"/>
            <a:ext cx="4023360" cy="457200"/>
          </a:xfrm>
          <a:prstGeom prst="rect">
            <a:avLst/>
          </a:prstGeom>
          <a:solidFill>
            <a:srgbClr val="FFFFFF"/>
          </a:solidFill>
          <a:ln w="12700">
            <a:solidFill>
              <a:srgbClr val="E2E8F0"/>
            </a:solidFill>
            <a:prstDash val="solid"/>
          </a:ln>
        </p:spPr>
        <p:txBody>
          <a:bodyPr/>
          <a:lstStyle/>
          <a:p>
            <a:endParaRPr lang="de-DE"/>
          </a:p>
        </p:txBody>
      </p:sp>
      <p:sp>
        <p:nvSpPr>
          <p:cNvPr id="28" name="Text 26"/>
          <p:cNvSpPr/>
          <p:nvPr/>
        </p:nvSpPr>
        <p:spPr>
          <a:xfrm>
            <a:off x="4892040" y="2157984"/>
            <a:ext cx="3794760" cy="457200"/>
          </a:xfrm>
          <a:prstGeom prst="rect">
            <a:avLst/>
          </a:prstGeom>
          <a:noFill/>
          <a:ln/>
        </p:spPr>
        <p:txBody>
          <a:bodyPr wrap="square" lIns="0" tIns="0" rIns="0" bIns="0" rtlCol="0" anchor="ctr"/>
          <a:lstStyle/>
          <a:p>
            <a:pPr marL="0" indent="0" algn="l">
              <a:buNone/>
            </a:pPr>
            <a:r>
              <a:rPr lang="en-US" sz="1050" dirty="0">
                <a:solidFill>
                  <a:srgbClr val="9E9E9E"/>
                </a:solidFill>
                <a:latin typeface="Arial" pitchFamily="34" charset="0"/>
                <a:ea typeface="Arial" pitchFamily="34" charset="-122"/>
                <a:cs typeface="Arial" pitchFamily="34" charset="-120"/>
              </a:rPr>
              <a:t>○  Structured database storage of extracted fields</a:t>
            </a:r>
            <a:endParaRPr lang="en-US" sz="1050" dirty="0"/>
          </a:p>
        </p:txBody>
      </p:sp>
      <p:sp>
        <p:nvSpPr>
          <p:cNvPr id="29" name="Shape 27"/>
          <p:cNvSpPr/>
          <p:nvPr/>
        </p:nvSpPr>
        <p:spPr>
          <a:xfrm>
            <a:off x="4754880" y="2670048"/>
            <a:ext cx="4023360" cy="457200"/>
          </a:xfrm>
          <a:prstGeom prst="rect">
            <a:avLst/>
          </a:prstGeom>
          <a:solidFill>
            <a:srgbClr val="F5F6F8"/>
          </a:solidFill>
          <a:ln w="12700">
            <a:solidFill>
              <a:srgbClr val="E2E8F0"/>
            </a:solidFill>
            <a:prstDash val="solid"/>
          </a:ln>
        </p:spPr>
        <p:txBody>
          <a:bodyPr/>
          <a:lstStyle/>
          <a:p>
            <a:endParaRPr lang="de-DE"/>
          </a:p>
        </p:txBody>
      </p:sp>
      <p:sp>
        <p:nvSpPr>
          <p:cNvPr id="30" name="Text 28"/>
          <p:cNvSpPr/>
          <p:nvPr/>
        </p:nvSpPr>
        <p:spPr>
          <a:xfrm>
            <a:off x="4892040" y="2670048"/>
            <a:ext cx="3794760" cy="457200"/>
          </a:xfrm>
          <a:prstGeom prst="rect">
            <a:avLst/>
          </a:prstGeom>
          <a:noFill/>
          <a:ln/>
        </p:spPr>
        <p:txBody>
          <a:bodyPr wrap="square" lIns="0" tIns="0" rIns="0" bIns="0" rtlCol="0" anchor="ctr"/>
          <a:lstStyle/>
          <a:p>
            <a:pPr marL="0" indent="0" algn="l">
              <a:buNone/>
            </a:pPr>
            <a:r>
              <a:rPr lang="en-US" sz="1050" dirty="0">
                <a:solidFill>
                  <a:srgbClr val="9E9E9E"/>
                </a:solidFill>
                <a:latin typeface="Arial" pitchFamily="34" charset="0"/>
                <a:ea typeface="Arial" pitchFamily="34" charset="-122"/>
                <a:cs typeface="Arial" pitchFamily="34" charset="-120"/>
              </a:rPr>
              <a:t>○  Cost dashboard charts and aggregation</a:t>
            </a:r>
            <a:endParaRPr lang="en-US" sz="1050" dirty="0"/>
          </a:p>
        </p:txBody>
      </p:sp>
      <p:sp>
        <p:nvSpPr>
          <p:cNvPr id="31" name="Shape 29"/>
          <p:cNvSpPr/>
          <p:nvPr/>
        </p:nvSpPr>
        <p:spPr>
          <a:xfrm>
            <a:off x="4754880" y="3182112"/>
            <a:ext cx="4023360" cy="457200"/>
          </a:xfrm>
          <a:prstGeom prst="rect">
            <a:avLst/>
          </a:prstGeom>
          <a:solidFill>
            <a:srgbClr val="FFFFFF"/>
          </a:solidFill>
          <a:ln w="12700">
            <a:solidFill>
              <a:srgbClr val="E2E8F0"/>
            </a:solidFill>
            <a:prstDash val="solid"/>
          </a:ln>
        </p:spPr>
        <p:txBody>
          <a:bodyPr/>
          <a:lstStyle/>
          <a:p>
            <a:endParaRPr lang="de-DE"/>
          </a:p>
        </p:txBody>
      </p:sp>
      <p:sp>
        <p:nvSpPr>
          <p:cNvPr id="32" name="Text 30"/>
          <p:cNvSpPr/>
          <p:nvPr/>
        </p:nvSpPr>
        <p:spPr>
          <a:xfrm>
            <a:off x="4892040" y="3182112"/>
            <a:ext cx="3794760" cy="457200"/>
          </a:xfrm>
          <a:prstGeom prst="rect">
            <a:avLst/>
          </a:prstGeom>
          <a:noFill/>
          <a:ln/>
        </p:spPr>
        <p:txBody>
          <a:bodyPr wrap="square" lIns="0" tIns="0" rIns="0" bIns="0" rtlCol="0" anchor="ctr"/>
          <a:lstStyle/>
          <a:p>
            <a:pPr marL="0" indent="0" algn="l">
              <a:buNone/>
            </a:pPr>
            <a:r>
              <a:rPr lang="en-US" sz="1050" dirty="0">
                <a:solidFill>
                  <a:srgbClr val="9E9E9E"/>
                </a:solidFill>
                <a:latin typeface="Arial" pitchFamily="34" charset="0"/>
                <a:ea typeface="Arial" pitchFamily="34" charset="-122"/>
                <a:cs typeface="Arial" pitchFamily="34" charset="-120"/>
              </a:rPr>
              <a:t>○  Payment routing via Wise API or local intermediary</a:t>
            </a:r>
            <a:endParaRPr lang="en-US" sz="1050" dirty="0"/>
          </a:p>
        </p:txBody>
      </p:sp>
      <p:sp>
        <p:nvSpPr>
          <p:cNvPr id="33" name="Shape 31"/>
          <p:cNvSpPr/>
          <p:nvPr/>
        </p:nvSpPr>
        <p:spPr>
          <a:xfrm>
            <a:off x="4754880" y="3694176"/>
            <a:ext cx="4023360" cy="457200"/>
          </a:xfrm>
          <a:prstGeom prst="rect">
            <a:avLst/>
          </a:prstGeom>
          <a:solidFill>
            <a:srgbClr val="F5F6F8"/>
          </a:solidFill>
          <a:ln w="12700">
            <a:solidFill>
              <a:srgbClr val="E2E8F0"/>
            </a:solidFill>
            <a:prstDash val="solid"/>
          </a:ln>
        </p:spPr>
        <p:txBody>
          <a:bodyPr/>
          <a:lstStyle/>
          <a:p>
            <a:endParaRPr lang="de-DE"/>
          </a:p>
        </p:txBody>
      </p:sp>
      <p:sp>
        <p:nvSpPr>
          <p:cNvPr id="34" name="Text 32"/>
          <p:cNvSpPr/>
          <p:nvPr/>
        </p:nvSpPr>
        <p:spPr>
          <a:xfrm>
            <a:off x="4892040" y="3694176"/>
            <a:ext cx="3794760" cy="457200"/>
          </a:xfrm>
          <a:prstGeom prst="rect">
            <a:avLst/>
          </a:prstGeom>
          <a:noFill/>
          <a:ln/>
        </p:spPr>
        <p:txBody>
          <a:bodyPr wrap="square" lIns="0" tIns="0" rIns="0" bIns="0" rtlCol="0" anchor="ctr"/>
          <a:lstStyle/>
          <a:p>
            <a:pPr marL="0" indent="0" algn="l">
              <a:buNone/>
            </a:pPr>
            <a:r>
              <a:rPr lang="en-US" sz="1050" dirty="0">
                <a:solidFill>
                  <a:srgbClr val="9E9E9E"/>
                </a:solidFill>
                <a:latin typeface="Arial" pitchFamily="34" charset="0"/>
                <a:ea typeface="Arial" pitchFamily="34" charset="-122"/>
                <a:cs typeface="Arial" pitchFamily="34" charset="-120"/>
              </a:rPr>
              <a:t>○  Access control and role-based permissions</a:t>
            </a:r>
            <a:endParaRPr lang="en-US" sz="1050" dirty="0"/>
          </a:p>
        </p:txBody>
      </p:sp>
      <p:sp>
        <p:nvSpPr>
          <p:cNvPr id="35" name="Shape 33"/>
          <p:cNvSpPr/>
          <p:nvPr/>
        </p:nvSpPr>
        <p:spPr>
          <a:xfrm>
            <a:off x="4754880" y="4206240"/>
            <a:ext cx="4023360" cy="457200"/>
          </a:xfrm>
          <a:prstGeom prst="rect">
            <a:avLst/>
          </a:prstGeom>
          <a:solidFill>
            <a:srgbClr val="FFFFFF"/>
          </a:solidFill>
          <a:ln w="12700">
            <a:solidFill>
              <a:srgbClr val="E2E8F0"/>
            </a:solidFill>
            <a:prstDash val="solid"/>
          </a:ln>
        </p:spPr>
        <p:txBody>
          <a:bodyPr/>
          <a:lstStyle/>
          <a:p>
            <a:endParaRPr lang="de-DE"/>
          </a:p>
        </p:txBody>
      </p:sp>
      <p:sp>
        <p:nvSpPr>
          <p:cNvPr id="36" name="Text 34"/>
          <p:cNvSpPr/>
          <p:nvPr/>
        </p:nvSpPr>
        <p:spPr>
          <a:xfrm>
            <a:off x="4892040" y="4206240"/>
            <a:ext cx="3794760" cy="457200"/>
          </a:xfrm>
          <a:prstGeom prst="rect">
            <a:avLst/>
          </a:prstGeom>
          <a:noFill/>
          <a:ln/>
        </p:spPr>
        <p:txBody>
          <a:bodyPr wrap="square" lIns="0" tIns="0" rIns="0" bIns="0" rtlCol="0" anchor="ctr"/>
          <a:lstStyle/>
          <a:p>
            <a:pPr marL="0" indent="0" algn="l">
              <a:buNone/>
            </a:pPr>
            <a:r>
              <a:rPr lang="en-US" sz="1050" dirty="0">
                <a:solidFill>
                  <a:srgbClr val="9E9E9E"/>
                </a:solidFill>
                <a:latin typeface="Arial" pitchFamily="34" charset="0"/>
                <a:ea typeface="Arial" pitchFamily="34" charset="-122"/>
                <a:cs typeface="Arial" pitchFamily="34" charset="-120"/>
              </a:rPr>
              <a:t>○  Audit trail logging and notification alerts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Technical infrastructure — EU-hosted, privacy-first</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02  ARCHITECTURE</a:t>
            </a:r>
            <a:endParaRPr lang="en-US" sz="850" dirty="0"/>
          </a:p>
        </p:txBody>
      </p:sp>
      <p:sp>
        <p:nvSpPr>
          <p:cNvPr id="7" name="Shape 5"/>
          <p:cNvSpPr/>
          <p:nvPr/>
        </p:nvSpPr>
        <p:spPr>
          <a:xfrm>
            <a:off x="457200" y="1261872"/>
            <a:ext cx="8229600" cy="402336"/>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02336"/>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02336"/>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n8n · LangChain · LangGraph · LangSmith — all personal data stays in EU infrastructure.</a:t>
            </a:r>
            <a:endParaRPr lang="en-US" sz="1250" dirty="0"/>
          </a:p>
        </p:txBody>
      </p:sp>
      <p:sp>
        <p:nvSpPr>
          <p:cNvPr id="10" name="Shape 8"/>
          <p:cNvSpPr/>
          <p:nvPr/>
        </p:nvSpPr>
        <p:spPr>
          <a:xfrm>
            <a:off x="457200" y="1828800"/>
            <a:ext cx="4754880" cy="47548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457200" y="1828800"/>
            <a:ext cx="45720" cy="475488"/>
          </a:xfrm>
          <a:prstGeom prst="rect">
            <a:avLst/>
          </a:prstGeom>
          <a:solidFill>
            <a:srgbClr val="005AEE"/>
          </a:solidFill>
          <a:ln w="12700">
            <a:solidFill>
              <a:srgbClr val="005AEE"/>
            </a:solidFill>
            <a:prstDash val="solid"/>
          </a:ln>
        </p:spPr>
        <p:txBody>
          <a:bodyPr/>
          <a:lstStyle/>
          <a:p>
            <a:endParaRPr lang="de-DE"/>
          </a:p>
        </p:txBody>
      </p:sp>
      <p:sp>
        <p:nvSpPr>
          <p:cNvPr id="12" name="Shape 10"/>
          <p:cNvSpPr/>
          <p:nvPr/>
        </p:nvSpPr>
        <p:spPr>
          <a:xfrm>
            <a:off x="457200" y="1828800"/>
            <a:ext cx="868680" cy="475488"/>
          </a:xfrm>
          <a:prstGeom prst="rect">
            <a:avLst/>
          </a:prstGeom>
          <a:solidFill>
            <a:srgbClr val="E8F0FD"/>
          </a:solidFill>
          <a:ln w="12700">
            <a:solidFill>
              <a:srgbClr val="E2E8F0"/>
            </a:solidFill>
            <a:prstDash val="solid"/>
          </a:ln>
        </p:spPr>
        <p:txBody>
          <a:bodyPr/>
          <a:lstStyle/>
          <a:p>
            <a:endParaRPr lang="de-DE"/>
          </a:p>
        </p:txBody>
      </p:sp>
      <p:sp>
        <p:nvSpPr>
          <p:cNvPr id="13" name="Text 11"/>
          <p:cNvSpPr/>
          <p:nvPr/>
        </p:nvSpPr>
        <p:spPr>
          <a:xfrm>
            <a:off x="475488" y="1828800"/>
            <a:ext cx="832104" cy="475488"/>
          </a:xfrm>
          <a:prstGeom prst="rect">
            <a:avLst/>
          </a:prstGeom>
          <a:noFill/>
          <a:ln/>
        </p:spPr>
        <p:txBody>
          <a:bodyPr wrap="square" lIns="0" tIns="0" rIns="0" bIns="0" rtlCol="0" anchor="ctr"/>
          <a:lstStyle/>
          <a:p>
            <a:pPr marL="0" indent="0" algn="ctr">
              <a:buNone/>
            </a:pPr>
            <a:r>
              <a:rPr lang="en-US" sz="950" b="1" dirty="0">
                <a:solidFill>
                  <a:srgbClr val="005AEE"/>
                </a:solidFill>
                <a:latin typeface="Arial" pitchFamily="34" charset="0"/>
                <a:ea typeface="Arial" pitchFamily="34" charset="-122"/>
                <a:cs typeface="Arial" pitchFamily="34" charset="-120"/>
              </a:rPr>
              <a:t>n8n</a:t>
            </a:r>
            <a:endParaRPr lang="en-US" sz="950" dirty="0"/>
          </a:p>
        </p:txBody>
      </p:sp>
      <p:sp>
        <p:nvSpPr>
          <p:cNvPr id="14" name="Text 12"/>
          <p:cNvSpPr/>
          <p:nvPr/>
        </p:nvSpPr>
        <p:spPr>
          <a:xfrm>
            <a:off x="1371600" y="1865376"/>
            <a:ext cx="3749040" cy="402336"/>
          </a:xfrm>
          <a:prstGeom prst="rect">
            <a:avLst/>
          </a:prstGeom>
          <a:noFill/>
          <a:ln/>
        </p:spPr>
        <p:txBody>
          <a:bodyPr wrap="square" lIns="0" tIns="0" rIns="0" bIns="0" rtlCol="0" anchor="ctr"/>
          <a:lstStyle/>
          <a:p>
            <a:pPr marL="0" indent="0" algn="l">
              <a:buNone/>
            </a:pPr>
            <a:r>
              <a:rPr lang="en-US" sz="900" b="1" dirty="0">
                <a:solidFill>
                  <a:srgbClr val="111111"/>
                </a:solidFill>
                <a:latin typeface="Arial" pitchFamily="34" charset="0"/>
                <a:ea typeface="Arial" pitchFamily="34" charset="-122"/>
                <a:cs typeface="Arial" pitchFamily="34" charset="-120"/>
              </a:rPr>
              <a:t>Workflow &amp; Integration  </a:t>
            </a:r>
            <a:r>
              <a:rPr lang="en-US" sz="900" dirty="0">
                <a:solidFill>
                  <a:srgbClr val="4A4A4A"/>
                </a:solidFill>
                <a:latin typeface="Arial" pitchFamily="34" charset="0"/>
                <a:ea typeface="Arial" pitchFamily="34" charset="-122"/>
                <a:cs typeface="Arial" pitchFamily="34" charset="-120"/>
              </a:rPr>
              <a:t>Connects all data sources: contracts, invoices, payroll, HR records, payment confirmations</a:t>
            </a:r>
            <a:endParaRPr lang="en-US" sz="900" dirty="0"/>
          </a:p>
        </p:txBody>
      </p:sp>
      <p:sp>
        <p:nvSpPr>
          <p:cNvPr id="15" name="Shape 13"/>
          <p:cNvSpPr/>
          <p:nvPr/>
        </p:nvSpPr>
        <p:spPr>
          <a:xfrm>
            <a:off x="457200" y="2377440"/>
            <a:ext cx="4754880" cy="47548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6" name="Shape 14"/>
          <p:cNvSpPr/>
          <p:nvPr/>
        </p:nvSpPr>
        <p:spPr>
          <a:xfrm>
            <a:off x="457200" y="2377440"/>
            <a:ext cx="45720" cy="475488"/>
          </a:xfrm>
          <a:prstGeom prst="rect">
            <a:avLst/>
          </a:prstGeom>
          <a:solidFill>
            <a:srgbClr val="7C3AED"/>
          </a:solidFill>
          <a:ln w="12700">
            <a:solidFill>
              <a:srgbClr val="7C3AED"/>
            </a:solidFill>
            <a:prstDash val="solid"/>
          </a:ln>
        </p:spPr>
        <p:txBody>
          <a:bodyPr/>
          <a:lstStyle/>
          <a:p>
            <a:endParaRPr lang="de-DE"/>
          </a:p>
        </p:txBody>
      </p:sp>
      <p:sp>
        <p:nvSpPr>
          <p:cNvPr id="17" name="Shape 15"/>
          <p:cNvSpPr/>
          <p:nvPr/>
        </p:nvSpPr>
        <p:spPr>
          <a:xfrm>
            <a:off x="457200" y="2377440"/>
            <a:ext cx="868680" cy="475488"/>
          </a:xfrm>
          <a:prstGeom prst="rect">
            <a:avLst/>
          </a:prstGeom>
          <a:solidFill>
            <a:srgbClr val="E8F0FD"/>
          </a:solidFill>
          <a:ln w="12700">
            <a:solidFill>
              <a:srgbClr val="E2E8F0"/>
            </a:solidFill>
            <a:prstDash val="solid"/>
          </a:ln>
        </p:spPr>
        <p:txBody>
          <a:bodyPr/>
          <a:lstStyle/>
          <a:p>
            <a:endParaRPr lang="de-DE"/>
          </a:p>
        </p:txBody>
      </p:sp>
      <p:sp>
        <p:nvSpPr>
          <p:cNvPr id="18" name="Text 16"/>
          <p:cNvSpPr/>
          <p:nvPr/>
        </p:nvSpPr>
        <p:spPr>
          <a:xfrm>
            <a:off x="475488" y="2377440"/>
            <a:ext cx="832104" cy="475488"/>
          </a:xfrm>
          <a:prstGeom prst="rect">
            <a:avLst/>
          </a:prstGeom>
          <a:noFill/>
          <a:ln/>
        </p:spPr>
        <p:txBody>
          <a:bodyPr wrap="square" lIns="0" tIns="0" rIns="0" bIns="0" rtlCol="0" anchor="ctr"/>
          <a:lstStyle/>
          <a:p>
            <a:pPr marL="0" indent="0" algn="ctr">
              <a:buNone/>
            </a:pPr>
            <a:r>
              <a:rPr lang="en-US" sz="950" b="1" dirty="0">
                <a:solidFill>
                  <a:srgbClr val="7C3AED"/>
                </a:solidFill>
                <a:latin typeface="Arial" pitchFamily="34" charset="0"/>
                <a:ea typeface="Arial" pitchFamily="34" charset="-122"/>
                <a:cs typeface="Arial" pitchFamily="34" charset="-120"/>
              </a:rPr>
              <a:t>LangChain</a:t>
            </a:r>
            <a:endParaRPr lang="en-US" sz="950" dirty="0"/>
          </a:p>
        </p:txBody>
      </p:sp>
      <p:sp>
        <p:nvSpPr>
          <p:cNvPr id="19" name="Text 17"/>
          <p:cNvSpPr/>
          <p:nvPr/>
        </p:nvSpPr>
        <p:spPr>
          <a:xfrm>
            <a:off x="1371600" y="2414016"/>
            <a:ext cx="3749040" cy="402336"/>
          </a:xfrm>
          <a:prstGeom prst="rect">
            <a:avLst/>
          </a:prstGeom>
          <a:noFill/>
          <a:ln/>
        </p:spPr>
        <p:txBody>
          <a:bodyPr wrap="square" lIns="0" tIns="0" rIns="0" bIns="0" rtlCol="0" anchor="ctr"/>
          <a:lstStyle/>
          <a:p>
            <a:pPr marL="0" indent="0" algn="l">
              <a:buNone/>
            </a:pPr>
            <a:r>
              <a:rPr lang="en-US" sz="900" b="1" dirty="0">
                <a:solidFill>
                  <a:srgbClr val="111111"/>
                </a:solidFill>
                <a:latin typeface="Arial" pitchFamily="34" charset="0"/>
                <a:ea typeface="Arial" pitchFamily="34" charset="-122"/>
                <a:cs typeface="Arial" pitchFamily="34" charset="-120"/>
              </a:rPr>
              <a:t>Document Processing  </a:t>
            </a:r>
            <a:r>
              <a:rPr lang="en-US" sz="900" dirty="0">
                <a:solidFill>
                  <a:srgbClr val="4A4A4A"/>
                </a:solidFill>
                <a:latin typeface="Arial" pitchFamily="34" charset="0"/>
                <a:ea typeface="Arial" pitchFamily="34" charset="-122"/>
                <a:cs typeface="Arial" pitchFamily="34" charset="-120"/>
              </a:rPr>
              <a:t>Document loading, text extraction, chunking, retrieval, structured extraction</a:t>
            </a:r>
            <a:endParaRPr lang="en-US" sz="900" dirty="0"/>
          </a:p>
        </p:txBody>
      </p:sp>
      <p:sp>
        <p:nvSpPr>
          <p:cNvPr id="20" name="Shape 18"/>
          <p:cNvSpPr/>
          <p:nvPr/>
        </p:nvSpPr>
        <p:spPr>
          <a:xfrm>
            <a:off x="457200" y="2926080"/>
            <a:ext cx="4754880" cy="47548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1" name="Shape 19"/>
          <p:cNvSpPr/>
          <p:nvPr/>
        </p:nvSpPr>
        <p:spPr>
          <a:xfrm>
            <a:off x="457200" y="2926080"/>
            <a:ext cx="45720" cy="475488"/>
          </a:xfrm>
          <a:prstGeom prst="rect">
            <a:avLst/>
          </a:prstGeom>
          <a:solidFill>
            <a:srgbClr val="0891B2"/>
          </a:solidFill>
          <a:ln w="12700">
            <a:solidFill>
              <a:srgbClr val="0891B2"/>
            </a:solidFill>
            <a:prstDash val="solid"/>
          </a:ln>
        </p:spPr>
        <p:txBody>
          <a:bodyPr/>
          <a:lstStyle/>
          <a:p>
            <a:endParaRPr lang="de-DE"/>
          </a:p>
        </p:txBody>
      </p:sp>
      <p:sp>
        <p:nvSpPr>
          <p:cNvPr id="22" name="Shape 20"/>
          <p:cNvSpPr/>
          <p:nvPr/>
        </p:nvSpPr>
        <p:spPr>
          <a:xfrm>
            <a:off x="457200" y="2926080"/>
            <a:ext cx="868680" cy="475488"/>
          </a:xfrm>
          <a:prstGeom prst="rect">
            <a:avLst/>
          </a:prstGeom>
          <a:solidFill>
            <a:srgbClr val="E8F0FD"/>
          </a:solidFill>
          <a:ln w="12700">
            <a:solidFill>
              <a:srgbClr val="E2E8F0"/>
            </a:solidFill>
            <a:prstDash val="solid"/>
          </a:ln>
        </p:spPr>
        <p:txBody>
          <a:bodyPr/>
          <a:lstStyle/>
          <a:p>
            <a:endParaRPr lang="de-DE"/>
          </a:p>
        </p:txBody>
      </p:sp>
      <p:sp>
        <p:nvSpPr>
          <p:cNvPr id="23" name="Text 21"/>
          <p:cNvSpPr/>
          <p:nvPr/>
        </p:nvSpPr>
        <p:spPr>
          <a:xfrm>
            <a:off x="475488" y="2926080"/>
            <a:ext cx="832104" cy="475488"/>
          </a:xfrm>
          <a:prstGeom prst="rect">
            <a:avLst/>
          </a:prstGeom>
          <a:noFill/>
          <a:ln/>
        </p:spPr>
        <p:txBody>
          <a:bodyPr wrap="square" lIns="0" tIns="0" rIns="0" bIns="0" rtlCol="0" anchor="ctr"/>
          <a:lstStyle/>
          <a:p>
            <a:pPr marL="0" indent="0" algn="ctr">
              <a:buNone/>
            </a:pPr>
            <a:r>
              <a:rPr lang="en-US" sz="950" b="1" dirty="0">
                <a:solidFill>
                  <a:srgbClr val="0891B2"/>
                </a:solidFill>
                <a:latin typeface="Arial" pitchFamily="34" charset="0"/>
                <a:ea typeface="Arial" pitchFamily="34" charset="-122"/>
                <a:cs typeface="Arial" pitchFamily="34" charset="-120"/>
              </a:rPr>
              <a:t>LangGraph</a:t>
            </a:r>
            <a:endParaRPr lang="en-US" sz="950" dirty="0"/>
          </a:p>
        </p:txBody>
      </p:sp>
      <p:sp>
        <p:nvSpPr>
          <p:cNvPr id="24" name="Text 22"/>
          <p:cNvSpPr/>
          <p:nvPr/>
        </p:nvSpPr>
        <p:spPr>
          <a:xfrm>
            <a:off x="1371600" y="2962656"/>
            <a:ext cx="3749040" cy="402336"/>
          </a:xfrm>
          <a:prstGeom prst="rect">
            <a:avLst/>
          </a:prstGeom>
          <a:noFill/>
          <a:ln/>
        </p:spPr>
        <p:txBody>
          <a:bodyPr wrap="square" lIns="0" tIns="0" rIns="0" bIns="0" rtlCol="0" anchor="ctr"/>
          <a:lstStyle/>
          <a:p>
            <a:pPr marL="0" indent="0" algn="l">
              <a:buNone/>
            </a:pPr>
            <a:r>
              <a:rPr lang="en-US" sz="900" b="1" dirty="0">
                <a:solidFill>
                  <a:srgbClr val="111111"/>
                </a:solidFill>
                <a:latin typeface="Arial" pitchFamily="34" charset="0"/>
                <a:ea typeface="Arial" pitchFamily="34" charset="-122"/>
                <a:cs typeface="Arial" pitchFamily="34" charset="-120"/>
              </a:rPr>
              <a:t>Agent Orchestration  </a:t>
            </a:r>
            <a:r>
              <a:rPr lang="en-US" sz="900" dirty="0">
                <a:solidFill>
                  <a:srgbClr val="4A4A4A"/>
                </a:solidFill>
                <a:latin typeface="Arial" pitchFamily="34" charset="0"/>
                <a:ea typeface="Arial" pitchFamily="34" charset="-122"/>
                <a:cs typeface="Arial" pitchFamily="34" charset="-120"/>
              </a:rPr>
              <a:t>Coordinates 5 AI agents, manages state, routes all outputs to human review</a:t>
            </a:r>
            <a:endParaRPr lang="en-US" sz="900" dirty="0"/>
          </a:p>
        </p:txBody>
      </p:sp>
      <p:sp>
        <p:nvSpPr>
          <p:cNvPr id="25" name="Shape 23"/>
          <p:cNvSpPr/>
          <p:nvPr/>
        </p:nvSpPr>
        <p:spPr>
          <a:xfrm>
            <a:off x="457200" y="3474720"/>
            <a:ext cx="4754880" cy="47548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6" name="Shape 24"/>
          <p:cNvSpPr/>
          <p:nvPr/>
        </p:nvSpPr>
        <p:spPr>
          <a:xfrm>
            <a:off x="457200" y="3474720"/>
            <a:ext cx="45720" cy="475488"/>
          </a:xfrm>
          <a:prstGeom prst="rect">
            <a:avLst/>
          </a:prstGeom>
          <a:solidFill>
            <a:srgbClr val="16A34A"/>
          </a:solidFill>
          <a:ln w="12700">
            <a:solidFill>
              <a:srgbClr val="16A34A"/>
            </a:solidFill>
            <a:prstDash val="solid"/>
          </a:ln>
        </p:spPr>
        <p:txBody>
          <a:bodyPr/>
          <a:lstStyle/>
          <a:p>
            <a:endParaRPr lang="de-DE"/>
          </a:p>
        </p:txBody>
      </p:sp>
      <p:sp>
        <p:nvSpPr>
          <p:cNvPr id="27" name="Shape 25"/>
          <p:cNvSpPr/>
          <p:nvPr/>
        </p:nvSpPr>
        <p:spPr>
          <a:xfrm>
            <a:off x="457200" y="3474720"/>
            <a:ext cx="868680" cy="475488"/>
          </a:xfrm>
          <a:prstGeom prst="rect">
            <a:avLst/>
          </a:prstGeom>
          <a:solidFill>
            <a:srgbClr val="E8F0FD"/>
          </a:solidFill>
          <a:ln w="12700">
            <a:solidFill>
              <a:srgbClr val="E2E8F0"/>
            </a:solidFill>
            <a:prstDash val="solid"/>
          </a:ln>
        </p:spPr>
        <p:txBody>
          <a:bodyPr/>
          <a:lstStyle/>
          <a:p>
            <a:endParaRPr lang="de-DE"/>
          </a:p>
        </p:txBody>
      </p:sp>
      <p:sp>
        <p:nvSpPr>
          <p:cNvPr id="28" name="Text 26"/>
          <p:cNvSpPr/>
          <p:nvPr/>
        </p:nvSpPr>
        <p:spPr>
          <a:xfrm>
            <a:off x="475488" y="3474720"/>
            <a:ext cx="832104" cy="475488"/>
          </a:xfrm>
          <a:prstGeom prst="rect">
            <a:avLst/>
          </a:prstGeom>
          <a:noFill/>
          <a:ln/>
        </p:spPr>
        <p:txBody>
          <a:bodyPr wrap="square" lIns="0" tIns="0" rIns="0" bIns="0" rtlCol="0" anchor="ctr"/>
          <a:lstStyle/>
          <a:p>
            <a:pPr marL="0" indent="0" algn="ctr">
              <a:buNone/>
            </a:pPr>
            <a:r>
              <a:rPr lang="en-US" sz="950" b="1" dirty="0">
                <a:solidFill>
                  <a:srgbClr val="16A34A"/>
                </a:solidFill>
                <a:latin typeface="Arial" pitchFamily="34" charset="0"/>
                <a:ea typeface="Arial" pitchFamily="34" charset="-122"/>
                <a:cs typeface="Arial" pitchFamily="34" charset="-120"/>
              </a:rPr>
              <a:t>LangSmith</a:t>
            </a:r>
            <a:endParaRPr lang="en-US" sz="950" dirty="0"/>
          </a:p>
        </p:txBody>
      </p:sp>
      <p:sp>
        <p:nvSpPr>
          <p:cNvPr id="29" name="Text 27"/>
          <p:cNvSpPr/>
          <p:nvPr/>
        </p:nvSpPr>
        <p:spPr>
          <a:xfrm>
            <a:off x="1371600" y="3511296"/>
            <a:ext cx="3749040" cy="402336"/>
          </a:xfrm>
          <a:prstGeom prst="rect">
            <a:avLst/>
          </a:prstGeom>
          <a:noFill/>
          <a:ln/>
        </p:spPr>
        <p:txBody>
          <a:bodyPr wrap="square" lIns="0" tIns="0" rIns="0" bIns="0" rtlCol="0" anchor="ctr"/>
          <a:lstStyle/>
          <a:p>
            <a:pPr marL="0" indent="0" algn="l">
              <a:buNone/>
            </a:pPr>
            <a:r>
              <a:rPr lang="en-US" sz="900" b="1" dirty="0">
                <a:solidFill>
                  <a:srgbClr val="111111"/>
                </a:solidFill>
                <a:latin typeface="Arial" pitchFamily="34" charset="0"/>
                <a:ea typeface="Arial" pitchFamily="34" charset="-122"/>
                <a:cs typeface="Arial" pitchFamily="34" charset="-120"/>
              </a:rPr>
              <a:t>Observability  </a:t>
            </a:r>
            <a:r>
              <a:rPr lang="en-US" sz="900" dirty="0">
                <a:solidFill>
                  <a:srgbClr val="4A4A4A"/>
                </a:solidFill>
                <a:latin typeface="Arial" pitchFamily="34" charset="0"/>
                <a:ea typeface="Arial" pitchFamily="34" charset="-122"/>
                <a:cs typeface="Arial" pitchFamily="34" charset="-120"/>
              </a:rPr>
              <a:t>Traces every LLM call — audit trail, error analysis, model behaviour, prompt versioning</a:t>
            </a:r>
            <a:endParaRPr lang="en-US" sz="900" dirty="0"/>
          </a:p>
        </p:txBody>
      </p:sp>
      <p:sp>
        <p:nvSpPr>
          <p:cNvPr id="30" name="Shape 28"/>
          <p:cNvSpPr/>
          <p:nvPr/>
        </p:nvSpPr>
        <p:spPr>
          <a:xfrm>
            <a:off x="457200" y="4023360"/>
            <a:ext cx="4754880" cy="475488"/>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31" name="Shape 29"/>
          <p:cNvSpPr/>
          <p:nvPr/>
        </p:nvSpPr>
        <p:spPr>
          <a:xfrm>
            <a:off x="457200" y="4023360"/>
            <a:ext cx="45720" cy="475488"/>
          </a:xfrm>
          <a:prstGeom prst="rect">
            <a:avLst/>
          </a:prstGeom>
          <a:solidFill>
            <a:srgbClr val="D97706"/>
          </a:solidFill>
          <a:ln w="12700">
            <a:solidFill>
              <a:srgbClr val="D97706"/>
            </a:solidFill>
            <a:prstDash val="solid"/>
          </a:ln>
        </p:spPr>
        <p:txBody>
          <a:bodyPr/>
          <a:lstStyle/>
          <a:p>
            <a:endParaRPr lang="de-DE"/>
          </a:p>
        </p:txBody>
      </p:sp>
      <p:sp>
        <p:nvSpPr>
          <p:cNvPr id="32" name="Shape 30"/>
          <p:cNvSpPr/>
          <p:nvPr/>
        </p:nvSpPr>
        <p:spPr>
          <a:xfrm>
            <a:off x="457200" y="4023360"/>
            <a:ext cx="868680" cy="475488"/>
          </a:xfrm>
          <a:prstGeom prst="rect">
            <a:avLst/>
          </a:prstGeom>
          <a:solidFill>
            <a:srgbClr val="E8F0FD"/>
          </a:solidFill>
          <a:ln w="12700">
            <a:solidFill>
              <a:srgbClr val="E2E8F0"/>
            </a:solidFill>
            <a:prstDash val="solid"/>
          </a:ln>
        </p:spPr>
        <p:txBody>
          <a:bodyPr/>
          <a:lstStyle/>
          <a:p>
            <a:endParaRPr lang="de-DE"/>
          </a:p>
        </p:txBody>
      </p:sp>
      <p:sp>
        <p:nvSpPr>
          <p:cNvPr id="33" name="Text 31"/>
          <p:cNvSpPr/>
          <p:nvPr/>
        </p:nvSpPr>
        <p:spPr>
          <a:xfrm>
            <a:off x="475488" y="4023360"/>
            <a:ext cx="832104" cy="475488"/>
          </a:xfrm>
          <a:prstGeom prst="rect">
            <a:avLst/>
          </a:prstGeom>
          <a:noFill/>
          <a:ln/>
        </p:spPr>
        <p:txBody>
          <a:bodyPr wrap="square" lIns="0" tIns="0" rIns="0" bIns="0" rtlCol="0" anchor="ctr"/>
          <a:lstStyle/>
          <a:p>
            <a:pPr marL="0" indent="0" algn="ctr">
              <a:buNone/>
            </a:pPr>
            <a:r>
              <a:rPr lang="en-US" sz="950" b="1" dirty="0">
                <a:solidFill>
                  <a:srgbClr val="D97706"/>
                </a:solidFill>
                <a:latin typeface="Arial" pitchFamily="34" charset="0"/>
                <a:ea typeface="Arial" pitchFamily="34" charset="-122"/>
                <a:cs typeface="Arial" pitchFamily="34" charset="-120"/>
              </a:rPr>
              <a:t>EU Infra</a:t>
            </a:r>
            <a:endParaRPr lang="en-US" sz="950" dirty="0"/>
          </a:p>
        </p:txBody>
      </p:sp>
      <p:sp>
        <p:nvSpPr>
          <p:cNvPr id="34" name="Text 32"/>
          <p:cNvSpPr/>
          <p:nvPr/>
        </p:nvSpPr>
        <p:spPr>
          <a:xfrm>
            <a:off x="1371600" y="4059936"/>
            <a:ext cx="3749040" cy="402336"/>
          </a:xfrm>
          <a:prstGeom prst="rect">
            <a:avLst/>
          </a:prstGeom>
          <a:noFill/>
          <a:ln/>
        </p:spPr>
        <p:txBody>
          <a:bodyPr wrap="square" lIns="0" tIns="0" rIns="0" bIns="0" rtlCol="0" anchor="ctr"/>
          <a:lstStyle/>
          <a:p>
            <a:pPr marL="0" indent="0" algn="l">
              <a:buNone/>
            </a:pPr>
            <a:r>
              <a:rPr lang="en-US" sz="900" b="1" dirty="0">
                <a:solidFill>
                  <a:srgbClr val="111111"/>
                </a:solidFill>
                <a:latin typeface="Arial" pitchFamily="34" charset="0"/>
                <a:ea typeface="Arial" pitchFamily="34" charset="-122"/>
                <a:cs typeface="Arial" pitchFamily="34" charset="-120"/>
              </a:rPr>
              <a:t>Hosting  </a:t>
            </a:r>
            <a:r>
              <a:rPr lang="en-US" sz="900" dirty="0">
                <a:solidFill>
                  <a:srgbClr val="4A4A4A"/>
                </a:solidFill>
                <a:latin typeface="Arial" pitchFamily="34" charset="0"/>
                <a:ea typeface="Arial" pitchFamily="34" charset="-122"/>
                <a:cs typeface="Arial" pitchFamily="34" charset="-120"/>
              </a:rPr>
              <a:t>Role-based access, encrypted storage, minimal data retention, human approval gates</a:t>
            </a:r>
            <a:endParaRPr lang="en-US" sz="900" dirty="0"/>
          </a:p>
        </p:txBody>
      </p:sp>
      <p:sp>
        <p:nvSpPr>
          <p:cNvPr id="35" name="Text 33"/>
          <p:cNvSpPr/>
          <p:nvPr/>
        </p:nvSpPr>
        <p:spPr>
          <a:xfrm>
            <a:off x="5577840" y="1828800"/>
            <a:ext cx="3108960" cy="310896"/>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Human Review — Non-Negotiable</a:t>
            </a:r>
            <a:endParaRPr lang="en-US" sz="1100" dirty="0"/>
          </a:p>
        </p:txBody>
      </p:sp>
      <p:sp>
        <p:nvSpPr>
          <p:cNvPr id="36" name="Shape 34"/>
          <p:cNvSpPr/>
          <p:nvPr/>
        </p:nvSpPr>
        <p:spPr>
          <a:xfrm>
            <a:off x="5577840" y="2176272"/>
            <a:ext cx="3108960" cy="329184"/>
          </a:xfrm>
          <a:prstGeom prst="rect">
            <a:avLst/>
          </a:prstGeom>
          <a:solidFill>
            <a:srgbClr val="FEF2F2"/>
          </a:solidFill>
          <a:ln w="12700">
            <a:solidFill>
              <a:srgbClr val="FECACA"/>
            </a:solidFill>
            <a:prstDash val="solid"/>
          </a:ln>
        </p:spPr>
        <p:txBody>
          <a:bodyPr/>
          <a:lstStyle/>
          <a:p>
            <a:endParaRPr lang="de-DE"/>
          </a:p>
        </p:txBody>
      </p:sp>
      <p:sp>
        <p:nvSpPr>
          <p:cNvPr id="37" name="Text 35"/>
          <p:cNvSpPr/>
          <p:nvPr/>
        </p:nvSpPr>
        <p:spPr>
          <a:xfrm>
            <a:off x="5650992" y="2176272"/>
            <a:ext cx="2980944" cy="329184"/>
          </a:xfrm>
          <a:prstGeom prst="rect">
            <a:avLst/>
          </a:prstGeom>
          <a:noFill/>
          <a:ln/>
        </p:spPr>
        <p:txBody>
          <a:bodyPr wrap="square" lIns="0" tIns="0" rIns="0" bIns="0" rtlCol="0" anchor="ctr"/>
          <a:lstStyle/>
          <a:p>
            <a:pPr marL="0" indent="0" algn="l">
              <a:buNone/>
            </a:pPr>
            <a:r>
              <a:rPr lang="en-US" sz="900" b="1" dirty="0">
                <a:solidFill>
                  <a:srgbClr val="DC2626"/>
                </a:solidFill>
                <a:latin typeface="Arial" pitchFamily="34" charset="0"/>
                <a:ea typeface="Arial" pitchFamily="34" charset="-122"/>
                <a:cs typeface="Arial" pitchFamily="34" charset="-120"/>
              </a:rPr>
              <a:t>⚠  All outputs → human queue → only then action</a:t>
            </a:r>
            <a:endParaRPr lang="en-US" sz="900" dirty="0"/>
          </a:p>
        </p:txBody>
      </p:sp>
      <p:sp>
        <p:nvSpPr>
          <p:cNvPr id="38" name="Shape 36"/>
          <p:cNvSpPr/>
          <p:nvPr/>
        </p:nvSpPr>
        <p:spPr>
          <a:xfrm>
            <a:off x="5577840" y="2560320"/>
            <a:ext cx="3108960" cy="42062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39" name="Shape 37"/>
          <p:cNvSpPr/>
          <p:nvPr/>
        </p:nvSpPr>
        <p:spPr>
          <a:xfrm>
            <a:off x="5577840" y="2560320"/>
            <a:ext cx="45720" cy="420624"/>
          </a:xfrm>
          <a:prstGeom prst="rect">
            <a:avLst/>
          </a:prstGeom>
          <a:solidFill>
            <a:srgbClr val="005AEE"/>
          </a:solidFill>
          <a:ln w="12700">
            <a:solidFill>
              <a:srgbClr val="005AEE"/>
            </a:solidFill>
            <a:prstDash val="solid"/>
          </a:ln>
        </p:spPr>
        <p:txBody>
          <a:bodyPr/>
          <a:lstStyle/>
          <a:p>
            <a:endParaRPr lang="de-DE"/>
          </a:p>
        </p:txBody>
      </p:sp>
      <p:sp>
        <p:nvSpPr>
          <p:cNvPr id="40" name="Text 38"/>
          <p:cNvSpPr/>
          <p:nvPr/>
        </p:nvSpPr>
        <p:spPr>
          <a:xfrm>
            <a:off x="5687568" y="2560320"/>
            <a:ext cx="2926080" cy="420624"/>
          </a:xfrm>
          <a:prstGeom prst="rect">
            <a:avLst/>
          </a:prstGeom>
          <a:noFill/>
          <a:ln/>
        </p:spPr>
        <p:txBody>
          <a:bodyPr wrap="square" lIns="0" tIns="0" rIns="0" bIns="0" rtlCol="0" anchor="ctr"/>
          <a:lstStyle/>
          <a:p>
            <a:pPr marL="0" indent="0" algn="l">
              <a:buNone/>
            </a:pPr>
            <a:r>
              <a:rPr lang="en-US" sz="950" b="1" dirty="0">
                <a:solidFill>
                  <a:srgbClr val="005AEE"/>
                </a:solidFill>
                <a:latin typeface="Arial" pitchFamily="34" charset="0"/>
                <a:ea typeface="Arial" pitchFamily="34" charset="-122"/>
                <a:cs typeface="Arial" pitchFamily="34" charset="-120"/>
              </a:rPr>
              <a:t>Finance Team:  </a:t>
            </a:r>
            <a:r>
              <a:rPr lang="en-US" sz="950" dirty="0">
                <a:solidFill>
                  <a:srgbClr val="4A4A4A"/>
                </a:solidFill>
                <a:latin typeface="Arial" pitchFamily="34" charset="0"/>
                <a:ea typeface="Arial" pitchFamily="34" charset="-122"/>
                <a:cs typeface="Arial" pitchFamily="34" charset="-120"/>
              </a:rPr>
              <a:t>Approve / reject invoices</a:t>
            </a:r>
            <a:endParaRPr lang="en-US" sz="950" dirty="0"/>
          </a:p>
        </p:txBody>
      </p:sp>
      <p:sp>
        <p:nvSpPr>
          <p:cNvPr id="41" name="Shape 39"/>
          <p:cNvSpPr/>
          <p:nvPr/>
        </p:nvSpPr>
        <p:spPr>
          <a:xfrm>
            <a:off x="5577840" y="3035808"/>
            <a:ext cx="3108960" cy="420624"/>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42" name="Shape 40"/>
          <p:cNvSpPr/>
          <p:nvPr/>
        </p:nvSpPr>
        <p:spPr>
          <a:xfrm>
            <a:off x="5577840" y="3035808"/>
            <a:ext cx="45720" cy="420624"/>
          </a:xfrm>
          <a:prstGeom prst="rect">
            <a:avLst/>
          </a:prstGeom>
          <a:solidFill>
            <a:srgbClr val="005AEE"/>
          </a:solidFill>
          <a:ln w="12700">
            <a:solidFill>
              <a:srgbClr val="005AEE"/>
            </a:solidFill>
            <a:prstDash val="solid"/>
          </a:ln>
        </p:spPr>
        <p:txBody>
          <a:bodyPr/>
          <a:lstStyle/>
          <a:p>
            <a:endParaRPr lang="de-DE"/>
          </a:p>
        </p:txBody>
      </p:sp>
      <p:sp>
        <p:nvSpPr>
          <p:cNvPr id="43" name="Text 41"/>
          <p:cNvSpPr/>
          <p:nvPr/>
        </p:nvSpPr>
        <p:spPr>
          <a:xfrm>
            <a:off x="5687568" y="3035808"/>
            <a:ext cx="2926080" cy="420624"/>
          </a:xfrm>
          <a:prstGeom prst="rect">
            <a:avLst/>
          </a:prstGeom>
          <a:noFill/>
          <a:ln/>
        </p:spPr>
        <p:txBody>
          <a:bodyPr wrap="square" lIns="0" tIns="0" rIns="0" bIns="0" rtlCol="0" anchor="ctr"/>
          <a:lstStyle/>
          <a:p>
            <a:pPr marL="0" indent="0" algn="l">
              <a:buNone/>
            </a:pPr>
            <a:r>
              <a:rPr lang="en-US" sz="950" b="1" dirty="0">
                <a:solidFill>
                  <a:srgbClr val="005AEE"/>
                </a:solidFill>
                <a:latin typeface="Arial" pitchFamily="34" charset="0"/>
                <a:ea typeface="Arial" pitchFamily="34" charset="-122"/>
                <a:cs typeface="Arial" pitchFamily="34" charset="-120"/>
              </a:rPr>
              <a:t>Legal / Compliance:  </a:t>
            </a:r>
            <a:r>
              <a:rPr lang="en-US" sz="950" dirty="0">
                <a:solidFill>
                  <a:srgbClr val="4A4A4A"/>
                </a:solidFill>
                <a:latin typeface="Arial" pitchFamily="34" charset="0"/>
                <a:ea typeface="Arial" pitchFamily="34" charset="-122"/>
                <a:cs typeface="Arial" pitchFamily="34" charset="-120"/>
              </a:rPr>
              <a:t>Escalate compliance risks</a:t>
            </a:r>
            <a:endParaRPr lang="en-US" sz="950" dirty="0"/>
          </a:p>
        </p:txBody>
      </p:sp>
      <p:sp>
        <p:nvSpPr>
          <p:cNvPr id="44" name="Shape 42"/>
          <p:cNvSpPr/>
          <p:nvPr/>
        </p:nvSpPr>
        <p:spPr>
          <a:xfrm>
            <a:off x="5577840" y="3511296"/>
            <a:ext cx="3108960" cy="42062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45" name="Shape 43"/>
          <p:cNvSpPr/>
          <p:nvPr/>
        </p:nvSpPr>
        <p:spPr>
          <a:xfrm>
            <a:off x="5577840" y="3511296"/>
            <a:ext cx="45720" cy="420624"/>
          </a:xfrm>
          <a:prstGeom prst="rect">
            <a:avLst/>
          </a:prstGeom>
          <a:solidFill>
            <a:srgbClr val="005AEE"/>
          </a:solidFill>
          <a:ln w="12700">
            <a:solidFill>
              <a:srgbClr val="005AEE"/>
            </a:solidFill>
            <a:prstDash val="solid"/>
          </a:ln>
        </p:spPr>
        <p:txBody>
          <a:bodyPr/>
          <a:lstStyle/>
          <a:p>
            <a:endParaRPr lang="de-DE"/>
          </a:p>
        </p:txBody>
      </p:sp>
      <p:sp>
        <p:nvSpPr>
          <p:cNvPr id="46" name="Text 44"/>
          <p:cNvSpPr/>
          <p:nvPr/>
        </p:nvSpPr>
        <p:spPr>
          <a:xfrm>
            <a:off x="5687568" y="3511296"/>
            <a:ext cx="2926080" cy="420624"/>
          </a:xfrm>
          <a:prstGeom prst="rect">
            <a:avLst/>
          </a:prstGeom>
          <a:noFill/>
          <a:ln/>
        </p:spPr>
        <p:txBody>
          <a:bodyPr wrap="square" lIns="0" tIns="0" rIns="0" bIns="0" rtlCol="0" anchor="ctr"/>
          <a:lstStyle/>
          <a:p>
            <a:pPr marL="0" indent="0" algn="l">
              <a:buNone/>
            </a:pPr>
            <a:r>
              <a:rPr lang="en-US" sz="950" b="1" dirty="0">
                <a:solidFill>
                  <a:srgbClr val="005AEE"/>
                </a:solidFill>
                <a:latin typeface="Arial" pitchFamily="34" charset="0"/>
                <a:ea typeface="Arial" pitchFamily="34" charset="-122"/>
                <a:cs typeface="Arial" pitchFamily="34" charset="-120"/>
              </a:rPr>
              <a:t>HR:  </a:t>
            </a:r>
            <a:r>
              <a:rPr lang="en-US" sz="950" dirty="0">
                <a:solidFill>
                  <a:srgbClr val="4A4A4A"/>
                </a:solidFill>
                <a:latin typeface="Arial" pitchFamily="34" charset="0"/>
                <a:ea typeface="Arial" pitchFamily="34" charset="-122"/>
                <a:cs typeface="Arial" pitchFamily="34" charset="-120"/>
              </a:rPr>
              <a:t>Investigate duplicates</a:t>
            </a:r>
            <a:endParaRPr lang="en-US" sz="950" dirty="0"/>
          </a:p>
        </p:txBody>
      </p:sp>
      <p:sp>
        <p:nvSpPr>
          <p:cNvPr id="47" name="Shape 45"/>
          <p:cNvSpPr/>
          <p:nvPr/>
        </p:nvSpPr>
        <p:spPr>
          <a:xfrm>
            <a:off x="5577840" y="3986784"/>
            <a:ext cx="3108960" cy="420624"/>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48" name="Shape 46"/>
          <p:cNvSpPr/>
          <p:nvPr/>
        </p:nvSpPr>
        <p:spPr>
          <a:xfrm>
            <a:off x="5577840" y="3986784"/>
            <a:ext cx="45720" cy="420624"/>
          </a:xfrm>
          <a:prstGeom prst="rect">
            <a:avLst/>
          </a:prstGeom>
          <a:solidFill>
            <a:srgbClr val="005AEE"/>
          </a:solidFill>
          <a:ln w="12700">
            <a:solidFill>
              <a:srgbClr val="005AEE"/>
            </a:solidFill>
            <a:prstDash val="solid"/>
          </a:ln>
        </p:spPr>
        <p:txBody>
          <a:bodyPr/>
          <a:lstStyle/>
          <a:p>
            <a:endParaRPr lang="de-DE"/>
          </a:p>
        </p:txBody>
      </p:sp>
      <p:sp>
        <p:nvSpPr>
          <p:cNvPr id="49" name="Text 47"/>
          <p:cNvSpPr/>
          <p:nvPr/>
        </p:nvSpPr>
        <p:spPr>
          <a:xfrm>
            <a:off x="5687568" y="3986784"/>
            <a:ext cx="2926080" cy="420624"/>
          </a:xfrm>
          <a:prstGeom prst="rect">
            <a:avLst/>
          </a:prstGeom>
          <a:noFill/>
          <a:ln/>
        </p:spPr>
        <p:txBody>
          <a:bodyPr wrap="square" lIns="0" tIns="0" rIns="0" bIns="0" rtlCol="0" anchor="ctr"/>
          <a:lstStyle/>
          <a:p>
            <a:pPr marL="0" indent="0" algn="l">
              <a:buNone/>
            </a:pPr>
            <a:r>
              <a:rPr lang="en-US" sz="950" b="1" dirty="0">
                <a:solidFill>
                  <a:srgbClr val="005AEE"/>
                </a:solidFill>
                <a:latin typeface="Arial" pitchFamily="34" charset="0"/>
                <a:ea typeface="Arial" pitchFamily="34" charset="-122"/>
                <a:cs typeface="Arial" pitchFamily="34" charset="-120"/>
              </a:rPr>
              <a:t>CEO (Eugen):  </a:t>
            </a:r>
            <a:r>
              <a:rPr lang="en-US" sz="950" dirty="0">
                <a:solidFill>
                  <a:srgbClr val="4A4A4A"/>
                </a:solidFill>
                <a:latin typeface="Arial" pitchFamily="34" charset="0"/>
                <a:ea typeface="Arial" pitchFamily="34" charset="-122"/>
                <a:cs typeface="Arial" pitchFamily="34" charset="-120"/>
              </a:rPr>
              <a:t>Strategy + cost dashboard</a:t>
            </a:r>
            <a:endParaRPr lang="en-US" sz="950" dirty="0"/>
          </a:p>
        </p:txBody>
      </p:sp>
      <p:sp>
        <p:nvSpPr>
          <p:cNvPr id="50" name="Shape 48"/>
          <p:cNvSpPr/>
          <p:nvPr/>
        </p:nvSpPr>
        <p:spPr>
          <a:xfrm>
            <a:off x="5577840" y="4462272"/>
            <a:ext cx="3108960" cy="42062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51" name="Shape 49"/>
          <p:cNvSpPr/>
          <p:nvPr/>
        </p:nvSpPr>
        <p:spPr>
          <a:xfrm>
            <a:off x="5577840" y="4462272"/>
            <a:ext cx="45720" cy="420624"/>
          </a:xfrm>
          <a:prstGeom prst="rect">
            <a:avLst/>
          </a:prstGeom>
          <a:solidFill>
            <a:srgbClr val="005AEE"/>
          </a:solidFill>
          <a:ln w="12700">
            <a:solidFill>
              <a:srgbClr val="005AEE"/>
            </a:solidFill>
            <a:prstDash val="solid"/>
          </a:ln>
        </p:spPr>
        <p:txBody>
          <a:bodyPr/>
          <a:lstStyle/>
          <a:p>
            <a:endParaRPr lang="de-DE"/>
          </a:p>
        </p:txBody>
      </p:sp>
      <p:sp>
        <p:nvSpPr>
          <p:cNvPr id="52" name="Text 50"/>
          <p:cNvSpPr/>
          <p:nvPr/>
        </p:nvSpPr>
        <p:spPr>
          <a:xfrm>
            <a:off x="5687568" y="4462272"/>
            <a:ext cx="2926080" cy="420624"/>
          </a:xfrm>
          <a:prstGeom prst="rect">
            <a:avLst/>
          </a:prstGeom>
          <a:noFill/>
          <a:ln/>
        </p:spPr>
        <p:txBody>
          <a:bodyPr wrap="square" lIns="0" tIns="0" rIns="0" bIns="0" rtlCol="0" anchor="ctr"/>
          <a:lstStyle/>
          <a:p>
            <a:pPr marL="0" indent="0" algn="l">
              <a:buNone/>
            </a:pPr>
            <a:r>
              <a:rPr lang="en-US" sz="950" b="1" dirty="0">
                <a:solidFill>
                  <a:srgbClr val="005AEE"/>
                </a:solidFill>
                <a:latin typeface="Arial" pitchFamily="34" charset="0"/>
                <a:ea typeface="Arial" pitchFamily="34" charset="-122"/>
                <a:cs typeface="Arial" pitchFamily="34" charset="-120"/>
              </a:rPr>
              <a:t>CFO (Thibaud):  </a:t>
            </a:r>
            <a:r>
              <a:rPr lang="en-US" sz="950" dirty="0">
                <a:solidFill>
                  <a:srgbClr val="4A4A4A"/>
                </a:solidFill>
                <a:latin typeface="Arial" pitchFamily="34" charset="0"/>
                <a:ea typeface="Arial" pitchFamily="34" charset="-122"/>
                <a:cs typeface="Arial" pitchFamily="34" charset="-120"/>
              </a:rPr>
              <a:t>Payment holds + cost flags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ContractOS is minimal/limited risk — justified, not asserted</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03  COMPLIANCE — EU AI ACT</a:t>
            </a:r>
            <a:endParaRPr lang="en-US" sz="850" dirty="0"/>
          </a:p>
        </p:txBody>
      </p:sp>
      <p:sp>
        <p:nvSpPr>
          <p:cNvPr id="7" name="Shape 5"/>
          <p:cNvSpPr/>
          <p:nvPr/>
        </p:nvSpPr>
        <p:spPr>
          <a:xfrm>
            <a:off x="457200" y="1261872"/>
            <a:ext cx="8229600" cy="512064"/>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512064"/>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512064"/>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No agent executes a decision. Every output goes to a named human before action. This is what keeps the classification defensible.</a:t>
            </a:r>
            <a:endParaRPr lang="en-US" sz="1250" dirty="0"/>
          </a:p>
        </p:txBody>
      </p:sp>
      <p:sp>
        <p:nvSpPr>
          <p:cNvPr id="10" name="Shape 8"/>
          <p:cNvSpPr/>
          <p:nvPr/>
        </p:nvSpPr>
        <p:spPr>
          <a:xfrm>
            <a:off x="457200" y="1883664"/>
            <a:ext cx="3931920" cy="141732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457200" y="1883664"/>
            <a:ext cx="3931920" cy="457200"/>
          </a:xfrm>
          <a:prstGeom prst="rect">
            <a:avLst/>
          </a:prstGeom>
          <a:solidFill>
            <a:srgbClr val="16A34A"/>
          </a:solidFill>
          <a:ln w="12700">
            <a:solidFill>
              <a:srgbClr val="16A34A"/>
            </a:solidFill>
            <a:prstDash val="solid"/>
          </a:ln>
        </p:spPr>
        <p:txBody>
          <a:bodyPr/>
          <a:lstStyle/>
          <a:p>
            <a:endParaRPr lang="de-DE"/>
          </a:p>
        </p:txBody>
      </p:sp>
      <p:sp>
        <p:nvSpPr>
          <p:cNvPr id="12" name="Text 10"/>
          <p:cNvSpPr/>
          <p:nvPr/>
        </p:nvSpPr>
        <p:spPr>
          <a:xfrm>
            <a:off x="457200" y="1883664"/>
            <a:ext cx="39319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MINIMAL RISK</a:t>
            </a:r>
            <a:endParaRPr lang="en-US" sz="1400" dirty="0"/>
          </a:p>
        </p:txBody>
      </p:sp>
      <p:sp>
        <p:nvSpPr>
          <p:cNvPr id="13" name="Text 11"/>
          <p:cNvSpPr/>
          <p:nvPr/>
        </p:nvSpPr>
        <p:spPr>
          <a:xfrm>
            <a:off x="594360" y="2395728"/>
            <a:ext cx="3657600" cy="320040"/>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Contract extraction · Cost dashboard · Payment tracking</a:t>
            </a:r>
            <a:endParaRPr lang="en-US" sz="1100" dirty="0"/>
          </a:p>
        </p:txBody>
      </p:sp>
      <p:sp>
        <p:nvSpPr>
          <p:cNvPr id="14" name="Text 12"/>
          <p:cNvSpPr/>
          <p:nvPr/>
        </p:nvSpPr>
        <p:spPr>
          <a:xfrm>
            <a:off x="594360" y="2761488"/>
            <a:ext cx="3657600" cy="457200"/>
          </a:xfrm>
          <a:prstGeom prst="rect">
            <a:avLst/>
          </a:prstGeom>
          <a:noFill/>
          <a:ln/>
        </p:spPr>
        <p:txBody>
          <a:bodyPr wrap="square" lIns="0" tIns="0" rIns="0" bIns="0" rtlCol="0" anchor="ctr"/>
          <a:lstStyle/>
          <a:p>
            <a:pPr marL="0" indent="0" algn="l">
              <a:buNone/>
            </a:pPr>
            <a:r>
              <a:rPr lang="en-US" sz="1050" dirty="0">
                <a:solidFill>
                  <a:srgbClr val="4A4A4A"/>
                </a:solidFill>
                <a:latin typeface="Arial" pitchFamily="34" charset="0"/>
                <a:ea typeface="Arial" pitchFamily="34" charset="-122"/>
                <a:cs typeface="Arial" pitchFamily="34" charset="-120"/>
              </a:rPr>
              <a:t>Surfaces information only. No decisions affecting individuals.</a:t>
            </a:r>
            <a:endParaRPr lang="en-US" sz="1050" dirty="0"/>
          </a:p>
        </p:txBody>
      </p:sp>
      <p:sp>
        <p:nvSpPr>
          <p:cNvPr id="15" name="Shape 13"/>
          <p:cNvSpPr/>
          <p:nvPr/>
        </p:nvSpPr>
        <p:spPr>
          <a:xfrm>
            <a:off x="4800600" y="1883664"/>
            <a:ext cx="3931920" cy="141732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6" name="Shape 14"/>
          <p:cNvSpPr/>
          <p:nvPr/>
        </p:nvSpPr>
        <p:spPr>
          <a:xfrm>
            <a:off x="4800600" y="1883664"/>
            <a:ext cx="3931920" cy="457200"/>
          </a:xfrm>
          <a:prstGeom prst="rect">
            <a:avLst/>
          </a:prstGeom>
          <a:solidFill>
            <a:srgbClr val="D97706"/>
          </a:solidFill>
          <a:ln w="12700">
            <a:solidFill>
              <a:srgbClr val="D97706"/>
            </a:solidFill>
            <a:prstDash val="solid"/>
          </a:ln>
        </p:spPr>
        <p:txBody>
          <a:bodyPr/>
          <a:lstStyle/>
          <a:p>
            <a:endParaRPr lang="de-DE"/>
          </a:p>
        </p:txBody>
      </p:sp>
      <p:sp>
        <p:nvSpPr>
          <p:cNvPr id="17" name="Text 15"/>
          <p:cNvSpPr/>
          <p:nvPr/>
        </p:nvSpPr>
        <p:spPr>
          <a:xfrm>
            <a:off x="4800600" y="1883664"/>
            <a:ext cx="39319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LIMITED RISK</a:t>
            </a:r>
            <a:endParaRPr lang="en-US" sz="1400" dirty="0"/>
          </a:p>
        </p:txBody>
      </p:sp>
      <p:sp>
        <p:nvSpPr>
          <p:cNvPr id="18" name="Text 16"/>
          <p:cNvSpPr/>
          <p:nvPr/>
        </p:nvSpPr>
        <p:spPr>
          <a:xfrm>
            <a:off x="4937760" y="2395728"/>
            <a:ext cx="3657600" cy="320040"/>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Overlap detection · Misclassification flagging</a:t>
            </a:r>
            <a:endParaRPr lang="en-US" sz="1100" dirty="0"/>
          </a:p>
        </p:txBody>
      </p:sp>
      <p:sp>
        <p:nvSpPr>
          <p:cNvPr id="19" name="Text 17"/>
          <p:cNvSpPr/>
          <p:nvPr/>
        </p:nvSpPr>
        <p:spPr>
          <a:xfrm>
            <a:off x="4937760" y="2761488"/>
            <a:ext cx="3657600" cy="457200"/>
          </a:xfrm>
          <a:prstGeom prst="rect">
            <a:avLst/>
          </a:prstGeom>
          <a:noFill/>
          <a:ln/>
        </p:spPr>
        <p:txBody>
          <a:bodyPr wrap="square" lIns="0" tIns="0" rIns="0" bIns="0" rtlCol="0" anchor="ctr"/>
          <a:lstStyle/>
          <a:p>
            <a:pPr marL="0" indent="0" algn="l">
              <a:buNone/>
            </a:pPr>
            <a:r>
              <a:rPr lang="en-US" sz="1050" dirty="0">
                <a:solidFill>
                  <a:srgbClr val="4A4A4A"/>
                </a:solidFill>
                <a:latin typeface="Arial" pitchFamily="34" charset="0"/>
                <a:ea typeface="Arial" pitchFamily="34" charset="-122"/>
                <a:cs typeface="Arial" pitchFamily="34" charset="-120"/>
              </a:rPr>
              <a:t>Touches Annex III pt.4 territory — human legal review required before any reclassification.</a:t>
            </a:r>
            <a:endParaRPr lang="en-US" sz="1050" dirty="0"/>
          </a:p>
        </p:txBody>
      </p:sp>
      <p:sp>
        <p:nvSpPr>
          <p:cNvPr id="20" name="Text 18"/>
          <p:cNvSpPr/>
          <p:nvPr/>
        </p:nvSpPr>
        <p:spPr>
          <a:xfrm>
            <a:off x="457200" y="3429000"/>
            <a:ext cx="8229600" cy="329184"/>
          </a:xfrm>
          <a:prstGeom prst="rect">
            <a:avLst/>
          </a:prstGeom>
          <a:noFill/>
          <a:ln/>
        </p:spPr>
        <p:txBody>
          <a:bodyPr wrap="square" lIns="0" tIns="0" rIns="0" bIns="0" rtlCol="0" anchor="ctr"/>
          <a:lstStyle/>
          <a:p>
            <a:pPr marL="0" indent="0" algn="l">
              <a:buNone/>
            </a:pPr>
            <a:r>
              <a:rPr lang="en-US" sz="1200" b="1" dirty="0">
                <a:solidFill>
                  <a:srgbClr val="111111"/>
                </a:solidFill>
                <a:latin typeface="Arial" pitchFamily="34" charset="0"/>
                <a:ea typeface="Arial" pitchFamily="34" charset="-122"/>
                <a:cs typeface="Arial" pitchFamily="34" charset="-120"/>
              </a:rPr>
              <a:t>Roles &amp; Obligations</a:t>
            </a:r>
            <a:endParaRPr lang="en-US" sz="1200" dirty="0"/>
          </a:p>
        </p:txBody>
      </p:sp>
      <p:sp>
        <p:nvSpPr>
          <p:cNvPr id="21" name="Shape 19"/>
          <p:cNvSpPr/>
          <p:nvPr/>
        </p:nvSpPr>
        <p:spPr>
          <a:xfrm>
            <a:off x="457200" y="3822192"/>
            <a:ext cx="3931920" cy="1261872"/>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2" name="Shape 20"/>
          <p:cNvSpPr/>
          <p:nvPr/>
        </p:nvSpPr>
        <p:spPr>
          <a:xfrm>
            <a:off x="457200" y="3822192"/>
            <a:ext cx="45720" cy="1261872"/>
          </a:xfrm>
          <a:prstGeom prst="rect">
            <a:avLst/>
          </a:prstGeom>
          <a:solidFill>
            <a:srgbClr val="005AEE"/>
          </a:solidFill>
          <a:ln w="12700">
            <a:solidFill>
              <a:srgbClr val="005AEE"/>
            </a:solidFill>
            <a:prstDash val="solid"/>
          </a:ln>
        </p:spPr>
        <p:txBody>
          <a:bodyPr/>
          <a:lstStyle/>
          <a:p>
            <a:endParaRPr lang="de-DE"/>
          </a:p>
        </p:txBody>
      </p:sp>
      <p:sp>
        <p:nvSpPr>
          <p:cNvPr id="23" name="Text 21"/>
          <p:cNvSpPr/>
          <p:nvPr/>
        </p:nvSpPr>
        <p:spPr>
          <a:xfrm>
            <a:off x="658368" y="3877056"/>
            <a:ext cx="3657600" cy="310896"/>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SilverTrust = PROVIDER</a:t>
            </a:r>
            <a:endParaRPr lang="en-US" sz="1100" dirty="0"/>
          </a:p>
        </p:txBody>
      </p:sp>
      <p:sp>
        <p:nvSpPr>
          <p:cNvPr id="24" name="Text 22"/>
          <p:cNvSpPr/>
          <p:nvPr/>
        </p:nvSpPr>
        <p:spPr>
          <a:xfrm>
            <a:off x="658368" y="4206240"/>
            <a:ext cx="3566160" cy="25603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 Maintain technical documentation</a:t>
            </a:r>
            <a:endParaRPr lang="en-US" sz="1000" dirty="0"/>
          </a:p>
        </p:txBody>
      </p:sp>
      <p:sp>
        <p:nvSpPr>
          <p:cNvPr id="25" name="Text 23"/>
          <p:cNvSpPr/>
          <p:nvPr/>
        </p:nvSpPr>
        <p:spPr>
          <a:xfrm>
            <a:off x="658368" y="4480560"/>
            <a:ext cx="3566160" cy="25603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 Implement quality management + logging</a:t>
            </a:r>
            <a:endParaRPr lang="en-US" sz="1000" dirty="0"/>
          </a:p>
        </p:txBody>
      </p:sp>
      <p:sp>
        <p:nvSpPr>
          <p:cNvPr id="26" name="Text 24"/>
          <p:cNvSpPr/>
          <p:nvPr/>
        </p:nvSpPr>
        <p:spPr>
          <a:xfrm>
            <a:off x="658368" y="4754880"/>
            <a:ext cx="3566160" cy="25603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 Ensure human oversight is technically enforced</a:t>
            </a:r>
            <a:endParaRPr lang="en-US" sz="1000" dirty="0"/>
          </a:p>
        </p:txBody>
      </p:sp>
      <p:sp>
        <p:nvSpPr>
          <p:cNvPr id="27" name="Shape 25"/>
          <p:cNvSpPr/>
          <p:nvPr/>
        </p:nvSpPr>
        <p:spPr>
          <a:xfrm>
            <a:off x="4800600" y="3822192"/>
            <a:ext cx="3931920" cy="1261872"/>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8" name="Shape 26"/>
          <p:cNvSpPr/>
          <p:nvPr/>
        </p:nvSpPr>
        <p:spPr>
          <a:xfrm>
            <a:off x="4800600" y="3822192"/>
            <a:ext cx="45720" cy="1261872"/>
          </a:xfrm>
          <a:prstGeom prst="rect">
            <a:avLst/>
          </a:prstGeom>
          <a:solidFill>
            <a:srgbClr val="005AEE"/>
          </a:solidFill>
          <a:ln w="12700">
            <a:solidFill>
              <a:srgbClr val="005AEE"/>
            </a:solidFill>
            <a:prstDash val="solid"/>
          </a:ln>
        </p:spPr>
        <p:txBody>
          <a:bodyPr/>
          <a:lstStyle/>
          <a:p>
            <a:endParaRPr lang="de-DE"/>
          </a:p>
        </p:txBody>
      </p:sp>
      <p:sp>
        <p:nvSpPr>
          <p:cNvPr id="29" name="Text 27"/>
          <p:cNvSpPr/>
          <p:nvPr/>
        </p:nvSpPr>
        <p:spPr>
          <a:xfrm>
            <a:off x="5001768" y="3877056"/>
            <a:ext cx="3657600" cy="310896"/>
          </a:xfrm>
          <a:prstGeom prst="rect">
            <a:avLst/>
          </a:prstGeom>
          <a:noFill/>
          <a:ln/>
        </p:spPr>
        <p:txBody>
          <a:bodyPr wrap="square" lIns="0" tIns="0" rIns="0" bIns="0" rtlCol="0" anchor="ctr"/>
          <a:lstStyle/>
          <a:p>
            <a:pPr marL="0" indent="0" algn="l">
              <a:buNone/>
            </a:pPr>
            <a:r>
              <a:rPr lang="en-US" sz="1100" b="1" dirty="0">
                <a:solidFill>
                  <a:srgbClr val="005AEE"/>
                </a:solidFill>
                <a:latin typeface="Arial" pitchFamily="34" charset="0"/>
                <a:ea typeface="Arial" pitchFamily="34" charset="-122"/>
                <a:cs typeface="Arial" pitchFamily="34" charset="-120"/>
              </a:rPr>
              <a:t>Oracle Game Studio = DEPLOYER</a:t>
            </a:r>
            <a:endParaRPr lang="en-US" sz="1100" dirty="0"/>
          </a:p>
        </p:txBody>
      </p:sp>
      <p:sp>
        <p:nvSpPr>
          <p:cNvPr id="30" name="Text 28"/>
          <p:cNvSpPr/>
          <p:nvPr/>
        </p:nvSpPr>
        <p:spPr>
          <a:xfrm>
            <a:off x="5001768" y="4206240"/>
            <a:ext cx="3566160" cy="25603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 Maintain human review for all flags before action</a:t>
            </a:r>
            <a:endParaRPr lang="en-US" sz="1000" dirty="0"/>
          </a:p>
        </p:txBody>
      </p:sp>
      <p:sp>
        <p:nvSpPr>
          <p:cNvPr id="31" name="Text 29"/>
          <p:cNvSpPr/>
          <p:nvPr/>
        </p:nvSpPr>
        <p:spPr>
          <a:xfrm>
            <a:off x="5001768" y="4480560"/>
            <a:ext cx="3566160" cy="25603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 Inform workers AI analyses their contracts</a:t>
            </a:r>
            <a:endParaRPr lang="en-US" sz="1000" dirty="0"/>
          </a:p>
        </p:txBody>
      </p:sp>
      <p:sp>
        <p:nvSpPr>
          <p:cNvPr id="32" name="Text 30"/>
          <p:cNvSpPr/>
          <p:nvPr/>
        </p:nvSpPr>
        <p:spPr>
          <a:xfrm>
            <a:off x="5001768" y="4754880"/>
            <a:ext cx="3566160" cy="25603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 Conduct own DPIA before deployment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Every data use has a named lawful basis — three LIAs completed</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03  GDPR &amp; OTHER LAW</a:t>
            </a:r>
            <a:endParaRPr lang="en-US" sz="850" dirty="0"/>
          </a:p>
        </p:txBody>
      </p:sp>
      <p:sp>
        <p:nvSpPr>
          <p:cNvPr id="7" name="Shape 5"/>
          <p:cNvSpPr/>
          <p:nvPr/>
        </p:nvSpPr>
        <p:spPr>
          <a:xfrm>
            <a:off x="457200" y="1261872"/>
            <a:ext cx="8229600" cy="402336"/>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02336"/>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02336"/>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No personal data leaves EU infrastructure. LLM processing runs under documented legitimate interest.</a:t>
            </a:r>
            <a:endParaRPr lang="en-US" sz="1250" dirty="0"/>
          </a:p>
        </p:txBody>
      </p:sp>
      <p:sp>
        <p:nvSpPr>
          <p:cNvPr id="10" name="Shape 8"/>
          <p:cNvSpPr/>
          <p:nvPr/>
        </p:nvSpPr>
        <p:spPr>
          <a:xfrm>
            <a:off x="457200" y="1773936"/>
            <a:ext cx="2788920" cy="347472"/>
          </a:xfrm>
          <a:prstGeom prst="rect">
            <a:avLst/>
          </a:prstGeom>
          <a:solidFill>
            <a:srgbClr val="005AEE"/>
          </a:solidFill>
          <a:ln w="12700">
            <a:solidFill>
              <a:srgbClr val="005AEE"/>
            </a:solidFill>
            <a:prstDash val="solid"/>
          </a:ln>
        </p:spPr>
        <p:txBody>
          <a:bodyPr/>
          <a:lstStyle/>
          <a:p>
            <a:endParaRPr lang="de-DE"/>
          </a:p>
        </p:txBody>
      </p:sp>
      <p:sp>
        <p:nvSpPr>
          <p:cNvPr id="11" name="Text 9"/>
          <p:cNvSpPr/>
          <p:nvPr/>
        </p:nvSpPr>
        <p:spPr>
          <a:xfrm>
            <a:off x="530352" y="1773936"/>
            <a:ext cx="2697480" cy="347472"/>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Personal data use</a:t>
            </a:r>
            <a:endParaRPr lang="en-US" sz="1000" dirty="0"/>
          </a:p>
        </p:txBody>
      </p:sp>
      <p:sp>
        <p:nvSpPr>
          <p:cNvPr id="12" name="Shape 10"/>
          <p:cNvSpPr/>
          <p:nvPr/>
        </p:nvSpPr>
        <p:spPr>
          <a:xfrm>
            <a:off x="3246120" y="1773936"/>
            <a:ext cx="1874520" cy="347472"/>
          </a:xfrm>
          <a:prstGeom prst="rect">
            <a:avLst/>
          </a:prstGeom>
          <a:solidFill>
            <a:srgbClr val="005AEE"/>
          </a:solidFill>
          <a:ln w="12700">
            <a:solidFill>
              <a:srgbClr val="005AEE"/>
            </a:solidFill>
            <a:prstDash val="solid"/>
          </a:ln>
        </p:spPr>
        <p:txBody>
          <a:bodyPr/>
          <a:lstStyle/>
          <a:p>
            <a:endParaRPr lang="de-DE"/>
          </a:p>
        </p:txBody>
      </p:sp>
      <p:sp>
        <p:nvSpPr>
          <p:cNvPr id="13" name="Text 11"/>
          <p:cNvSpPr/>
          <p:nvPr/>
        </p:nvSpPr>
        <p:spPr>
          <a:xfrm>
            <a:off x="3319272" y="1773936"/>
            <a:ext cx="1783080" cy="347472"/>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Lawful basis</a:t>
            </a:r>
            <a:endParaRPr lang="en-US" sz="1000" dirty="0"/>
          </a:p>
        </p:txBody>
      </p:sp>
      <p:sp>
        <p:nvSpPr>
          <p:cNvPr id="14" name="Shape 12"/>
          <p:cNvSpPr/>
          <p:nvPr/>
        </p:nvSpPr>
        <p:spPr>
          <a:xfrm>
            <a:off x="5120640" y="1773936"/>
            <a:ext cx="1280160" cy="347472"/>
          </a:xfrm>
          <a:prstGeom prst="rect">
            <a:avLst/>
          </a:prstGeom>
          <a:solidFill>
            <a:srgbClr val="005AEE"/>
          </a:solidFill>
          <a:ln w="12700">
            <a:solidFill>
              <a:srgbClr val="005AEE"/>
            </a:solidFill>
            <a:prstDash val="solid"/>
          </a:ln>
        </p:spPr>
        <p:txBody>
          <a:bodyPr/>
          <a:lstStyle/>
          <a:p>
            <a:endParaRPr lang="de-DE"/>
          </a:p>
        </p:txBody>
      </p:sp>
      <p:sp>
        <p:nvSpPr>
          <p:cNvPr id="15" name="Text 13"/>
          <p:cNvSpPr/>
          <p:nvPr/>
        </p:nvSpPr>
        <p:spPr>
          <a:xfrm>
            <a:off x="5193792" y="1773936"/>
            <a:ext cx="1188720" cy="347472"/>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Article</a:t>
            </a:r>
            <a:endParaRPr lang="en-US" sz="1000" dirty="0"/>
          </a:p>
        </p:txBody>
      </p:sp>
      <p:sp>
        <p:nvSpPr>
          <p:cNvPr id="16" name="Shape 14"/>
          <p:cNvSpPr/>
          <p:nvPr/>
        </p:nvSpPr>
        <p:spPr>
          <a:xfrm>
            <a:off x="6400800" y="1773936"/>
            <a:ext cx="2286000" cy="347472"/>
          </a:xfrm>
          <a:prstGeom prst="rect">
            <a:avLst/>
          </a:prstGeom>
          <a:solidFill>
            <a:srgbClr val="005AEE"/>
          </a:solidFill>
          <a:ln w="12700">
            <a:solidFill>
              <a:srgbClr val="005AEE"/>
            </a:solidFill>
            <a:prstDash val="solid"/>
          </a:ln>
        </p:spPr>
        <p:txBody>
          <a:bodyPr/>
          <a:lstStyle/>
          <a:p>
            <a:endParaRPr lang="de-DE"/>
          </a:p>
        </p:txBody>
      </p:sp>
      <p:sp>
        <p:nvSpPr>
          <p:cNvPr id="17" name="Text 15"/>
          <p:cNvSpPr/>
          <p:nvPr/>
        </p:nvSpPr>
        <p:spPr>
          <a:xfrm>
            <a:off x="6473952" y="1773936"/>
            <a:ext cx="2194560" cy="347472"/>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Constraint / Action</a:t>
            </a:r>
            <a:endParaRPr lang="en-US" sz="1000" dirty="0"/>
          </a:p>
        </p:txBody>
      </p:sp>
      <p:sp>
        <p:nvSpPr>
          <p:cNvPr id="18" name="Shape 16"/>
          <p:cNvSpPr/>
          <p:nvPr/>
        </p:nvSpPr>
        <p:spPr>
          <a:xfrm>
            <a:off x="457200" y="2157984"/>
            <a:ext cx="2788920" cy="347472"/>
          </a:xfrm>
          <a:prstGeom prst="rect">
            <a:avLst/>
          </a:prstGeom>
          <a:solidFill>
            <a:srgbClr val="FFFFFF"/>
          </a:solidFill>
          <a:ln w="12700">
            <a:solidFill>
              <a:srgbClr val="E2E8F0"/>
            </a:solidFill>
            <a:prstDash val="solid"/>
          </a:ln>
        </p:spPr>
        <p:txBody>
          <a:bodyPr/>
          <a:lstStyle/>
          <a:p>
            <a:endParaRPr lang="de-DE"/>
          </a:p>
        </p:txBody>
      </p:sp>
      <p:sp>
        <p:nvSpPr>
          <p:cNvPr id="19" name="Text 17"/>
          <p:cNvSpPr/>
          <p:nvPr/>
        </p:nvSpPr>
        <p:spPr>
          <a:xfrm>
            <a:off x="530352" y="2157984"/>
            <a:ext cx="269748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Employment contracts</a:t>
            </a:r>
            <a:endParaRPr lang="en-US" sz="1000" dirty="0"/>
          </a:p>
        </p:txBody>
      </p:sp>
      <p:sp>
        <p:nvSpPr>
          <p:cNvPr id="20" name="Shape 18"/>
          <p:cNvSpPr/>
          <p:nvPr/>
        </p:nvSpPr>
        <p:spPr>
          <a:xfrm>
            <a:off x="3246120" y="2157984"/>
            <a:ext cx="1874520" cy="347472"/>
          </a:xfrm>
          <a:prstGeom prst="rect">
            <a:avLst/>
          </a:prstGeom>
          <a:solidFill>
            <a:srgbClr val="FFFFFF"/>
          </a:solidFill>
          <a:ln w="12700">
            <a:solidFill>
              <a:srgbClr val="E2E8F0"/>
            </a:solidFill>
            <a:prstDash val="solid"/>
          </a:ln>
        </p:spPr>
        <p:txBody>
          <a:bodyPr/>
          <a:lstStyle/>
          <a:p>
            <a:endParaRPr lang="de-DE"/>
          </a:p>
        </p:txBody>
      </p:sp>
      <p:sp>
        <p:nvSpPr>
          <p:cNvPr id="21" name="Text 19"/>
          <p:cNvSpPr/>
          <p:nvPr/>
        </p:nvSpPr>
        <p:spPr>
          <a:xfrm>
            <a:off x="3319272" y="2157984"/>
            <a:ext cx="1783080" cy="347472"/>
          </a:xfrm>
          <a:prstGeom prst="rect">
            <a:avLst/>
          </a:prstGeom>
          <a:noFill/>
          <a:ln/>
        </p:spPr>
        <p:txBody>
          <a:bodyPr wrap="square" lIns="0" tIns="0" rIns="0" bIns="0" rtlCol="0" anchor="ctr"/>
          <a:lstStyle/>
          <a:p>
            <a:pPr marL="0" indent="0" algn="l">
              <a:buNone/>
            </a:pPr>
            <a:r>
              <a:rPr lang="en-US" sz="1000" b="1" dirty="0">
                <a:solidFill>
                  <a:srgbClr val="005AEE"/>
                </a:solidFill>
                <a:latin typeface="Arial" pitchFamily="34" charset="0"/>
                <a:ea typeface="Arial" pitchFamily="34" charset="-122"/>
                <a:cs typeface="Arial" pitchFamily="34" charset="-120"/>
              </a:rPr>
              <a:t>Contract performance</a:t>
            </a:r>
            <a:endParaRPr lang="en-US" sz="1000" dirty="0"/>
          </a:p>
        </p:txBody>
      </p:sp>
      <p:sp>
        <p:nvSpPr>
          <p:cNvPr id="22" name="Shape 20"/>
          <p:cNvSpPr/>
          <p:nvPr/>
        </p:nvSpPr>
        <p:spPr>
          <a:xfrm>
            <a:off x="5120640" y="2157984"/>
            <a:ext cx="1280160" cy="347472"/>
          </a:xfrm>
          <a:prstGeom prst="rect">
            <a:avLst/>
          </a:prstGeom>
          <a:solidFill>
            <a:srgbClr val="FFFFFF"/>
          </a:solidFill>
          <a:ln w="12700">
            <a:solidFill>
              <a:srgbClr val="E2E8F0"/>
            </a:solidFill>
            <a:prstDash val="solid"/>
          </a:ln>
        </p:spPr>
        <p:txBody>
          <a:bodyPr/>
          <a:lstStyle/>
          <a:p>
            <a:endParaRPr lang="de-DE"/>
          </a:p>
        </p:txBody>
      </p:sp>
      <p:sp>
        <p:nvSpPr>
          <p:cNvPr id="23" name="Text 21"/>
          <p:cNvSpPr/>
          <p:nvPr/>
        </p:nvSpPr>
        <p:spPr>
          <a:xfrm>
            <a:off x="5193792" y="2157984"/>
            <a:ext cx="118872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6(1)(b)</a:t>
            </a:r>
            <a:endParaRPr lang="en-US" sz="1000" dirty="0"/>
          </a:p>
        </p:txBody>
      </p:sp>
      <p:sp>
        <p:nvSpPr>
          <p:cNvPr id="24" name="Shape 22"/>
          <p:cNvSpPr/>
          <p:nvPr/>
        </p:nvSpPr>
        <p:spPr>
          <a:xfrm>
            <a:off x="6400800" y="2157984"/>
            <a:ext cx="2286000" cy="347472"/>
          </a:xfrm>
          <a:prstGeom prst="rect">
            <a:avLst/>
          </a:prstGeom>
          <a:solidFill>
            <a:srgbClr val="FFFFFF"/>
          </a:solidFill>
          <a:ln w="12700">
            <a:solidFill>
              <a:srgbClr val="E2E8F0"/>
            </a:solidFill>
            <a:prstDash val="solid"/>
          </a:ln>
        </p:spPr>
        <p:txBody>
          <a:bodyPr/>
          <a:lstStyle/>
          <a:p>
            <a:endParaRPr lang="de-DE"/>
          </a:p>
        </p:txBody>
      </p:sp>
      <p:sp>
        <p:nvSpPr>
          <p:cNvPr id="25" name="Text 23"/>
          <p:cNvSpPr/>
          <p:nvPr/>
        </p:nvSpPr>
        <p:spPr>
          <a:xfrm>
            <a:off x="6473952" y="2157984"/>
            <a:ext cx="219456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No consent needed</a:t>
            </a:r>
            <a:endParaRPr lang="en-US" sz="1000" dirty="0"/>
          </a:p>
        </p:txBody>
      </p:sp>
      <p:sp>
        <p:nvSpPr>
          <p:cNvPr id="26" name="Shape 24"/>
          <p:cNvSpPr/>
          <p:nvPr/>
        </p:nvSpPr>
        <p:spPr>
          <a:xfrm>
            <a:off x="457200" y="2523744"/>
            <a:ext cx="2788920" cy="347472"/>
          </a:xfrm>
          <a:prstGeom prst="rect">
            <a:avLst/>
          </a:prstGeom>
          <a:solidFill>
            <a:srgbClr val="F5F6F8"/>
          </a:solidFill>
          <a:ln w="12700">
            <a:solidFill>
              <a:srgbClr val="E2E8F0"/>
            </a:solidFill>
            <a:prstDash val="solid"/>
          </a:ln>
        </p:spPr>
        <p:txBody>
          <a:bodyPr/>
          <a:lstStyle/>
          <a:p>
            <a:endParaRPr lang="de-DE"/>
          </a:p>
        </p:txBody>
      </p:sp>
      <p:sp>
        <p:nvSpPr>
          <p:cNvPr id="27" name="Text 25"/>
          <p:cNvSpPr/>
          <p:nvPr/>
        </p:nvSpPr>
        <p:spPr>
          <a:xfrm>
            <a:off x="530352" y="2523744"/>
            <a:ext cx="269748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Payroll records &amp; invoices</a:t>
            </a:r>
            <a:endParaRPr lang="en-US" sz="1000" dirty="0"/>
          </a:p>
        </p:txBody>
      </p:sp>
      <p:sp>
        <p:nvSpPr>
          <p:cNvPr id="28" name="Shape 26"/>
          <p:cNvSpPr/>
          <p:nvPr/>
        </p:nvSpPr>
        <p:spPr>
          <a:xfrm>
            <a:off x="3246120" y="2523744"/>
            <a:ext cx="1874520" cy="347472"/>
          </a:xfrm>
          <a:prstGeom prst="rect">
            <a:avLst/>
          </a:prstGeom>
          <a:solidFill>
            <a:srgbClr val="F5F6F8"/>
          </a:solidFill>
          <a:ln w="12700">
            <a:solidFill>
              <a:srgbClr val="E2E8F0"/>
            </a:solidFill>
            <a:prstDash val="solid"/>
          </a:ln>
        </p:spPr>
        <p:txBody>
          <a:bodyPr/>
          <a:lstStyle/>
          <a:p>
            <a:endParaRPr lang="de-DE"/>
          </a:p>
        </p:txBody>
      </p:sp>
      <p:sp>
        <p:nvSpPr>
          <p:cNvPr id="29" name="Text 27"/>
          <p:cNvSpPr/>
          <p:nvPr/>
        </p:nvSpPr>
        <p:spPr>
          <a:xfrm>
            <a:off x="3319272" y="2523744"/>
            <a:ext cx="1783080" cy="347472"/>
          </a:xfrm>
          <a:prstGeom prst="rect">
            <a:avLst/>
          </a:prstGeom>
          <a:noFill/>
          <a:ln/>
        </p:spPr>
        <p:txBody>
          <a:bodyPr wrap="square" lIns="0" tIns="0" rIns="0" bIns="0" rtlCol="0" anchor="ctr"/>
          <a:lstStyle/>
          <a:p>
            <a:pPr marL="0" indent="0" algn="l">
              <a:buNone/>
            </a:pPr>
            <a:r>
              <a:rPr lang="en-US" sz="1000" b="1" dirty="0">
                <a:solidFill>
                  <a:srgbClr val="005AEE"/>
                </a:solidFill>
                <a:latin typeface="Arial" pitchFamily="34" charset="0"/>
                <a:ea typeface="Arial" pitchFamily="34" charset="-122"/>
                <a:cs typeface="Arial" pitchFamily="34" charset="-120"/>
              </a:rPr>
              <a:t>Legal obligation</a:t>
            </a:r>
            <a:endParaRPr lang="en-US" sz="1000" dirty="0"/>
          </a:p>
        </p:txBody>
      </p:sp>
      <p:sp>
        <p:nvSpPr>
          <p:cNvPr id="30" name="Shape 28"/>
          <p:cNvSpPr/>
          <p:nvPr/>
        </p:nvSpPr>
        <p:spPr>
          <a:xfrm>
            <a:off x="5120640" y="2523744"/>
            <a:ext cx="1280160" cy="347472"/>
          </a:xfrm>
          <a:prstGeom prst="rect">
            <a:avLst/>
          </a:prstGeom>
          <a:solidFill>
            <a:srgbClr val="F5F6F8"/>
          </a:solidFill>
          <a:ln w="12700">
            <a:solidFill>
              <a:srgbClr val="E2E8F0"/>
            </a:solidFill>
            <a:prstDash val="solid"/>
          </a:ln>
        </p:spPr>
        <p:txBody>
          <a:bodyPr/>
          <a:lstStyle/>
          <a:p>
            <a:endParaRPr lang="de-DE"/>
          </a:p>
        </p:txBody>
      </p:sp>
      <p:sp>
        <p:nvSpPr>
          <p:cNvPr id="31" name="Text 29"/>
          <p:cNvSpPr/>
          <p:nvPr/>
        </p:nvSpPr>
        <p:spPr>
          <a:xfrm>
            <a:off x="5193792" y="2523744"/>
            <a:ext cx="118872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6(1)(c)</a:t>
            </a:r>
            <a:endParaRPr lang="en-US" sz="1000" dirty="0"/>
          </a:p>
        </p:txBody>
      </p:sp>
      <p:sp>
        <p:nvSpPr>
          <p:cNvPr id="32" name="Shape 30"/>
          <p:cNvSpPr/>
          <p:nvPr/>
        </p:nvSpPr>
        <p:spPr>
          <a:xfrm>
            <a:off x="6400800" y="2523744"/>
            <a:ext cx="2286000" cy="347472"/>
          </a:xfrm>
          <a:prstGeom prst="rect">
            <a:avLst/>
          </a:prstGeom>
          <a:solidFill>
            <a:srgbClr val="F5F6F8"/>
          </a:solidFill>
          <a:ln w="12700">
            <a:solidFill>
              <a:srgbClr val="E2E8F0"/>
            </a:solidFill>
            <a:prstDash val="solid"/>
          </a:ln>
        </p:spPr>
        <p:txBody>
          <a:bodyPr/>
          <a:lstStyle/>
          <a:p>
            <a:endParaRPr lang="de-DE"/>
          </a:p>
        </p:txBody>
      </p:sp>
      <p:sp>
        <p:nvSpPr>
          <p:cNvPr id="33" name="Text 31"/>
          <p:cNvSpPr/>
          <p:nvPr/>
        </p:nvSpPr>
        <p:spPr>
          <a:xfrm>
            <a:off x="6473952" y="2523744"/>
            <a:ext cx="219456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Tax + labour law retention</a:t>
            </a:r>
            <a:endParaRPr lang="en-US" sz="1000" dirty="0"/>
          </a:p>
        </p:txBody>
      </p:sp>
      <p:sp>
        <p:nvSpPr>
          <p:cNvPr id="34" name="Shape 32"/>
          <p:cNvSpPr/>
          <p:nvPr/>
        </p:nvSpPr>
        <p:spPr>
          <a:xfrm>
            <a:off x="457200" y="2889504"/>
            <a:ext cx="2788920" cy="347472"/>
          </a:xfrm>
          <a:prstGeom prst="rect">
            <a:avLst/>
          </a:prstGeom>
          <a:solidFill>
            <a:srgbClr val="FFFFFF"/>
          </a:solidFill>
          <a:ln w="12700">
            <a:solidFill>
              <a:srgbClr val="E2E8F0"/>
            </a:solidFill>
            <a:prstDash val="solid"/>
          </a:ln>
        </p:spPr>
        <p:txBody>
          <a:bodyPr/>
          <a:lstStyle/>
          <a:p>
            <a:endParaRPr lang="de-DE"/>
          </a:p>
        </p:txBody>
      </p:sp>
      <p:sp>
        <p:nvSpPr>
          <p:cNvPr id="35" name="Text 33"/>
          <p:cNvSpPr/>
          <p:nvPr/>
        </p:nvSpPr>
        <p:spPr>
          <a:xfrm>
            <a:off x="530352" y="2889504"/>
            <a:ext cx="269748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LLM contract processing</a:t>
            </a:r>
            <a:endParaRPr lang="en-US" sz="1000" dirty="0"/>
          </a:p>
        </p:txBody>
      </p:sp>
      <p:sp>
        <p:nvSpPr>
          <p:cNvPr id="36" name="Shape 34"/>
          <p:cNvSpPr/>
          <p:nvPr/>
        </p:nvSpPr>
        <p:spPr>
          <a:xfrm>
            <a:off x="3246120" y="2889504"/>
            <a:ext cx="1874520" cy="347472"/>
          </a:xfrm>
          <a:prstGeom prst="rect">
            <a:avLst/>
          </a:prstGeom>
          <a:solidFill>
            <a:srgbClr val="FFFFFF"/>
          </a:solidFill>
          <a:ln w="12700">
            <a:solidFill>
              <a:srgbClr val="E2E8F0"/>
            </a:solidFill>
            <a:prstDash val="solid"/>
          </a:ln>
        </p:spPr>
        <p:txBody>
          <a:bodyPr/>
          <a:lstStyle/>
          <a:p>
            <a:endParaRPr lang="de-DE"/>
          </a:p>
        </p:txBody>
      </p:sp>
      <p:sp>
        <p:nvSpPr>
          <p:cNvPr id="37" name="Text 35"/>
          <p:cNvSpPr/>
          <p:nvPr/>
        </p:nvSpPr>
        <p:spPr>
          <a:xfrm>
            <a:off x="3319272" y="2889504"/>
            <a:ext cx="1783080" cy="347472"/>
          </a:xfrm>
          <a:prstGeom prst="rect">
            <a:avLst/>
          </a:prstGeom>
          <a:noFill/>
          <a:ln/>
        </p:spPr>
        <p:txBody>
          <a:bodyPr wrap="square" lIns="0" tIns="0" rIns="0" bIns="0" rtlCol="0" anchor="ctr"/>
          <a:lstStyle/>
          <a:p>
            <a:pPr marL="0" indent="0" algn="l">
              <a:buNone/>
            </a:pPr>
            <a:r>
              <a:rPr lang="en-US" sz="1000" b="1" dirty="0">
                <a:solidFill>
                  <a:srgbClr val="005AEE"/>
                </a:solidFill>
                <a:latin typeface="Arial" pitchFamily="34" charset="0"/>
                <a:ea typeface="Arial" pitchFamily="34" charset="-122"/>
                <a:cs typeface="Arial" pitchFamily="34" charset="-120"/>
              </a:rPr>
              <a:t>Legitimate interest</a:t>
            </a:r>
            <a:endParaRPr lang="en-US" sz="1000" dirty="0"/>
          </a:p>
        </p:txBody>
      </p:sp>
      <p:sp>
        <p:nvSpPr>
          <p:cNvPr id="38" name="Shape 36"/>
          <p:cNvSpPr/>
          <p:nvPr/>
        </p:nvSpPr>
        <p:spPr>
          <a:xfrm>
            <a:off x="5120640" y="2889504"/>
            <a:ext cx="1280160" cy="347472"/>
          </a:xfrm>
          <a:prstGeom prst="rect">
            <a:avLst/>
          </a:prstGeom>
          <a:solidFill>
            <a:srgbClr val="FFFFFF"/>
          </a:solidFill>
          <a:ln w="12700">
            <a:solidFill>
              <a:srgbClr val="E2E8F0"/>
            </a:solidFill>
            <a:prstDash val="solid"/>
          </a:ln>
        </p:spPr>
        <p:txBody>
          <a:bodyPr/>
          <a:lstStyle/>
          <a:p>
            <a:endParaRPr lang="de-DE"/>
          </a:p>
        </p:txBody>
      </p:sp>
      <p:sp>
        <p:nvSpPr>
          <p:cNvPr id="39" name="Text 37"/>
          <p:cNvSpPr/>
          <p:nvPr/>
        </p:nvSpPr>
        <p:spPr>
          <a:xfrm>
            <a:off x="5193792" y="2889504"/>
            <a:ext cx="118872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6(1)(f)</a:t>
            </a:r>
            <a:endParaRPr lang="en-US" sz="1000" dirty="0"/>
          </a:p>
        </p:txBody>
      </p:sp>
      <p:sp>
        <p:nvSpPr>
          <p:cNvPr id="40" name="Shape 38"/>
          <p:cNvSpPr/>
          <p:nvPr/>
        </p:nvSpPr>
        <p:spPr>
          <a:xfrm>
            <a:off x="6400800" y="2889504"/>
            <a:ext cx="2286000" cy="347472"/>
          </a:xfrm>
          <a:prstGeom prst="rect">
            <a:avLst/>
          </a:prstGeom>
          <a:solidFill>
            <a:srgbClr val="FFFFFF"/>
          </a:solidFill>
          <a:ln w="12700">
            <a:solidFill>
              <a:srgbClr val="E2E8F0"/>
            </a:solidFill>
            <a:prstDash val="solid"/>
          </a:ln>
        </p:spPr>
        <p:txBody>
          <a:bodyPr/>
          <a:lstStyle/>
          <a:p>
            <a:endParaRPr lang="de-DE"/>
          </a:p>
        </p:txBody>
      </p:sp>
      <p:sp>
        <p:nvSpPr>
          <p:cNvPr id="41" name="Text 39"/>
          <p:cNvSpPr/>
          <p:nvPr/>
        </p:nvSpPr>
        <p:spPr>
          <a:xfrm>
            <a:off x="6473952" y="2889504"/>
            <a:ext cx="219456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LIA completed · EU infra · DPA signed</a:t>
            </a:r>
            <a:endParaRPr lang="en-US" sz="1000" dirty="0"/>
          </a:p>
        </p:txBody>
      </p:sp>
      <p:sp>
        <p:nvSpPr>
          <p:cNvPr id="42" name="Shape 40"/>
          <p:cNvSpPr/>
          <p:nvPr/>
        </p:nvSpPr>
        <p:spPr>
          <a:xfrm>
            <a:off x="457200" y="3255264"/>
            <a:ext cx="2788920" cy="347472"/>
          </a:xfrm>
          <a:prstGeom prst="rect">
            <a:avLst/>
          </a:prstGeom>
          <a:solidFill>
            <a:srgbClr val="F5F6F8"/>
          </a:solidFill>
          <a:ln w="12700">
            <a:solidFill>
              <a:srgbClr val="E2E8F0"/>
            </a:solidFill>
            <a:prstDash val="solid"/>
          </a:ln>
        </p:spPr>
        <p:txBody>
          <a:bodyPr/>
          <a:lstStyle/>
          <a:p>
            <a:endParaRPr lang="de-DE"/>
          </a:p>
        </p:txBody>
      </p:sp>
      <p:sp>
        <p:nvSpPr>
          <p:cNvPr id="43" name="Text 41"/>
          <p:cNvSpPr/>
          <p:nvPr/>
        </p:nvSpPr>
        <p:spPr>
          <a:xfrm>
            <a:off x="530352" y="3255264"/>
            <a:ext cx="269748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LangSmith traces</a:t>
            </a:r>
            <a:endParaRPr lang="en-US" sz="1000" dirty="0"/>
          </a:p>
        </p:txBody>
      </p:sp>
      <p:sp>
        <p:nvSpPr>
          <p:cNvPr id="44" name="Shape 42"/>
          <p:cNvSpPr/>
          <p:nvPr/>
        </p:nvSpPr>
        <p:spPr>
          <a:xfrm>
            <a:off x="3246120" y="3255264"/>
            <a:ext cx="1874520" cy="347472"/>
          </a:xfrm>
          <a:prstGeom prst="rect">
            <a:avLst/>
          </a:prstGeom>
          <a:solidFill>
            <a:srgbClr val="F5F6F8"/>
          </a:solidFill>
          <a:ln w="12700">
            <a:solidFill>
              <a:srgbClr val="E2E8F0"/>
            </a:solidFill>
            <a:prstDash val="solid"/>
          </a:ln>
        </p:spPr>
        <p:txBody>
          <a:bodyPr/>
          <a:lstStyle/>
          <a:p>
            <a:endParaRPr lang="de-DE"/>
          </a:p>
        </p:txBody>
      </p:sp>
      <p:sp>
        <p:nvSpPr>
          <p:cNvPr id="45" name="Text 43"/>
          <p:cNvSpPr/>
          <p:nvPr/>
        </p:nvSpPr>
        <p:spPr>
          <a:xfrm>
            <a:off x="3319272" y="3255264"/>
            <a:ext cx="1783080" cy="347472"/>
          </a:xfrm>
          <a:prstGeom prst="rect">
            <a:avLst/>
          </a:prstGeom>
          <a:noFill/>
          <a:ln/>
        </p:spPr>
        <p:txBody>
          <a:bodyPr wrap="square" lIns="0" tIns="0" rIns="0" bIns="0" rtlCol="0" anchor="ctr"/>
          <a:lstStyle/>
          <a:p>
            <a:pPr marL="0" indent="0" algn="l">
              <a:buNone/>
            </a:pPr>
            <a:r>
              <a:rPr lang="en-US" sz="1000" b="1" dirty="0">
                <a:solidFill>
                  <a:srgbClr val="005AEE"/>
                </a:solidFill>
                <a:latin typeface="Arial" pitchFamily="34" charset="0"/>
                <a:ea typeface="Arial" pitchFamily="34" charset="-122"/>
                <a:cs typeface="Arial" pitchFamily="34" charset="-120"/>
              </a:rPr>
              <a:t>Legitimate interest</a:t>
            </a:r>
            <a:endParaRPr lang="en-US" sz="1000" dirty="0"/>
          </a:p>
        </p:txBody>
      </p:sp>
      <p:sp>
        <p:nvSpPr>
          <p:cNvPr id="46" name="Shape 44"/>
          <p:cNvSpPr/>
          <p:nvPr/>
        </p:nvSpPr>
        <p:spPr>
          <a:xfrm>
            <a:off x="5120640" y="3255264"/>
            <a:ext cx="1280160" cy="347472"/>
          </a:xfrm>
          <a:prstGeom prst="rect">
            <a:avLst/>
          </a:prstGeom>
          <a:solidFill>
            <a:srgbClr val="F5F6F8"/>
          </a:solidFill>
          <a:ln w="12700">
            <a:solidFill>
              <a:srgbClr val="E2E8F0"/>
            </a:solidFill>
            <a:prstDash val="solid"/>
          </a:ln>
        </p:spPr>
        <p:txBody>
          <a:bodyPr/>
          <a:lstStyle/>
          <a:p>
            <a:endParaRPr lang="de-DE"/>
          </a:p>
        </p:txBody>
      </p:sp>
      <p:sp>
        <p:nvSpPr>
          <p:cNvPr id="47" name="Text 45"/>
          <p:cNvSpPr/>
          <p:nvPr/>
        </p:nvSpPr>
        <p:spPr>
          <a:xfrm>
            <a:off x="5193792" y="3255264"/>
            <a:ext cx="118872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6(1)(f)</a:t>
            </a:r>
            <a:endParaRPr lang="en-US" sz="1000" dirty="0"/>
          </a:p>
        </p:txBody>
      </p:sp>
      <p:sp>
        <p:nvSpPr>
          <p:cNvPr id="48" name="Shape 46"/>
          <p:cNvSpPr/>
          <p:nvPr/>
        </p:nvSpPr>
        <p:spPr>
          <a:xfrm>
            <a:off x="6400800" y="3255264"/>
            <a:ext cx="2286000" cy="347472"/>
          </a:xfrm>
          <a:prstGeom prst="rect">
            <a:avLst/>
          </a:prstGeom>
          <a:solidFill>
            <a:srgbClr val="F5F6F8"/>
          </a:solidFill>
          <a:ln w="12700">
            <a:solidFill>
              <a:srgbClr val="E2E8F0"/>
            </a:solidFill>
            <a:prstDash val="solid"/>
          </a:ln>
        </p:spPr>
        <p:txBody>
          <a:bodyPr/>
          <a:lstStyle/>
          <a:p>
            <a:endParaRPr lang="de-DE"/>
          </a:p>
        </p:txBody>
      </p:sp>
      <p:sp>
        <p:nvSpPr>
          <p:cNvPr id="49" name="Text 47"/>
          <p:cNvSpPr/>
          <p:nvPr/>
        </p:nvSpPr>
        <p:spPr>
          <a:xfrm>
            <a:off x="6473952" y="3255264"/>
            <a:ext cx="2194560" cy="347472"/>
          </a:xfrm>
          <a:prstGeom prst="rect">
            <a:avLst/>
          </a:prstGeom>
          <a:noFill/>
          <a:ln/>
        </p:spPr>
        <p:txBody>
          <a:bodyPr wrap="square" lIns="0" tIns="0" rIns="0" bIns="0" rtlCol="0" anchor="ctr"/>
          <a:lstStyle/>
          <a:p>
            <a:pPr marL="0" indent="0" algn="l">
              <a:buNone/>
            </a:pPr>
            <a:r>
              <a:rPr lang="en-US" sz="1000" dirty="0">
                <a:solidFill>
                  <a:srgbClr val="111111"/>
                </a:solidFill>
                <a:latin typeface="Arial" pitchFamily="34" charset="0"/>
                <a:ea typeface="Arial" pitchFamily="34" charset="-122"/>
                <a:cs typeface="Arial" pitchFamily="34" charset="-120"/>
              </a:rPr>
              <a:t>PII redacted · 90-day retention max</a:t>
            </a:r>
            <a:endParaRPr lang="en-US" sz="1000" dirty="0"/>
          </a:p>
        </p:txBody>
      </p:sp>
      <p:sp>
        <p:nvSpPr>
          <p:cNvPr id="50" name="Text 48"/>
          <p:cNvSpPr/>
          <p:nvPr/>
        </p:nvSpPr>
        <p:spPr>
          <a:xfrm>
            <a:off x="457200" y="3712464"/>
            <a:ext cx="8229600" cy="310896"/>
          </a:xfrm>
          <a:prstGeom prst="rect">
            <a:avLst/>
          </a:prstGeom>
          <a:noFill/>
          <a:ln/>
        </p:spPr>
        <p:txBody>
          <a:bodyPr wrap="square" lIns="0" tIns="0" rIns="0" bIns="0" rtlCol="0" anchor="ctr"/>
          <a:lstStyle/>
          <a:p>
            <a:pPr marL="0" indent="0" algn="l">
              <a:buNone/>
            </a:pPr>
            <a:r>
              <a:rPr lang="en-US" sz="1200" b="1" dirty="0">
                <a:solidFill>
                  <a:srgbClr val="111111"/>
                </a:solidFill>
                <a:latin typeface="Arial" pitchFamily="34" charset="0"/>
                <a:ea typeface="Arial" pitchFamily="34" charset="-122"/>
                <a:cs typeface="Arial" pitchFamily="34" charset="-120"/>
              </a:rPr>
              <a:t>Other Applicable Law</a:t>
            </a:r>
            <a:endParaRPr lang="en-US" sz="1200" dirty="0"/>
          </a:p>
        </p:txBody>
      </p:sp>
      <p:sp>
        <p:nvSpPr>
          <p:cNvPr id="51" name="Text 49"/>
          <p:cNvSpPr/>
          <p:nvPr/>
        </p:nvSpPr>
        <p:spPr>
          <a:xfrm>
            <a:off x="457200" y="4096512"/>
            <a:ext cx="8229600" cy="228600"/>
          </a:xfrm>
          <a:prstGeom prst="rect">
            <a:avLst/>
          </a:prstGeom>
          <a:noFill/>
          <a:ln/>
        </p:spPr>
        <p:txBody>
          <a:bodyPr wrap="square" lIns="0" tIns="0" rIns="0" bIns="0" rtlCol="0" anchor="ctr"/>
          <a:lstStyle/>
          <a:p>
            <a:pPr marL="0" indent="0" algn="l">
              <a:buNone/>
            </a:pPr>
            <a:r>
              <a:rPr lang="en-US" sz="1050" b="1" dirty="0">
                <a:solidFill>
                  <a:srgbClr val="005AEE"/>
                </a:solidFill>
                <a:latin typeface="Arial" pitchFamily="34" charset="0"/>
                <a:ea typeface="Arial" pitchFamily="34" charset="-122"/>
                <a:cs typeface="Arial" pitchFamily="34" charset="-120"/>
              </a:rPr>
              <a:t>NL DBA Act (2025):  </a:t>
            </a:r>
            <a:r>
              <a:rPr lang="en-US" sz="1050" dirty="0">
                <a:solidFill>
                  <a:srgbClr val="4A4A4A"/>
                </a:solidFill>
                <a:latin typeface="Arial" pitchFamily="34" charset="0"/>
                <a:ea typeface="Arial" pitchFamily="34" charset="-122"/>
                <a:cs typeface="Arial" pitchFamily="34" charset="-120"/>
              </a:rPr>
              <a:t>Agent 4 flags misclassification — human + legal review before reclassification</a:t>
            </a:r>
            <a:endParaRPr lang="en-US" sz="1050" dirty="0"/>
          </a:p>
        </p:txBody>
      </p:sp>
      <p:sp>
        <p:nvSpPr>
          <p:cNvPr id="52" name="Text 50"/>
          <p:cNvSpPr/>
          <p:nvPr/>
        </p:nvSpPr>
        <p:spPr>
          <a:xfrm>
            <a:off x="457200" y="4334256"/>
            <a:ext cx="8229600" cy="228600"/>
          </a:xfrm>
          <a:prstGeom prst="rect">
            <a:avLst/>
          </a:prstGeom>
          <a:noFill/>
          <a:ln/>
        </p:spPr>
        <p:txBody>
          <a:bodyPr wrap="square" lIns="0" tIns="0" rIns="0" bIns="0" rtlCol="0" anchor="ctr"/>
          <a:lstStyle/>
          <a:p>
            <a:pPr marL="0" indent="0" algn="l">
              <a:buNone/>
            </a:pPr>
            <a:r>
              <a:rPr lang="en-US" sz="1050" b="1" dirty="0">
                <a:solidFill>
                  <a:srgbClr val="005AEE"/>
                </a:solidFill>
                <a:latin typeface="Arial" pitchFamily="34" charset="0"/>
                <a:ea typeface="Arial" pitchFamily="34" charset="-122"/>
                <a:cs typeface="Arial" pitchFamily="34" charset="-120"/>
              </a:rPr>
              <a:t>German BetrVG:  </a:t>
            </a:r>
            <a:r>
              <a:rPr lang="en-US" sz="1050" dirty="0">
                <a:solidFill>
                  <a:srgbClr val="4A4A4A"/>
                </a:solidFill>
                <a:latin typeface="Arial" pitchFamily="34" charset="0"/>
                <a:ea typeface="Arial" pitchFamily="34" charset="-122"/>
                <a:cs typeface="Arial" pitchFamily="34" charset="-120"/>
              </a:rPr>
              <a:t>Works council consulted before go-live — SilverTrust provides documentation</a:t>
            </a:r>
            <a:endParaRPr lang="en-US" sz="1050" dirty="0"/>
          </a:p>
        </p:txBody>
      </p:sp>
      <p:sp>
        <p:nvSpPr>
          <p:cNvPr id="53" name="Text 51"/>
          <p:cNvSpPr/>
          <p:nvPr/>
        </p:nvSpPr>
        <p:spPr>
          <a:xfrm>
            <a:off x="457200" y="4572000"/>
            <a:ext cx="8229600" cy="228600"/>
          </a:xfrm>
          <a:prstGeom prst="rect">
            <a:avLst/>
          </a:prstGeom>
          <a:noFill/>
          <a:ln/>
        </p:spPr>
        <p:txBody>
          <a:bodyPr wrap="square" lIns="0" tIns="0" rIns="0" bIns="0" rtlCol="0" anchor="ctr"/>
          <a:lstStyle/>
          <a:p>
            <a:pPr marL="0" indent="0" algn="l">
              <a:buNone/>
            </a:pPr>
            <a:r>
              <a:rPr lang="en-US" sz="1050" b="1" dirty="0">
                <a:solidFill>
                  <a:srgbClr val="005AEE"/>
                </a:solidFill>
                <a:latin typeface="Arial" pitchFamily="34" charset="0"/>
                <a:ea typeface="Arial" pitchFamily="34" charset="-122"/>
                <a:cs typeface="Arial" pitchFamily="34" charset="-120"/>
              </a:rPr>
              <a:t>India DPDP / Philippines DPA:  </a:t>
            </a:r>
            <a:r>
              <a:rPr lang="en-US" sz="1050" dirty="0">
                <a:solidFill>
                  <a:srgbClr val="4A4A4A"/>
                </a:solidFill>
                <a:latin typeface="Arial" pitchFamily="34" charset="0"/>
                <a:ea typeface="Arial" pitchFamily="34" charset="-122"/>
                <a:cs typeface="Arial" pitchFamily="34" charset="-120"/>
              </a:rPr>
              <a:t>Data stays EU-side — local counsel for processing obligations</a:t>
            </a:r>
            <a:endParaRPr lang="en-US" sz="1050" dirty="0"/>
          </a:p>
        </p:txBody>
      </p:sp>
      <p:sp>
        <p:nvSpPr>
          <p:cNvPr id="54" name="Text 52"/>
          <p:cNvSpPr/>
          <p:nvPr/>
        </p:nvSpPr>
        <p:spPr>
          <a:xfrm>
            <a:off x="457200" y="4809744"/>
            <a:ext cx="8229600" cy="228600"/>
          </a:xfrm>
          <a:prstGeom prst="rect">
            <a:avLst/>
          </a:prstGeom>
          <a:noFill/>
          <a:ln/>
        </p:spPr>
        <p:txBody>
          <a:bodyPr wrap="square" lIns="0" tIns="0" rIns="0" bIns="0" rtlCol="0" anchor="ctr"/>
          <a:lstStyle/>
          <a:p>
            <a:pPr marL="0" indent="0" algn="l">
              <a:buNone/>
            </a:pPr>
            <a:r>
              <a:rPr lang="en-US" sz="1050" b="1" dirty="0">
                <a:solidFill>
                  <a:srgbClr val="005AEE"/>
                </a:solidFill>
                <a:latin typeface="Arial" pitchFamily="34" charset="0"/>
                <a:ea typeface="Arial" pitchFamily="34" charset="-122"/>
                <a:cs typeface="Arial" pitchFamily="34" charset="-120"/>
              </a:rPr>
              <a:t>Russia:  </a:t>
            </a:r>
            <a:r>
              <a:rPr lang="en-US" sz="1050" dirty="0">
                <a:solidFill>
                  <a:srgbClr val="4A4A4A"/>
                </a:solidFill>
                <a:latin typeface="Arial" pitchFamily="34" charset="0"/>
                <a:ea typeface="Arial" pitchFamily="34" charset="-122"/>
                <a:cs typeface="Arial" pitchFamily="34" charset="-120"/>
              </a:rPr>
              <a:t>Out of scope v1 — sanctions + data localisation require specialist legal advice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The black box has windows — every AI decision is logged and auditable</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04  MONITORING</a:t>
            </a:r>
            <a:endParaRPr lang="en-US" sz="850" dirty="0"/>
          </a:p>
        </p:txBody>
      </p:sp>
      <p:sp>
        <p:nvSpPr>
          <p:cNvPr id="7" name="Shape 5"/>
          <p:cNvSpPr/>
          <p:nvPr/>
        </p:nvSpPr>
        <p:spPr>
          <a:xfrm>
            <a:off x="457200" y="1261872"/>
            <a:ext cx="8229600" cy="475488"/>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75488"/>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75488"/>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If a regulator asks what happened with a specific contractor, we show the complete chain in under five minutes.</a:t>
            </a:r>
            <a:endParaRPr lang="en-US" sz="1250" dirty="0"/>
          </a:p>
        </p:txBody>
      </p:sp>
      <p:sp>
        <p:nvSpPr>
          <p:cNvPr id="10" name="Shape 8"/>
          <p:cNvSpPr/>
          <p:nvPr/>
        </p:nvSpPr>
        <p:spPr>
          <a:xfrm>
            <a:off x="457200" y="1847088"/>
            <a:ext cx="4023360" cy="530352"/>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457200" y="1847088"/>
            <a:ext cx="45720" cy="530352"/>
          </a:xfrm>
          <a:prstGeom prst="rect">
            <a:avLst/>
          </a:prstGeom>
          <a:solidFill>
            <a:srgbClr val="005AEE"/>
          </a:solidFill>
          <a:ln w="12700">
            <a:solidFill>
              <a:srgbClr val="005AEE"/>
            </a:solidFill>
            <a:prstDash val="solid"/>
          </a:ln>
        </p:spPr>
        <p:txBody>
          <a:bodyPr/>
          <a:lstStyle/>
          <a:p>
            <a:endParaRPr lang="de-DE"/>
          </a:p>
        </p:txBody>
      </p:sp>
      <p:sp>
        <p:nvSpPr>
          <p:cNvPr id="12" name="Text 10"/>
          <p:cNvSpPr/>
          <p:nvPr/>
        </p:nvSpPr>
        <p:spPr>
          <a:xfrm>
            <a:off x="621792" y="1847088"/>
            <a:ext cx="3730752" cy="530352"/>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Extraction confidence  </a:t>
            </a:r>
            <a:r>
              <a:rPr lang="en-US" sz="1100" dirty="0">
                <a:solidFill>
                  <a:srgbClr val="4A4A4A"/>
                </a:solidFill>
                <a:latin typeface="Arial" pitchFamily="34" charset="0"/>
                <a:ea typeface="Arial" pitchFamily="34" charset="-122"/>
                <a:cs typeface="Arial" pitchFamily="34" charset="-120"/>
              </a:rPr>
              <a:t>Alert &lt; 0.80 on rate, jurisdiction, IP</a:t>
            </a:r>
            <a:endParaRPr lang="en-US" sz="1100" dirty="0"/>
          </a:p>
        </p:txBody>
      </p:sp>
      <p:sp>
        <p:nvSpPr>
          <p:cNvPr id="13" name="Shape 11"/>
          <p:cNvSpPr/>
          <p:nvPr/>
        </p:nvSpPr>
        <p:spPr>
          <a:xfrm>
            <a:off x="457200" y="2450592"/>
            <a:ext cx="4023360" cy="530352"/>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4" name="Shape 12"/>
          <p:cNvSpPr/>
          <p:nvPr/>
        </p:nvSpPr>
        <p:spPr>
          <a:xfrm>
            <a:off x="457200" y="2450592"/>
            <a:ext cx="45720" cy="530352"/>
          </a:xfrm>
          <a:prstGeom prst="rect">
            <a:avLst/>
          </a:prstGeom>
          <a:solidFill>
            <a:srgbClr val="005AEE"/>
          </a:solidFill>
          <a:ln w="12700">
            <a:solidFill>
              <a:srgbClr val="005AEE"/>
            </a:solidFill>
            <a:prstDash val="solid"/>
          </a:ln>
        </p:spPr>
        <p:txBody>
          <a:bodyPr/>
          <a:lstStyle/>
          <a:p>
            <a:endParaRPr lang="de-DE"/>
          </a:p>
        </p:txBody>
      </p:sp>
      <p:sp>
        <p:nvSpPr>
          <p:cNvPr id="15" name="Text 13"/>
          <p:cNvSpPr/>
          <p:nvPr/>
        </p:nvSpPr>
        <p:spPr>
          <a:xfrm>
            <a:off x="621792" y="2450592"/>
            <a:ext cx="3730752" cy="530352"/>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Human override rate  </a:t>
            </a:r>
            <a:r>
              <a:rPr lang="en-US" sz="1100" dirty="0">
                <a:solidFill>
                  <a:srgbClr val="4A4A4A"/>
                </a:solidFill>
                <a:latin typeface="Arial" pitchFamily="34" charset="0"/>
                <a:ea typeface="Arial" pitchFamily="34" charset="-122"/>
                <a:cs typeface="Arial" pitchFamily="34" charset="-120"/>
              </a:rPr>
              <a:t>Alert &gt; 20% in 7-day window</a:t>
            </a:r>
            <a:endParaRPr lang="en-US" sz="1100" dirty="0"/>
          </a:p>
        </p:txBody>
      </p:sp>
      <p:sp>
        <p:nvSpPr>
          <p:cNvPr id="16" name="Shape 14"/>
          <p:cNvSpPr/>
          <p:nvPr/>
        </p:nvSpPr>
        <p:spPr>
          <a:xfrm>
            <a:off x="457200" y="3054096"/>
            <a:ext cx="4023360" cy="530352"/>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7" name="Shape 15"/>
          <p:cNvSpPr/>
          <p:nvPr/>
        </p:nvSpPr>
        <p:spPr>
          <a:xfrm>
            <a:off x="457200" y="3054096"/>
            <a:ext cx="45720" cy="530352"/>
          </a:xfrm>
          <a:prstGeom prst="rect">
            <a:avLst/>
          </a:prstGeom>
          <a:solidFill>
            <a:srgbClr val="005AEE"/>
          </a:solidFill>
          <a:ln w="12700">
            <a:solidFill>
              <a:srgbClr val="005AEE"/>
            </a:solidFill>
            <a:prstDash val="solid"/>
          </a:ln>
        </p:spPr>
        <p:txBody>
          <a:bodyPr/>
          <a:lstStyle/>
          <a:p>
            <a:endParaRPr lang="de-DE"/>
          </a:p>
        </p:txBody>
      </p:sp>
      <p:sp>
        <p:nvSpPr>
          <p:cNvPr id="18" name="Text 16"/>
          <p:cNvSpPr/>
          <p:nvPr/>
        </p:nvSpPr>
        <p:spPr>
          <a:xfrm>
            <a:off x="621792" y="3054096"/>
            <a:ext cx="3730752" cy="530352"/>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Latency per agent  </a:t>
            </a:r>
            <a:r>
              <a:rPr lang="en-US" sz="1100" dirty="0">
                <a:solidFill>
                  <a:srgbClr val="4A4A4A"/>
                </a:solidFill>
                <a:latin typeface="Arial" pitchFamily="34" charset="0"/>
                <a:ea typeface="Arial" pitchFamily="34" charset="-122"/>
                <a:cs typeface="Arial" pitchFamily="34" charset="-120"/>
              </a:rPr>
              <a:t>Alert p95 &gt; 30 seconds</a:t>
            </a:r>
            <a:endParaRPr lang="en-US" sz="1100" dirty="0"/>
          </a:p>
        </p:txBody>
      </p:sp>
      <p:sp>
        <p:nvSpPr>
          <p:cNvPr id="19" name="Shape 17"/>
          <p:cNvSpPr/>
          <p:nvPr/>
        </p:nvSpPr>
        <p:spPr>
          <a:xfrm>
            <a:off x="4663440" y="1847088"/>
            <a:ext cx="4023360" cy="530352"/>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0" name="Shape 18"/>
          <p:cNvSpPr/>
          <p:nvPr/>
        </p:nvSpPr>
        <p:spPr>
          <a:xfrm>
            <a:off x="4663440" y="1847088"/>
            <a:ext cx="45720" cy="530352"/>
          </a:xfrm>
          <a:prstGeom prst="rect">
            <a:avLst/>
          </a:prstGeom>
          <a:solidFill>
            <a:srgbClr val="005AEE"/>
          </a:solidFill>
          <a:ln w="12700">
            <a:solidFill>
              <a:srgbClr val="005AEE"/>
            </a:solidFill>
            <a:prstDash val="solid"/>
          </a:ln>
        </p:spPr>
        <p:txBody>
          <a:bodyPr/>
          <a:lstStyle/>
          <a:p>
            <a:endParaRPr lang="de-DE"/>
          </a:p>
        </p:txBody>
      </p:sp>
      <p:sp>
        <p:nvSpPr>
          <p:cNvPr id="21" name="Text 19"/>
          <p:cNvSpPr/>
          <p:nvPr/>
        </p:nvSpPr>
        <p:spPr>
          <a:xfrm>
            <a:off x="4828032" y="1847088"/>
            <a:ext cx="3730752" cy="530352"/>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Failed extractions  </a:t>
            </a:r>
            <a:r>
              <a:rPr lang="en-US" sz="1100" dirty="0">
                <a:solidFill>
                  <a:srgbClr val="4A4A4A"/>
                </a:solidFill>
                <a:latin typeface="Arial" pitchFamily="34" charset="0"/>
                <a:ea typeface="Arial" pitchFamily="34" charset="-122"/>
                <a:cs typeface="Arial" pitchFamily="34" charset="-120"/>
              </a:rPr>
              <a:t>Zero tolerance — immediate alert</a:t>
            </a:r>
            <a:endParaRPr lang="en-US" sz="1100" dirty="0"/>
          </a:p>
        </p:txBody>
      </p:sp>
      <p:sp>
        <p:nvSpPr>
          <p:cNvPr id="22" name="Shape 20"/>
          <p:cNvSpPr/>
          <p:nvPr/>
        </p:nvSpPr>
        <p:spPr>
          <a:xfrm>
            <a:off x="4663440" y="2450592"/>
            <a:ext cx="4023360" cy="530352"/>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3" name="Shape 21"/>
          <p:cNvSpPr/>
          <p:nvPr/>
        </p:nvSpPr>
        <p:spPr>
          <a:xfrm>
            <a:off x="4663440" y="2450592"/>
            <a:ext cx="45720" cy="530352"/>
          </a:xfrm>
          <a:prstGeom prst="rect">
            <a:avLst/>
          </a:prstGeom>
          <a:solidFill>
            <a:srgbClr val="005AEE"/>
          </a:solidFill>
          <a:ln w="12700">
            <a:solidFill>
              <a:srgbClr val="005AEE"/>
            </a:solidFill>
            <a:prstDash val="solid"/>
          </a:ln>
        </p:spPr>
        <p:txBody>
          <a:bodyPr/>
          <a:lstStyle/>
          <a:p>
            <a:endParaRPr lang="de-DE"/>
          </a:p>
        </p:txBody>
      </p:sp>
      <p:sp>
        <p:nvSpPr>
          <p:cNvPr id="24" name="Text 22"/>
          <p:cNvSpPr/>
          <p:nvPr/>
        </p:nvSpPr>
        <p:spPr>
          <a:xfrm>
            <a:off x="4828032" y="2450592"/>
            <a:ext cx="3730752" cy="530352"/>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Compliance flag trend  </a:t>
            </a:r>
            <a:r>
              <a:rPr lang="en-US" sz="1100" dirty="0">
                <a:solidFill>
                  <a:srgbClr val="4A4A4A"/>
                </a:solidFill>
                <a:latin typeface="Arial" pitchFamily="34" charset="0"/>
                <a:ea typeface="Arial" pitchFamily="34" charset="-122"/>
                <a:cs typeface="Arial" pitchFamily="34" charset="-120"/>
              </a:rPr>
              <a:t>Alert if Red &gt; 10% of new contracts</a:t>
            </a:r>
            <a:endParaRPr lang="en-US" sz="1100" dirty="0"/>
          </a:p>
        </p:txBody>
      </p:sp>
      <p:sp>
        <p:nvSpPr>
          <p:cNvPr id="25" name="Shape 23"/>
          <p:cNvSpPr/>
          <p:nvPr/>
        </p:nvSpPr>
        <p:spPr>
          <a:xfrm>
            <a:off x="4663440" y="3054096"/>
            <a:ext cx="4023360" cy="530352"/>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6" name="Shape 24"/>
          <p:cNvSpPr/>
          <p:nvPr/>
        </p:nvSpPr>
        <p:spPr>
          <a:xfrm>
            <a:off x="4663440" y="3054096"/>
            <a:ext cx="45720" cy="530352"/>
          </a:xfrm>
          <a:prstGeom prst="rect">
            <a:avLst/>
          </a:prstGeom>
          <a:solidFill>
            <a:srgbClr val="005AEE"/>
          </a:solidFill>
          <a:ln w="12700">
            <a:solidFill>
              <a:srgbClr val="005AEE"/>
            </a:solidFill>
            <a:prstDash val="solid"/>
          </a:ln>
        </p:spPr>
        <p:txBody>
          <a:bodyPr/>
          <a:lstStyle/>
          <a:p>
            <a:endParaRPr lang="de-DE"/>
          </a:p>
        </p:txBody>
      </p:sp>
      <p:sp>
        <p:nvSpPr>
          <p:cNvPr id="27" name="Text 25"/>
          <p:cNvSpPr/>
          <p:nvPr/>
        </p:nvSpPr>
        <p:spPr>
          <a:xfrm>
            <a:off x="4828032" y="3054096"/>
            <a:ext cx="3730752" cy="530352"/>
          </a:xfrm>
          <a:prstGeom prst="rect">
            <a:avLst/>
          </a:prstGeom>
          <a:noFill/>
          <a:ln/>
        </p:spPr>
        <p:txBody>
          <a:bodyPr wrap="square" lIns="0" tIns="0" rIns="0" bIns="0" rtlCol="0" anchor="ctr"/>
          <a:lstStyle/>
          <a:p>
            <a:pPr marL="0" indent="0" algn="l">
              <a:buNone/>
            </a:pPr>
            <a:r>
              <a:rPr lang="en-US" sz="1100" b="1" dirty="0">
                <a:solidFill>
                  <a:srgbClr val="111111"/>
                </a:solidFill>
                <a:latin typeface="Arial" pitchFamily="34" charset="0"/>
                <a:ea typeface="Arial" pitchFamily="34" charset="-122"/>
                <a:cs typeface="Arial" pitchFamily="34" charset="-120"/>
              </a:rPr>
              <a:t>PII redaction audit  </a:t>
            </a:r>
            <a:r>
              <a:rPr lang="en-US" sz="1100" dirty="0">
                <a:solidFill>
                  <a:srgbClr val="4A4A4A"/>
                </a:solidFill>
                <a:latin typeface="Arial" pitchFamily="34" charset="0"/>
                <a:ea typeface="Arial" pitchFamily="34" charset="-122"/>
                <a:cs typeface="Arial" pitchFamily="34" charset="-120"/>
              </a:rPr>
              <a:t>Weekly — zero tolerance for PII in traces</a:t>
            </a:r>
            <a:endParaRPr lang="en-US" sz="1100" dirty="0"/>
          </a:p>
        </p:txBody>
      </p:sp>
      <p:sp>
        <p:nvSpPr>
          <p:cNvPr id="28" name="Shape 26"/>
          <p:cNvSpPr/>
          <p:nvPr/>
        </p:nvSpPr>
        <p:spPr>
          <a:xfrm>
            <a:off x="457200" y="3730752"/>
            <a:ext cx="8229600" cy="1316736"/>
          </a:xfrm>
          <a:prstGeom prst="rect">
            <a:avLst/>
          </a:prstGeom>
          <a:solidFill>
            <a:srgbClr val="F0FDF4"/>
          </a:solidFill>
          <a:ln w="12700">
            <a:solidFill>
              <a:srgbClr val="16A34A"/>
            </a:solidFill>
            <a:prstDash val="solid"/>
          </a:ln>
        </p:spPr>
        <p:txBody>
          <a:bodyPr/>
          <a:lstStyle/>
          <a:p>
            <a:endParaRPr lang="de-DE"/>
          </a:p>
        </p:txBody>
      </p:sp>
      <p:sp>
        <p:nvSpPr>
          <p:cNvPr id="29" name="Shape 27"/>
          <p:cNvSpPr/>
          <p:nvPr/>
        </p:nvSpPr>
        <p:spPr>
          <a:xfrm>
            <a:off x="457200" y="3730752"/>
            <a:ext cx="45720" cy="1316736"/>
          </a:xfrm>
          <a:prstGeom prst="rect">
            <a:avLst/>
          </a:prstGeom>
          <a:solidFill>
            <a:srgbClr val="16A34A"/>
          </a:solidFill>
          <a:ln w="12700">
            <a:solidFill>
              <a:srgbClr val="16A34A"/>
            </a:solidFill>
            <a:prstDash val="solid"/>
          </a:ln>
        </p:spPr>
        <p:txBody>
          <a:bodyPr/>
          <a:lstStyle/>
          <a:p>
            <a:endParaRPr lang="de-DE"/>
          </a:p>
        </p:txBody>
      </p:sp>
      <p:sp>
        <p:nvSpPr>
          <p:cNvPr id="30" name="Text 28"/>
          <p:cNvSpPr/>
          <p:nvPr/>
        </p:nvSpPr>
        <p:spPr>
          <a:xfrm>
            <a:off x="640080" y="3785616"/>
            <a:ext cx="7863840" cy="329184"/>
          </a:xfrm>
          <a:prstGeom prst="rect">
            <a:avLst/>
          </a:prstGeom>
          <a:noFill/>
          <a:ln/>
        </p:spPr>
        <p:txBody>
          <a:bodyPr wrap="square" lIns="0" tIns="0" rIns="0" bIns="0" rtlCol="0" anchor="ctr"/>
          <a:lstStyle/>
          <a:p>
            <a:pPr marL="0" indent="0" algn="l">
              <a:buNone/>
            </a:pPr>
            <a:r>
              <a:rPr lang="en-US" sz="1200" b="1" dirty="0">
                <a:solidFill>
                  <a:srgbClr val="16A34A"/>
                </a:solidFill>
                <a:latin typeface="Arial" pitchFamily="34" charset="0"/>
                <a:ea typeface="Arial" pitchFamily="34" charset="-122"/>
                <a:cs typeface="Arial" pitchFamily="34" charset="-120"/>
              </a:rPr>
              <a:t>✓  Live — contractos-oracle-prod</a:t>
            </a:r>
            <a:endParaRPr lang="en-US" sz="1200" dirty="0"/>
          </a:p>
        </p:txBody>
      </p:sp>
      <p:sp>
        <p:nvSpPr>
          <p:cNvPr id="31" name="Text 29"/>
          <p:cNvSpPr/>
          <p:nvPr/>
        </p:nvSpPr>
        <p:spPr>
          <a:xfrm>
            <a:off x="640080" y="4133088"/>
            <a:ext cx="7863840" cy="256032"/>
          </a:xfrm>
          <a:prstGeom prst="rect">
            <a:avLst/>
          </a:prstGeom>
          <a:noFill/>
          <a:ln/>
        </p:spPr>
        <p:txBody>
          <a:bodyPr wrap="square" lIns="0" tIns="0" rIns="0" bIns="0" rtlCol="0" anchor="ctr"/>
          <a:lstStyle/>
          <a:p>
            <a:pPr marL="0" indent="0" algn="l">
              <a:buNone/>
            </a:pPr>
            <a:r>
              <a:rPr lang="en-US" sz="1000" dirty="0">
                <a:solidFill>
                  <a:srgbClr val="166534"/>
                </a:solidFill>
                <a:latin typeface="Arial" pitchFamily="34" charset="0"/>
                <a:ea typeface="Arial" pitchFamily="34" charset="-122"/>
                <a:cs typeface="Arial" pitchFamily="34" charset="-120"/>
              </a:rPr>
              <a:t>6 runs complete  ·  All 5 agents traced  ·  EU endpoint: eu.api.smith.langchain.com  ·  PII redacted</a:t>
            </a:r>
            <a:endParaRPr lang="en-US" sz="1000" dirty="0"/>
          </a:p>
        </p:txBody>
      </p:sp>
      <p:sp>
        <p:nvSpPr>
          <p:cNvPr id="32" name="Text 30"/>
          <p:cNvSpPr/>
          <p:nvPr/>
        </p:nvSpPr>
        <p:spPr>
          <a:xfrm>
            <a:off x="640080" y="4425696"/>
            <a:ext cx="7863840" cy="530352"/>
          </a:xfrm>
          <a:prstGeom prst="rect">
            <a:avLst/>
          </a:prstGeom>
          <a:noFill/>
          <a:ln/>
        </p:spPr>
        <p:txBody>
          <a:bodyPr wrap="square" lIns="0" tIns="0" rIns="0" bIns="0" rtlCol="0" anchor="ctr"/>
          <a:lstStyle/>
          <a:p>
            <a:pPr marL="0" indent="0" algn="l">
              <a:buNone/>
            </a:pPr>
            <a:r>
              <a:rPr lang="en-US" sz="1050" i="1" dirty="0">
                <a:solidFill>
                  <a:srgbClr val="166534"/>
                </a:solidFill>
                <a:latin typeface="Arial" pitchFamily="34" charset="0"/>
                <a:ea typeface="Arial" pitchFamily="34" charset="-122"/>
                <a:cs typeface="Arial" pitchFamily="34" charset="-120"/>
              </a:rPr>
              <a:t>"Here is where you can see everything the AI did, catch a mistake before it costs you money, and prove to an auditor what happened — in under five minutes."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05  THE ASK — v1.0</a:t>
            </a:r>
            <a:endParaRPr lang="en-US" sz="850" dirty="0"/>
          </a:p>
        </p:txBody>
      </p:sp>
      <p:sp>
        <p:nvSpPr>
          <p:cNvPr id="6" name="Text 4"/>
          <p:cNvSpPr/>
          <p:nvPr/>
        </p:nvSpPr>
        <p:spPr>
          <a:xfrm>
            <a:off x="457200" y="91440"/>
            <a:ext cx="7955280" cy="676656"/>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05  The Ask — v1.0</a:t>
            </a:r>
            <a:endParaRPr lang="en-US" sz="2400" dirty="0"/>
          </a:p>
        </p:txBody>
      </p:sp>
      <p:sp>
        <p:nvSpPr>
          <p:cNvPr id="7" name="Shape 5"/>
          <p:cNvSpPr/>
          <p:nvPr/>
        </p:nvSpPr>
        <p:spPr>
          <a:xfrm>
            <a:off x="457200" y="969264"/>
            <a:ext cx="8229600" cy="274320"/>
          </a:xfrm>
          <a:prstGeom prst="rect">
            <a:avLst/>
          </a:prstGeom>
          <a:solidFill>
            <a:srgbClr val="E8F0FD"/>
          </a:solidFill>
          <a:ln w="12700">
            <a:solidFill>
              <a:srgbClr val="C5D9FA"/>
            </a:solidFill>
            <a:prstDash val="solid"/>
          </a:ln>
        </p:spPr>
        <p:txBody>
          <a:bodyPr/>
          <a:lstStyle/>
          <a:p>
            <a:endParaRPr lang="de-DE"/>
          </a:p>
        </p:txBody>
      </p:sp>
      <p:sp>
        <p:nvSpPr>
          <p:cNvPr id="8" name="Text 6"/>
          <p:cNvSpPr/>
          <p:nvPr/>
        </p:nvSpPr>
        <p:spPr>
          <a:xfrm>
            <a:off x="594360" y="969264"/>
            <a:ext cx="7955280" cy="274320"/>
          </a:xfrm>
          <a:prstGeom prst="rect">
            <a:avLst/>
          </a:prstGeom>
          <a:noFill/>
          <a:ln/>
        </p:spPr>
        <p:txBody>
          <a:bodyPr wrap="square" lIns="0" tIns="0" rIns="0" bIns="0" rtlCol="0" anchor="ctr"/>
          <a:lstStyle/>
          <a:p>
            <a:pPr marL="0" indent="0" algn="l">
              <a:buNone/>
            </a:pPr>
            <a:r>
              <a:rPr lang="en-US" sz="950" i="1" dirty="0">
                <a:solidFill>
                  <a:srgbClr val="005AEE"/>
                </a:solidFill>
                <a:latin typeface="Arial" pitchFamily="34" charset="0"/>
                <a:ea typeface="Arial" pitchFamily="34" charset="-122"/>
                <a:cs typeface="Arial" pitchFamily="34" charset="-120"/>
              </a:rPr>
              <a:t>Presented to review board Tuesday — approved with seven change requests. See v1.1 ask on next slide.</a:t>
            </a:r>
            <a:endParaRPr lang="en-US" sz="950" dirty="0"/>
          </a:p>
        </p:txBody>
      </p:sp>
      <p:sp>
        <p:nvSpPr>
          <p:cNvPr id="9" name="Shape 7"/>
          <p:cNvSpPr/>
          <p:nvPr/>
        </p:nvSpPr>
        <p:spPr>
          <a:xfrm>
            <a:off x="457200" y="1335024"/>
            <a:ext cx="8229600" cy="4572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0" name="Shape 8"/>
          <p:cNvSpPr/>
          <p:nvPr/>
        </p:nvSpPr>
        <p:spPr>
          <a:xfrm>
            <a:off x="530352" y="1408176"/>
            <a:ext cx="310896" cy="310896"/>
          </a:xfrm>
          <a:prstGeom prst="ellipse">
            <a:avLst/>
          </a:prstGeom>
          <a:solidFill>
            <a:srgbClr val="005AEE"/>
          </a:solidFill>
          <a:ln w="12700">
            <a:solidFill>
              <a:srgbClr val="005AEE"/>
            </a:solidFill>
            <a:prstDash val="solid"/>
          </a:ln>
        </p:spPr>
        <p:txBody>
          <a:bodyPr/>
          <a:lstStyle/>
          <a:p>
            <a:endParaRPr lang="de-DE"/>
          </a:p>
        </p:txBody>
      </p:sp>
      <p:sp>
        <p:nvSpPr>
          <p:cNvPr id="11" name="Text 9"/>
          <p:cNvSpPr/>
          <p:nvPr/>
        </p:nvSpPr>
        <p:spPr>
          <a:xfrm>
            <a:off x="530352" y="140817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987552" y="1335024"/>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Problem discovered blind — 9 pain points confirmed by verbatim transcript evidence</a:t>
            </a:r>
            <a:endParaRPr lang="en-US" sz="1200" dirty="0"/>
          </a:p>
        </p:txBody>
      </p:sp>
      <p:sp>
        <p:nvSpPr>
          <p:cNvPr id="13" name="Shape 11"/>
          <p:cNvSpPr/>
          <p:nvPr/>
        </p:nvSpPr>
        <p:spPr>
          <a:xfrm>
            <a:off x="457200" y="1865376"/>
            <a:ext cx="8229600" cy="457200"/>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4" name="Shape 12"/>
          <p:cNvSpPr/>
          <p:nvPr/>
        </p:nvSpPr>
        <p:spPr>
          <a:xfrm>
            <a:off x="530352" y="1938528"/>
            <a:ext cx="310896" cy="310896"/>
          </a:xfrm>
          <a:prstGeom prst="ellipse">
            <a:avLst/>
          </a:prstGeom>
          <a:solidFill>
            <a:srgbClr val="005AEE"/>
          </a:solidFill>
          <a:ln w="12700">
            <a:solidFill>
              <a:srgbClr val="005AEE"/>
            </a:solidFill>
            <a:prstDash val="solid"/>
          </a:ln>
        </p:spPr>
        <p:txBody>
          <a:bodyPr/>
          <a:lstStyle/>
          <a:p>
            <a:endParaRPr lang="de-DE"/>
          </a:p>
        </p:txBody>
      </p:sp>
      <p:sp>
        <p:nvSpPr>
          <p:cNvPr id="15" name="Text 13"/>
          <p:cNvSpPr/>
          <p:nvPr/>
        </p:nvSpPr>
        <p:spPr>
          <a:xfrm>
            <a:off x="530352" y="193852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987552" y="1865376"/>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Solution addresses all 9 pain points with 5 dedicated AI agents — each maps to exactly one capability</a:t>
            </a:r>
            <a:endParaRPr lang="en-US" sz="1200" dirty="0"/>
          </a:p>
        </p:txBody>
      </p:sp>
      <p:sp>
        <p:nvSpPr>
          <p:cNvPr id="17" name="Shape 15"/>
          <p:cNvSpPr/>
          <p:nvPr/>
        </p:nvSpPr>
        <p:spPr>
          <a:xfrm>
            <a:off x="457200" y="2395728"/>
            <a:ext cx="8229600" cy="4572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8" name="Shape 16"/>
          <p:cNvSpPr/>
          <p:nvPr/>
        </p:nvSpPr>
        <p:spPr>
          <a:xfrm>
            <a:off x="530352" y="2468880"/>
            <a:ext cx="310896" cy="310896"/>
          </a:xfrm>
          <a:prstGeom prst="ellipse">
            <a:avLst/>
          </a:prstGeom>
          <a:solidFill>
            <a:srgbClr val="005AEE"/>
          </a:solidFill>
          <a:ln w="12700">
            <a:solidFill>
              <a:srgbClr val="005AEE"/>
            </a:solidFill>
            <a:prstDash val="solid"/>
          </a:ln>
        </p:spPr>
        <p:txBody>
          <a:bodyPr/>
          <a:lstStyle/>
          <a:p>
            <a:endParaRPr lang="de-DE"/>
          </a:p>
        </p:txBody>
      </p:sp>
      <p:sp>
        <p:nvSpPr>
          <p:cNvPr id="19" name="Text 17"/>
          <p:cNvSpPr/>
          <p:nvPr/>
        </p:nvSpPr>
        <p:spPr>
          <a:xfrm>
            <a:off x="530352" y="246888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987552" y="2395728"/>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EU AI Act: Minimal / Limited risk — justified, not asserted — human-in-the-loop technically enforced</a:t>
            </a:r>
            <a:endParaRPr lang="en-US" sz="1200" dirty="0"/>
          </a:p>
        </p:txBody>
      </p:sp>
      <p:sp>
        <p:nvSpPr>
          <p:cNvPr id="21" name="Shape 19"/>
          <p:cNvSpPr/>
          <p:nvPr/>
        </p:nvSpPr>
        <p:spPr>
          <a:xfrm>
            <a:off x="457200" y="2926080"/>
            <a:ext cx="8229600" cy="457200"/>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2" name="Shape 20"/>
          <p:cNvSpPr/>
          <p:nvPr/>
        </p:nvSpPr>
        <p:spPr>
          <a:xfrm>
            <a:off x="530352" y="2999232"/>
            <a:ext cx="310896" cy="310896"/>
          </a:xfrm>
          <a:prstGeom prst="ellipse">
            <a:avLst/>
          </a:prstGeom>
          <a:solidFill>
            <a:srgbClr val="005AEE"/>
          </a:solidFill>
          <a:ln w="12700">
            <a:solidFill>
              <a:srgbClr val="005AEE"/>
            </a:solidFill>
            <a:prstDash val="solid"/>
          </a:ln>
        </p:spPr>
        <p:txBody>
          <a:bodyPr/>
          <a:lstStyle/>
          <a:p>
            <a:endParaRPr lang="de-DE"/>
          </a:p>
        </p:txBody>
      </p:sp>
      <p:sp>
        <p:nvSpPr>
          <p:cNvPr id="23" name="Text 21"/>
          <p:cNvSpPr/>
          <p:nvPr/>
        </p:nvSpPr>
        <p:spPr>
          <a:xfrm>
            <a:off x="530352" y="299923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4" name="Text 22"/>
          <p:cNvSpPr/>
          <p:nvPr/>
        </p:nvSpPr>
        <p:spPr>
          <a:xfrm>
            <a:off x="987552" y="2926080"/>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GDPR: 3 lawful bases documented, 3 LIAs completed, subject rights handled, data stays EU-side</a:t>
            </a:r>
            <a:endParaRPr lang="en-US" sz="1200" dirty="0"/>
          </a:p>
        </p:txBody>
      </p:sp>
      <p:sp>
        <p:nvSpPr>
          <p:cNvPr id="25" name="Shape 23"/>
          <p:cNvSpPr/>
          <p:nvPr/>
        </p:nvSpPr>
        <p:spPr>
          <a:xfrm>
            <a:off x="457200" y="3456432"/>
            <a:ext cx="8229600" cy="4572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6" name="Shape 24"/>
          <p:cNvSpPr/>
          <p:nvPr/>
        </p:nvSpPr>
        <p:spPr>
          <a:xfrm>
            <a:off x="530352" y="3529584"/>
            <a:ext cx="310896" cy="310896"/>
          </a:xfrm>
          <a:prstGeom prst="ellipse">
            <a:avLst/>
          </a:prstGeom>
          <a:solidFill>
            <a:srgbClr val="005AEE"/>
          </a:solidFill>
          <a:ln w="12700">
            <a:solidFill>
              <a:srgbClr val="005AEE"/>
            </a:solidFill>
            <a:prstDash val="solid"/>
          </a:ln>
        </p:spPr>
        <p:txBody>
          <a:bodyPr/>
          <a:lstStyle/>
          <a:p>
            <a:endParaRPr lang="de-DE"/>
          </a:p>
        </p:txBody>
      </p:sp>
      <p:sp>
        <p:nvSpPr>
          <p:cNvPr id="27" name="Text 25"/>
          <p:cNvSpPr/>
          <p:nvPr/>
        </p:nvSpPr>
        <p:spPr>
          <a:xfrm>
            <a:off x="530352" y="35295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8" name="Text 26"/>
          <p:cNvSpPr/>
          <p:nvPr/>
        </p:nvSpPr>
        <p:spPr>
          <a:xfrm>
            <a:off x="987552" y="3456432"/>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LangSmith: 6 runs live, all 5 agents traced, PII redacted, complete audit trail</a:t>
            </a:r>
            <a:endParaRPr lang="en-US" sz="1200" dirty="0"/>
          </a:p>
        </p:txBody>
      </p:sp>
      <p:sp>
        <p:nvSpPr>
          <p:cNvPr id="29" name="Shape 27"/>
          <p:cNvSpPr/>
          <p:nvPr/>
        </p:nvSpPr>
        <p:spPr>
          <a:xfrm>
            <a:off x="457200" y="3986784"/>
            <a:ext cx="8229600" cy="457200"/>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30" name="Shape 28"/>
          <p:cNvSpPr/>
          <p:nvPr/>
        </p:nvSpPr>
        <p:spPr>
          <a:xfrm>
            <a:off x="530352" y="4059936"/>
            <a:ext cx="310896" cy="310896"/>
          </a:xfrm>
          <a:prstGeom prst="ellipse">
            <a:avLst/>
          </a:prstGeom>
          <a:solidFill>
            <a:srgbClr val="005AEE"/>
          </a:solidFill>
          <a:ln w="12700">
            <a:solidFill>
              <a:srgbClr val="005AEE"/>
            </a:solidFill>
            <a:prstDash val="solid"/>
          </a:ln>
        </p:spPr>
        <p:txBody>
          <a:bodyPr/>
          <a:lstStyle/>
          <a:p>
            <a:endParaRPr lang="de-DE"/>
          </a:p>
        </p:txBody>
      </p:sp>
      <p:sp>
        <p:nvSpPr>
          <p:cNvPr id="31" name="Text 29"/>
          <p:cNvSpPr/>
          <p:nvPr/>
        </p:nvSpPr>
        <p:spPr>
          <a:xfrm>
            <a:off x="530352" y="405993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2" name="Text 30"/>
          <p:cNvSpPr/>
          <p:nvPr/>
        </p:nvSpPr>
        <p:spPr>
          <a:xfrm>
            <a:off x="987552" y="3986784"/>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ContractOS gets Oracle back to black numbers — cost reduction measurable from day one</a:t>
            </a:r>
            <a:endParaRPr lang="en-US" sz="1200" dirty="0"/>
          </a:p>
        </p:txBody>
      </p:sp>
      <p:sp>
        <p:nvSpPr>
          <p:cNvPr id="33" name="Shape 31"/>
          <p:cNvSpPr/>
          <p:nvPr/>
        </p:nvSpPr>
        <p:spPr>
          <a:xfrm>
            <a:off x="0" y="4572000"/>
            <a:ext cx="9144000" cy="621792"/>
          </a:xfrm>
          <a:prstGeom prst="rect">
            <a:avLst/>
          </a:prstGeom>
          <a:solidFill>
            <a:srgbClr val="005AEE"/>
          </a:solidFill>
          <a:ln w="12700">
            <a:solidFill>
              <a:srgbClr val="005AEE"/>
            </a:solidFill>
            <a:prstDash val="solid"/>
          </a:ln>
        </p:spPr>
        <p:txBody>
          <a:bodyPr/>
          <a:lstStyle/>
          <a:p>
            <a:endParaRPr lang="de-DE"/>
          </a:p>
        </p:txBody>
      </p:sp>
      <p:sp>
        <p:nvSpPr>
          <p:cNvPr id="34" name="Text 32"/>
          <p:cNvSpPr/>
          <p:nvPr/>
        </p:nvSpPr>
        <p:spPr>
          <a:xfrm>
            <a:off x="457200" y="4572000"/>
            <a:ext cx="8229600" cy="621792"/>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Do you approve ContractOS for Oracle Game Studio — or what needs to change?</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A34A"/>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FFFFFF"/>
          </a:solidFill>
          <a:ln w="12700">
            <a:solidFill>
              <a:srgbClr val="FFFFFF"/>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005AEE"/>
                </a:solidFill>
                <a:latin typeface="Arial" pitchFamily="34" charset="0"/>
                <a:ea typeface="Arial" pitchFamily="34" charset="-122"/>
                <a:cs typeface="Arial" pitchFamily="34" charset="-120"/>
              </a:rPr>
              <a:t>ih</a:t>
            </a:r>
            <a:endParaRPr lang="en-US" sz="1200" dirty="0"/>
          </a:p>
        </p:txBody>
      </p:sp>
      <p:sp>
        <p:nvSpPr>
          <p:cNvPr id="4" name="Text 2"/>
          <p:cNvSpPr/>
          <p:nvPr/>
        </p:nvSpPr>
        <p:spPr>
          <a:xfrm>
            <a:off x="548640" y="914400"/>
            <a:ext cx="8229600" cy="1188720"/>
          </a:xfrm>
          <a:prstGeom prst="rect">
            <a:avLst/>
          </a:prstGeom>
          <a:noFill/>
          <a:ln/>
        </p:spPr>
        <p:txBody>
          <a:bodyPr wrap="square" lIns="0" tIns="0" rIns="0" bIns="0" rtlCol="0" anchor="ctr"/>
          <a:lstStyle/>
          <a:p>
            <a:pPr marL="0" indent="0" algn="l">
              <a:buNone/>
            </a:pPr>
            <a:r>
              <a:rPr lang="en-US" sz="6000" b="1" dirty="0">
                <a:solidFill>
                  <a:srgbClr val="FFFFFF"/>
                </a:solidFill>
                <a:latin typeface="Arial" pitchFamily="34" charset="0"/>
                <a:ea typeface="Arial" pitchFamily="34" charset="-122"/>
                <a:cs typeface="Arial" pitchFamily="34" charset="-120"/>
              </a:rPr>
              <a:t>What changed</a:t>
            </a:r>
            <a:endParaRPr lang="en-US" sz="6000" dirty="0"/>
          </a:p>
        </p:txBody>
      </p:sp>
      <p:sp>
        <p:nvSpPr>
          <p:cNvPr id="5" name="Shape 3"/>
          <p:cNvSpPr/>
          <p:nvPr/>
        </p:nvSpPr>
        <p:spPr>
          <a:xfrm>
            <a:off x="548640" y="2212848"/>
            <a:ext cx="2743200" cy="45720"/>
          </a:xfrm>
          <a:prstGeom prst="rect">
            <a:avLst/>
          </a:prstGeom>
          <a:solidFill>
            <a:srgbClr val="FFFFFF"/>
          </a:solidFill>
          <a:ln w="12700">
            <a:solidFill>
              <a:srgbClr val="FFFFFF"/>
            </a:solidFill>
            <a:prstDash val="solid"/>
          </a:ln>
        </p:spPr>
        <p:txBody>
          <a:bodyPr/>
          <a:lstStyle/>
          <a:p>
            <a:endParaRPr lang="de-DE"/>
          </a:p>
        </p:txBody>
      </p:sp>
      <p:sp>
        <p:nvSpPr>
          <p:cNvPr id="6" name="Text 4"/>
          <p:cNvSpPr/>
          <p:nvPr/>
        </p:nvSpPr>
        <p:spPr>
          <a:xfrm>
            <a:off x="548640" y="2340864"/>
            <a:ext cx="8229600" cy="347472"/>
          </a:xfrm>
          <a:prstGeom prst="rect">
            <a:avLst/>
          </a:prstGeom>
          <a:noFill/>
          <a:ln/>
        </p:spPr>
        <p:txBody>
          <a:bodyPr wrap="square" lIns="0" tIns="0" rIns="0" bIns="0" rtlCol="0" anchor="ctr"/>
          <a:lstStyle/>
          <a:p>
            <a:pPr marL="0" indent="0" algn="l">
              <a:buNone/>
            </a:pPr>
            <a:r>
              <a:rPr lang="en-US" sz="1600" dirty="0">
                <a:solidFill>
                  <a:srgbClr val="D1FAE5"/>
                </a:solidFill>
                <a:latin typeface="Arial" pitchFamily="34" charset="0"/>
                <a:ea typeface="Arial" pitchFamily="34" charset="-122"/>
                <a:cs typeface="Arial" pitchFamily="34" charset="-120"/>
              </a:rPr>
              <a:t>Oracle approved v1.0 — seven change requests addressed in v1.1.</a:t>
            </a:r>
            <a:endParaRPr lang="en-US" sz="1600" dirty="0"/>
          </a:p>
        </p:txBody>
      </p:sp>
      <p:sp>
        <p:nvSpPr>
          <p:cNvPr id="7" name="Shape 5"/>
          <p:cNvSpPr/>
          <p:nvPr/>
        </p:nvSpPr>
        <p:spPr>
          <a:xfrm>
            <a:off x="548640" y="2834640"/>
            <a:ext cx="3977640" cy="365760"/>
          </a:xfrm>
          <a:prstGeom prst="rect">
            <a:avLst/>
          </a:prstGeom>
          <a:solidFill>
            <a:srgbClr val="1A7A3C"/>
          </a:solidFill>
          <a:ln w="12700">
            <a:solidFill>
              <a:srgbClr val="2A9A4C"/>
            </a:solidFill>
            <a:prstDash val="solid"/>
          </a:ln>
        </p:spPr>
        <p:txBody>
          <a:bodyPr/>
          <a:lstStyle/>
          <a:p>
            <a:endParaRPr lang="de-DE"/>
          </a:p>
        </p:txBody>
      </p:sp>
      <p:sp>
        <p:nvSpPr>
          <p:cNvPr id="8" name="Text 6"/>
          <p:cNvSpPr/>
          <p:nvPr/>
        </p:nvSpPr>
        <p:spPr>
          <a:xfrm>
            <a:off x="658368" y="2834640"/>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CR-01  </a:t>
            </a:r>
            <a:r>
              <a:rPr lang="en-US" sz="1100" dirty="0">
                <a:solidFill>
                  <a:srgbClr val="FFFFFF"/>
                </a:solidFill>
                <a:latin typeface="Arial" pitchFamily="34" charset="0"/>
                <a:ea typeface="Arial" pitchFamily="34" charset="-122"/>
                <a:cs typeface="Arial" pitchFamily="34" charset="-120"/>
              </a:rPr>
              <a:t>EOR coverage</a:t>
            </a:r>
            <a:r>
              <a:rPr lang="en-US" sz="1100" b="1" dirty="0">
                <a:solidFill>
                  <a:srgbClr val="90EE90"/>
                </a:solidFill>
                <a:latin typeface="Arial" pitchFamily="34" charset="0"/>
                <a:ea typeface="Arial" pitchFamily="34" charset="-122"/>
                <a:cs typeface="Arial" pitchFamily="34" charset="-120"/>
              </a:rPr>
              <a:t>  — Now</a:t>
            </a:r>
            <a:endParaRPr lang="en-US" sz="1100" dirty="0"/>
          </a:p>
        </p:txBody>
      </p:sp>
      <p:sp>
        <p:nvSpPr>
          <p:cNvPr id="9" name="Shape 7"/>
          <p:cNvSpPr/>
          <p:nvPr/>
        </p:nvSpPr>
        <p:spPr>
          <a:xfrm>
            <a:off x="548640" y="3273552"/>
            <a:ext cx="3977640" cy="365760"/>
          </a:xfrm>
          <a:prstGeom prst="rect">
            <a:avLst/>
          </a:prstGeom>
          <a:solidFill>
            <a:srgbClr val="1A7A3C"/>
          </a:solidFill>
          <a:ln w="12700">
            <a:solidFill>
              <a:srgbClr val="2A9A4C"/>
            </a:solidFill>
            <a:prstDash val="solid"/>
          </a:ln>
        </p:spPr>
        <p:txBody>
          <a:bodyPr/>
          <a:lstStyle/>
          <a:p>
            <a:endParaRPr lang="de-DE"/>
          </a:p>
        </p:txBody>
      </p:sp>
      <p:sp>
        <p:nvSpPr>
          <p:cNvPr id="10" name="Text 8"/>
          <p:cNvSpPr/>
          <p:nvPr/>
        </p:nvSpPr>
        <p:spPr>
          <a:xfrm>
            <a:off x="658368" y="3273552"/>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CR-02  </a:t>
            </a:r>
            <a:r>
              <a:rPr lang="en-US" sz="1100" dirty="0">
                <a:solidFill>
                  <a:srgbClr val="FFFFFF"/>
                </a:solidFill>
                <a:latin typeface="Arial" pitchFamily="34" charset="0"/>
                <a:ea typeface="Arial" pitchFamily="34" charset="-122"/>
                <a:cs typeface="Arial" pitchFamily="34" charset="-120"/>
              </a:rPr>
              <a:t>Social registration</a:t>
            </a:r>
            <a:r>
              <a:rPr lang="en-US" sz="1100" b="1" dirty="0">
                <a:solidFill>
                  <a:srgbClr val="90EE90"/>
                </a:solidFill>
                <a:latin typeface="Arial" pitchFamily="34" charset="0"/>
                <a:ea typeface="Arial" pitchFamily="34" charset="-122"/>
                <a:cs typeface="Arial" pitchFamily="34" charset="-120"/>
              </a:rPr>
              <a:t>  — Phase 2</a:t>
            </a:r>
            <a:endParaRPr lang="en-US" sz="1100" dirty="0"/>
          </a:p>
        </p:txBody>
      </p:sp>
      <p:sp>
        <p:nvSpPr>
          <p:cNvPr id="11" name="Shape 9"/>
          <p:cNvSpPr/>
          <p:nvPr/>
        </p:nvSpPr>
        <p:spPr>
          <a:xfrm>
            <a:off x="548640" y="3712464"/>
            <a:ext cx="3977640" cy="365760"/>
          </a:xfrm>
          <a:prstGeom prst="rect">
            <a:avLst/>
          </a:prstGeom>
          <a:solidFill>
            <a:srgbClr val="1A7A3C"/>
          </a:solidFill>
          <a:ln w="12700">
            <a:solidFill>
              <a:srgbClr val="2A9A4C"/>
            </a:solidFill>
            <a:prstDash val="solid"/>
          </a:ln>
        </p:spPr>
        <p:txBody>
          <a:bodyPr/>
          <a:lstStyle/>
          <a:p>
            <a:endParaRPr lang="de-DE"/>
          </a:p>
        </p:txBody>
      </p:sp>
      <p:sp>
        <p:nvSpPr>
          <p:cNvPr id="12" name="Text 10"/>
          <p:cNvSpPr/>
          <p:nvPr/>
        </p:nvSpPr>
        <p:spPr>
          <a:xfrm>
            <a:off x="658368" y="3712464"/>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CR-03  </a:t>
            </a:r>
            <a:r>
              <a:rPr lang="en-US" sz="1100" dirty="0">
                <a:solidFill>
                  <a:srgbClr val="FFFFFF"/>
                </a:solidFill>
                <a:latin typeface="Arial" pitchFamily="34" charset="0"/>
                <a:ea typeface="Arial" pitchFamily="34" charset="-122"/>
                <a:cs typeface="Arial" pitchFamily="34" charset="-120"/>
              </a:rPr>
              <a:t>Contract generation</a:t>
            </a:r>
            <a:r>
              <a:rPr lang="en-US" sz="1100" b="1" dirty="0">
                <a:solidFill>
                  <a:srgbClr val="90EE90"/>
                </a:solidFill>
                <a:latin typeface="Arial" pitchFamily="34" charset="0"/>
                <a:ea typeface="Arial" pitchFamily="34" charset="-122"/>
                <a:cs typeface="Arial" pitchFamily="34" charset="-120"/>
              </a:rPr>
              <a:t>  — Phase 2</a:t>
            </a:r>
            <a:endParaRPr lang="en-US" sz="1100" dirty="0"/>
          </a:p>
        </p:txBody>
      </p:sp>
      <p:sp>
        <p:nvSpPr>
          <p:cNvPr id="13" name="Shape 11"/>
          <p:cNvSpPr/>
          <p:nvPr/>
        </p:nvSpPr>
        <p:spPr>
          <a:xfrm>
            <a:off x="548640" y="4151376"/>
            <a:ext cx="3977640" cy="365760"/>
          </a:xfrm>
          <a:prstGeom prst="rect">
            <a:avLst/>
          </a:prstGeom>
          <a:solidFill>
            <a:srgbClr val="1A7A3C"/>
          </a:solidFill>
          <a:ln w="12700">
            <a:solidFill>
              <a:srgbClr val="2A9A4C"/>
            </a:solidFill>
            <a:prstDash val="solid"/>
          </a:ln>
        </p:spPr>
        <p:txBody>
          <a:bodyPr/>
          <a:lstStyle/>
          <a:p>
            <a:endParaRPr lang="de-DE"/>
          </a:p>
        </p:txBody>
      </p:sp>
      <p:sp>
        <p:nvSpPr>
          <p:cNvPr id="14" name="Text 12"/>
          <p:cNvSpPr/>
          <p:nvPr/>
        </p:nvSpPr>
        <p:spPr>
          <a:xfrm>
            <a:off x="658368" y="4151376"/>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CR-04  </a:t>
            </a:r>
            <a:r>
              <a:rPr lang="en-US" sz="1100" dirty="0">
                <a:solidFill>
                  <a:srgbClr val="FFFFFF"/>
                </a:solidFill>
                <a:latin typeface="Arial" pitchFamily="34" charset="0"/>
                <a:ea typeface="Arial" pitchFamily="34" charset="-122"/>
                <a:cs typeface="Arial" pitchFamily="34" charset="-120"/>
              </a:rPr>
              <a:t>PO matching</a:t>
            </a:r>
            <a:r>
              <a:rPr lang="en-US" sz="1100" b="1" dirty="0">
                <a:solidFill>
                  <a:srgbClr val="90EE90"/>
                </a:solidFill>
                <a:latin typeface="Arial" pitchFamily="34" charset="0"/>
                <a:ea typeface="Arial" pitchFamily="34" charset="-122"/>
                <a:cs typeface="Arial" pitchFamily="34" charset="-120"/>
              </a:rPr>
              <a:t>  — Now</a:t>
            </a:r>
            <a:endParaRPr lang="en-US" sz="1100" dirty="0"/>
          </a:p>
        </p:txBody>
      </p:sp>
      <p:sp>
        <p:nvSpPr>
          <p:cNvPr id="15" name="Shape 13"/>
          <p:cNvSpPr/>
          <p:nvPr/>
        </p:nvSpPr>
        <p:spPr>
          <a:xfrm>
            <a:off x="4754880" y="2834640"/>
            <a:ext cx="3977640" cy="365760"/>
          </a:xfrm>
          <a:prstGeom prst="rect">
            <a:avLst/>
          </a:prstGeom>
          <a:solidFill>
            <a:srgbClr val="1A7A3C"/>
          </a:solidFill>
          <a:ln w="12700">
            <a:solidFill>
              <a:srgbClr val="2A9A4C"/>
            </a:solidFill>
            <a:prstDash val="solid"/>
          </a:ln>
        </p:spPr>
        <p:txBody>
          <a:bodyPr/>
          <a:lstStyle/>
          <a:p>
            <a:endParaRPr lang="de-DE"/>
          </a:p>
        </p:txBody>
      </p:sp>
      <p:sp>
        <p:nvSpPr>
          <p:cNvPr id="16" name="Text 14"/>
          <p:cNvSpPr/>
          <p:nvPr/>
        </p:nvSpPr>
        <p:spPr>
          <a:xfrm>
            <a:off x="4864608" y="2834640"/>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CR-05  </a:t>
            </a:r>
            <a:r>
              <a:rPr lang="en-US" sz="1100" dirty="0">
                <a:solidFill>
                  <a:srgbClr val="FFFFFF"/>
                </a:solidFill>
                <a:latin typeface="Arial" pitchFamily="34" charset="0"/>
                <a:ea typeface="Arial" pitchFamily="34" charset="-122"/>
                <a:cs typeface="Arial" pitchFamily="34" charset="-120"/>
              </a:rPr>
              <a:t>Accounting rules</a:t>
            </a:r>
            <a:r>
              <a:rPr lang="en-US" sz="1100" b="1" dirty="0">
                <a:solidFill>
                  <a:srgbClr val="90EE90"/>
                </a:solidFill>
                <a:latin typeface="Arial" pitchFamily="34" charset="0"/>
                <a:ea typeface="Arial" pitchFamily="34" charset="-122"/>
                <a:cs typeface="Arial" pitchFamily="34" charset="-120"/>
              </a:rPr>
              <a:t>  — Now</a:t>
            </a:r>
            <a:endParaRPr lang="en-US" sz="1100" dirty="0"/>
          </a:p>
        </p:txBody>
      </p:sp>
      <p:sp>
        <p:nvSpPr>
          <p:cNvPr id="17" name="Shape 15"/>
          <p:cNvSpPr/>
          <p:nvPr/>
        </p:nvSpPr>
        <p:spPr>
          <a:xfrm>
            <a:off x="4754880" y="3273552"/>
            <a:ext cx="3977640" cy="365760"/>
          </a:xfrm>
          <a:prstGeom prst="rect">
            <a:avLst/>
          </a:prstGeom>
          <a:solidFill>
            <a:srgbClr val="1A7A3C"/>
          </a:solidFill>
          <a:ln w="12700">
            <a:solidFill>
              <a:srgbClr val="2A9A4C"/>
            </a:solidFill>
            <a:prstDash val="solid"/>
          </a:ln>
        </p:spPr>
        <p:txBody>
          <a:bodyPr/>
          <a:lstStyle/>
          <a:p>
            <a:endParaRPr lang="de-DE"/>
          </a:p>
        </p:txBody>
      </p:sp>
      <p:sp>
        <p:nvSpPr>
          <p:cNvPr id="18" name="Text 16"/>
          <p:cNvSpPr/>
          <p:nvPr/>
        </p:nvSpPr>
        <p:spPr>
          <a:xfrm>
            <a:off x="4864608" y="3273552"/>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CR-06  </a:t>
            </a:r>
            <a:r>
              <a:rPr lang="en-US" sz="1100" dirty="0">
                <a:solidFill>
                  <a:srgbClr val="FFFFFF"/>
                </a:solidFill>
                <a:latin typeface="Arial" pitchFamily="34" charset="0"/>
                <a:ea typeface="Arial" pitchFamily="34" charset="-122"/>
                <a:cs typeface="Arial" pitchFamily="34" charset="-120"/>
              </a:rPr>
              <a:t>Intermediary costs</a:t>
            </a:r>
            <a:r>
              <a:rPr lang="en-US" sz="1100" b="1" dirty="0">
                <a:solidFill>
                  <a:srgbClr val="90EE90"/>
                </a:solidFill>
                <a:latin typeface="Arial" pitchFamily="34" charset="0"/>
                <a:ea typeface="Arial" pitchFamily="34" charset="-122"/>
                <a:cs typeface="Arial" pitchFamily="34" charset="-120"/>
              </a:rPr>
              <a:t>  — Now</a:t>
            </a:r>
            <a:endParaRPr lang="en-US" sz="1100" dirty="0"/>
          </a:p>
        </p:txBody>
      </p:sp>
      <p:sp>
        <p:nvSpPr>
          <p:cNvPr id="19" name="Shape 17"/>
          <p:cNvSpPr/>
          <p:nvPr/>
        </p:nvSpPr>
        <p:spPr>
          <a:xfrm>
            <a:off x="4754880" y="3712464"/>
            <a:ext cx="3977640" cy="365760"/>
          </a:xfrm>
          <a:prstGeom prst="rect">
            <a:avLst/>
          </a:prstGeom>
          <a:solidFill>
            <a:srgbClr val="1A7A3C"/>
          </a:solidFill>
          <a:ln w="12700">
            <a:solidFill>
              <a:srgbClr val="2A9A4C"/>
            </a:solidFill>
            <a:prstDash val="solid"/>
          </a:ln>
        </p:spPr>
        <p:txBody>
          <a:bodyPr/>
          <a:lstStyle/>
          <a:p>
            <a:endParaRPr lang="de-DE"/>
          </a:p>
        </p:txBody>
      </p:sp>
      <p:sp>
        <p:nvSpPr>
          <p:cNvPr id="20" name="Text 18"/>
          <p:cNvSpPr/>
          <p:nvPr/>
        </p:nvSpPr>
        <p:spPr>
          <a:xfrm>
            <a:off x="4864608" y="3712464"/>
            <a:ext cx="3758184" cy="365760"/>
          </a:xfrm>
          <a:prstGeom prst="rect">
            <a:avLst/>
          </a:prstGeom>
          <a:noFill/>
          <a:ln/>
        </p:spPr>
        <p:txBody>
          <a:bodyPr wrap="square" lIns="0" tIns="0" rIns="0" bIns="0" rtlCol="0" anchor="ctr"/>
          <a:lstStyle/>
          <a:p>
            <a:pPr marL="0" indent="0" algn="l">
              <a:buNone/>
            </a:pPr>
            <a:r>
              <a:rPr lang="en-US" sz="1100" b="1" dirty="0">
                <a:solidFill>
                  <a:srgbClr val="90EE90"/>
                </a:solidFill>
                <a:latin typeface="Arial" pitchFamily="34" charset="0"/>
                <a:ea typeface="Arial" pitchFamily="34" charset="-122"/>
                <a:cs typeface="Arial" pitchFamily="34" charset="-120"/>
              </a:rPr>
              <a:t>CR-07  </a:t>
            </a:r>
            <a:r>
              <a:rPr lang="en-US" sz="1100" dirty="0">
                <a:solidFill>
                  <a:srgbClr val="FFFFFF"/>
                </a:solidFill>
                <a:latin typeface="Arial" pitchFamily="34" charset="0"/>
                <a:ea typeface="Arial" pitchFamily="34" charset="-122"/>
                <a:cs typeface="Arial" pitchFamily="34" charset="-120"/>
              </a:rPr>
              <a:t>Multilingual QA</a:t>
            </a:r>
            <a:r>
              <a:rPr lang="en-US" sz="1100" b="1" dirty="0">
                <a:solidFill>
                  <a:srgbClr val="90EE90"/>
                </a:solidFill>
                <a:latin typeface="Arial" pitchFamily="34" charset="0"/>
                <a:ea typeface="Arial" pitchFamily="34" charset="-122"/>
                <a:cs typeface="Arial" pitchFamily="34" charset="-120"/>
              </a:rPr>
              <a:t>  — Now</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Phase 1 — immediate enhancements to existing agents</a:t>
            </a:r>
            <a:endParaRPr lang="en-US" sz="2400" dirty="0"/>
          </a:p>
        </p:txBody>
      </p:sp>
      <p:sp>
        <p:nvSpPr>
          <p:cNvPr id="6" name="Text 4"/>
          <p:cNvSpPr/>
          <p:nvPr/>
        </p:nvSpPr>
        <p:spPr>
          <a:xfrm>
            <a:off x="457200" y="868680"/>
            <a:ext cx="8229600" cy="256032"/>
          </a:xfrm>
          <a:prstGeom prst="rect">
            <a:avLst/>
          </a:prstGeom>
          <a:noFill/>
          <a:ln/>
        </p:spPr>
        <p:txBody>
          <a:bodyPr wrap="square" lIns="0" tIns="0" rIns="0" bIns="0" rtlCol="0" anchor="ctr"/>
          <a:lstStyle/>
          <a:p>
            <a:pPr marL="0" indent="0" algn="l">
              <a:buNone/>
            </a:pPr>
            <a:r>
              <a:rPr lang="en-US" sz="1100" i="1" dirty="0">
                <a:solidFill>
                  <a:srgbClr val="9E9E9E"/>
                </a:solidFill>
                <a:latin typeface="Arial" pitchFamily="34" charset="0"/>
                <a:ea typeface="Arial" pitchFamily="34" charset="-122"/>
                <a:cs typeface="Arial" pitchFamily="34" charset="-120"/>
              </a:rPr>
              <a:t>Four change requests, no new agents required, ready for v1.1</a:t>
            </a:r>
            <a:endParaRPr lang="en-US" sz="1100" dirty="0"/>
          </a:p>
        </p:txBody>
      </p:sp>
      <p:sp>
        <p:nvSpPr>
          <p:cNvPr id="7" name="Text 5"/>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06  REVISED PROPOSAL</a:t>
            </a:r>
            <a:endParaRPr lang="en-US" sz="850" dirty="0"/>
          </a:p>
        </p:txBody>
      </p:sp>
      <p:sp>
        <p:nvSpPr>
          <p:cNvPr id="8" name="Shape 6"/>
          <p:cNvSpPr/>
          <p:nvPr/>
        </p:nvSpPr>
        <p:spPr>
          <a:xfrm>
            <a:off x="457200" y="1261872"/>
            <a:ext cx="8229600" cy="420624"/>
          </a:xfrm>
          <a:prstGeom prst="rect">
            <a:avLst/>
          </a:prstGeom>
          <a:solidFill>
            <a:srgbClr val="E8F0FD"/>
          </a:solidFill>
          <a:ln w="12700">
            <a:solidFill>
              <a:srgbClr val="005AEE"/>
            </a:solidFill>
            <a:prstDash val="solid"/>
          </a:ln>
        </p:spPr>
        <p:txBody>
          <a:bodyPr/>
          <a:lstStyle/>
          <a:p>
            <a:endParaRPr lang="de-DE"/>
          </a:p>
        </p:txBody>
      </p:sp>
      <p:sp>
        <p:nvSpPr>
          <p:cNvPr id="9" name="Shape 7"/>
          <p:cNvSpPr/>
          <p:nvPr/>
        </p:nvSpPr>
        <p:spPr>
          <a:xfrm>
            <a:off x="457200" y="1261872"/>
            <a:ext cx="45720" cy="420624"/>
          </a:xfrm>
          <a:prstGeom prst="rect">
            <a:avLst/>
          </a:prstGeom>
          <a:solidFill>
            <a:srgbClr val="005AEE"/>
          </a:solidFill>
          <a:ln w="12700">
            <a:solidFill>
              <a:srgbClr val="005AEE"/>
            </a:solidFill>
            <a:prstDash val="solid"/>
          </a:ln>
        </p:spPr>
        <p:txBody>
          <a:bodyPr/>
          <a:lstStyle/>
          <a:p>
            <a:endParaRPr lang="de-DE"/>
          </a:p>
        </p:txBody>
      </p:sp>
      <p:sp>
        <p:nvSpPr>
          <p:cNvPr id="10" name="Text 8"/>
          <p:cNvSpPr/>
          <p:nvPr/>
        </p:nvSpPr>
        <p:spPr>
          <a:xfrm>
            <a:off x="621792" y="1261872"/>
            <a:ext cx="7955280" cy="420624"/>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Agents 2, 4, and 5 extended. Nothing removed. Classification unchanged — all outputs still go to human review.</a:t>
            </a:r>
            <a:endParaRPr lang="en-US" sz="1250" dirty="0"/>
          </a:p>
        </p:txBody>
      </p:sp>
      <p:sp>
        <p:nvSpPr>
          <p:cNvPr id="11" name="Shape 9"/>
          <p:cNvSpPr/>
          <p:nvPr/>
        </p:nvSpPr>
        <p:spPr>
          <a:xfrm>
            <a:off x="457200" y="1828800"/>
            <a:ext cx="8229600" cy="87782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2" name="Shape 10"/>
          <p:cNvSpPr/>
          <p:nvPr/>
        </p:nvSpPr>
        <p:spPr>
          <a:xfrm>
            <a:off x="457200" y="1828800"/>
            <a:ext cx="45720" cy="877824"/>
          </a:xfrm>
          <a:prstGeom prst="rect">
            <a:avLst/>
          </a:prstGeom>
          <a:solidFill>
            <a:srgbClr val="005AEE"/>
          </a:solidFill>
          <a:ln w="12700">
            <a:solidFill>
              <a:srgbClr val="005AEE"/>
            </a:solidFill>
            <a:prstDash val="solid"/>
          </a:ln>
        </p:spPr>
        <p:txBody>
          <a:bodyPr/>
          <a:lstStyle/>
          <a:p>
            <a:endParaRPr lang="de-DE"/>
          </a:p>
        </p:txBody>
      </p:sp>
      <p:sp>
        <p:nvSpPr>
          <p:cNvPr id="13" name="Shape 11"/>
          <p:cNvSpPr/>
          <p:nvPr/>
        </p:nvSpPr>
        <p:spPr>
          <a:xfrm>
            <a:off x="457200" y="1828800"/>
            <a:ext cx="1097280" cy="877824"/>
          </a:xfrm>
          <a:prstGeom prst="rect">
            <a:avLst/>
          </a:prstGeom>
          <a:solidFill>
            <a:srgbClr val="E8F0FD"/>
          </a:solidFill>
          <a:ln w="12700">
            <a:solidFill>
              <a:srgbClr val="E2E8F0"/>
            </a:solidFill>
            <a:prstDash val="solid"/>
          </a:ln>
        </p:spPr>
        <p:txBody>
          <a:bodyPr/>
          <a:lstStyle/>
          <a:p>
            <a:endParaRPr lang="de-DE"/>
          </a:p>
        </p:txBody>
      </p:sp>
      <p:sp>
        <p:nvSpPr>
          <p:cNvPr id="14" name="Text 12"/>
          <p:cNvSpPr/>
          <p:nvPr/>
        </p:nvSpPr>
        <p:spPr>
          <a:xfrm>
            <a:off x="475488" y="1901952"/>
            <a:ext cx="1060704" cy="329184"/>
          </a:xfrm>
          <a:prstGeom prst="rect">
            <a:avLst/>
          </a:prstGeom>
          <a:noFill/>
          <a:ln/>
        </p:spPr>
        <p:txBody>
          <a:bodyPr wrap="square" lIns="0" tIns="0" rIns="0" bIns="0" rtlCol="0" anchor="ctr"/>
          <a:lstStyle/>
          <a:p>
            <a:pPr marL="0" indent="0" algn="ctr">
              <a:buNone/>
            </a:pPr>
            <a:r>
              <a:rPr lang="en-US" sz="1100" b="1" dirty="0">
                <a:solidFill>
                  <a:srgbClr val="005AEE"/>
                </a:solidFill>
                <a:latin typeface="Arial" pitchFamily="34" charset="0"/>
                <a:ea typeface="Arial" pitchFamily="34" charset="-122"/>
                <a:cs typeface="Arial" pitchFamily="34" charset="-120"/>
              </a:rPr>
              <a:t>Agent 4</a:t>
            </a:r>
            <a:endParaRPr lang="en-US" sz="1100" dirty="0"/>
          </a:p>
        </p:txBody>
      </p:sp>
      <p:sp>
        <p:nvSpPr>
          <p:cNvPr id="15" name="Text 13"/>
          <p:cNvSpPr/>
          <p:nvPr/>
        </p:nvSpPr>
        <p:spPr>
          <a:xfrm>
            <a:off x="475488" y="2286000"/>
            <a:ext cx="1060704" cy="256032"/>
          </a:xfrm>
          <a:prstGeom prst="rect">
            <a:avLst/>
          </a:prstGeom>
          <a:noFill/>
          <a:ln/>
        </p:spPr>
        <p:txBody>
          <a:bodyPr wrap="square" lIns="0" tIns="0" rIns="0" bIns="0" rtlCol="0" anchor="ctr"/>
          <a:lstStyle/>
          <a:p>
            <a:pPr marL="0" indent="0" algn="ctr">
              <a:buNone/>
            </a:pPr>
            <a:r>
              <a:rPr lang="en-US" sz="850" dirty="0">
                <a:solidFill>
                  <a:srgbClr val="9E9E9E"/>
                </a:solidFill>
                <a:latin typeface="Arial" pitchFamily="34" charset="0"/>
                <a:ea typeface="Arial" pitchFamily="34" charset="-122"/>
                <a:cs typeface="Arial" pitchFamily="34" charset="-120"/>
              </a:rPr>
              <a:t>CR-01</a:t>
            </a:r>
            <a:endParaRPr lang="en-US" sz="850" dirty="0"/>
          </a:p>
        </p:txBody>
      </p:sp>
      <p:sp>
        <p:nvSpPr>
          <p:cNvPr id="16" name="Shape 14"/>
          <p:cNvSpPr/>
          <p:nvPr/>
        </p:nvSpPr>
        <p:spPr>
          <a:xfrm>
            <a:off x="1627632" y="1901952"/>
            <a:ext cx="1005840" cy="219456"/>
          </a:xfrm>
          <a:prstGeom prst="rect">
            <a:avLst/>
          </a:prstGeom>
          <a:solidFill>
            <a:srgbClr val="E8F0FD"/>
          </a:solidFill>
          <a:ln w="12700">
            <a:solidFill>
              <a:srgbClr val="005AEE"/>
            </a:solidFill>
            <a:prstDash val="solid"/>
          </a:ln>
          <a:effectLst>
            <a:outerShdw blurRad="101600" dist="25400" dir="8100000" algn="bl" rotWithShape="0">
              <a:srgbClr val="000000">
                <a:alpha val="7000"/>
              </a:srgbClr>
            </a:outerShdw>
          </a:effectLst>
        </p:spPr>
        <p:txBody>
          <a:bodyPr/>
          <a:lstStyle/>
          <a:p>
            <a:endParaRPr lang="de-DE"/>
          </a:p>
        </p:txBody>
      </p:sp>
      <p:sp>
        <p:nvSpPr>
          <p:cNvPr id="17" name="Text 15"/>
          <p:cNvSpPr/>
          <p:nvPr/>
        </p:nvSpPr>
        <p:spPr>
          <a:xfrm>
            <a:off x="1627632" y="1901952"/>
            <a:ext cx="1005840" cy="219456"/>
          </a:xfrm>
          <a:prstGeom prst="rect">
            <a:avLst/>
          </a:prstGeom>
          <a:noFill/>
          <a:ln/>
        </p:spPr>
        <p:txBody>
          <a:bodyPr wrap="square" lIns="0" tIns="0" rIns="0" bIns="0" rtlCol="0" anchor="ctr"/>
          <a:lstStyle/>
          <a:p>
            <a:pPr marL="0" indent="0" algn="ctr">
              <a:buNone/>
            </a:pPr>
            <a:r>
              <a:rPr lang="en-US" sz="800" b="1" dirty="0">
                <a:solidFill>
                  <a:srgbClr val="005AEE"/>
                </a:solidFill>
                <a:latin typeface="Arial" pitchFamily="34" charset="0"/>
                <a:ea typeface="Arial" pitchFamily="34" charset="-122"/>
                <a:cs typeface="Arial" pitchFamily="34" charset="-120"/>
              </a:rPr>
              <a:t>NEW v1.1</a:t>
            </a:r>
            <a:endParaRPr lang="en-US" sz="800" dirty="0"/>
          </a:p>
        </p:txBody>
      </p:sp>
      <p:sp>
        <p:nvSpPr>
          <p:cNvPr id="18" name="Text 16"/>
          <p:cNvSpPr/>
          <p:nvPr/>
        </p:nvSpPr>
        <p:spPr>
          <a:xfrm>
            <a:off x="2706624" y="1901952"/>
            <a:ext cx="5815584" cy="310896"/>
          </a:xfrm>
          <a:prstGeom prst="rect">
            <a:avLst/>
          </a:prstGeom>
          <a:noFill/>
          <a:ln/>
        </p:spPr>
        <p:txBody>
          <a:bodyPr wrap="square" lIns="0" tIns="0" rIns="0" bIns="0" rtlCol="0" anchor="ctr"/>
          <a:lstStyle/>
          <a:p>
            <a:pPr marL="0" indent="0" algn="l">
              <a:buNone/>
            </a:pPr>
            <a:r>
              <a:rPr lang="en-US" sz="1200" b="1" dirty="0">
                <a:solidFill>
                  <a:srgbClr val="111111"/>
                </a:solidFill>
                <a:latin typeface="Arial" pitchFamily="34" charset="0"/>
                <a:ea typeface="Arial" pitchFamily="34" charset="-122"/>
                <a:cs typeface="Arial" pitchFamily="34" charset="-120"/>
              </a:rPr>
              <a:t>EOR Coverage</a:t>
            </a:r>
            <a:endParaRPr lang="en-US" sz="1200" dirty="0"/>
          </a:p>
        </p:txBody>
      </p:sp>
      <p:sp>
        <p:nvSpPr>
          <p:cNvPr id="19" name="Text 17"/>
          <p:cNvSpPr/>
          <p:nvPr/>
        </p:nvSpPr>
        <p:spPr>
          <a:xfrm>
            <a:off x="2706624" y="2231136"/>
            <a:ext cx="5815584" cy="420624"/>
          </a:xfrm>
          <a:prstGeom prst="rect">
            <a:avLst/>
          </a:prstGeom>
          <a:noFill/>
          <a:ln/>
        </p:spPr>
        <p:txBody>
          <a:bodyPr wrap="square" lIns="0" tIns="0" rIns="0" bIns="0" rtlCol="0" anchor="ctr"/>
          <a:lstStyle/>
          <a:p>
            <a:pPr marL="0" indent="0" algn="l">
              <a:buNone/>
            </a:pPr>
            <a:r>
              <a:rPr lang="en-US" sz="950" dirty="0">
                <a:solidFill>
                  <a:srgbClr val="4A4A4A"/>
                </a:solidFill>
                <a:latin typeface="Arial" pitchFamily="34" charset="0"/>
                <a:ea typeface="Arial" pitchFamily="34" charset="-122"/>
                <a:cs typeface="Arial" pitchFamily="34" charset="-120"/>
              </a:rPr>
              <a:t>Flags contracts in countries where Oracle has no legal entity. Output: EOR required flag + estimated cost range + recommended action. Agent 5 tracks EOR fees as a named cost subcategory.</a:t>
            </a:r>
            <a:endParaRPr lang="en-US" sz="950" dirty="0"/>
          </a:p>
        </p:txBody>
      </p:sp>
      <p:sp>
        <p:nvSpPr>
          <p:cNvPr id="20" name="Shape 18"/>
          <p:cNvSpPr/>
          <p:nvPr/>
        </p:nvSpPr>
        <p:spPr>
          <a:xfrm>
            <a:off x="457200" y="2834640"/>
            <a:ext cx="8229600" cy="87782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1" name="Shape 19"/>
          <p:cNvSpPr/>
          <p:nvPr/>
        </p:nvSpPr>
        <p:spPr>
          <a:xfrm>
            <a:off x="457200" y="2834640"/>
            <a:ext cx="45720" cy="877824"/>
          </a:xfrm>
          <a:prstGeom prst="rect">
            <a:avLst/>
          </a:prstGeom>
          <a:solidFill>
            <a:srgbClr val="D97706"/>
          </a:solidFill>
          <a:ln w="12700">
            <a:solidFill>
              <a:srgbClr val="D97706"/>
            </a:solidFill>
            <a:prstDash val="solid"/>
          </a:ln>
        </p:spPr>
        <p:txBody>
          <a:bodyPr/>
          <a:lstStyle/>
          <a:p>
            <a:endParaRPr lang="de-DE"/>
          </a:p>
        </p:txBody>
      </p:sp>
      <p:sp>
        <p:nvSpPr>
          <p:cNvPr id="22" name="Shape 20"/>
          <p:cNvSpPr/>
          <p:nvPr/>
        </p:nvSpPr>
        <p:spPr>
          <a:xfrm>
            <a:off x="457200" y="2834640"/>
            <a:ext cx="1097280" cy="877824"/>
          </a:xfrm>
          <a:prstGeom prst="rect">
            <a:avLst/>
          </a:prstGeom>
          <a:solidFill>
            <a:srgbClr val="E8F0FD"/>
          </a:solidFill>
          <a:ln w="12700">
            <a:solidFill>
              <a:srgbClr val="E2E8F0"/>
            </a:solidFill>
            <a:prstDash val="solid"/>
          </a:ln>
        </p:spPr>
        <p:txBody>
          <a:bodyPr/>
          <a:lstStyle/>
          <a:p>
            <a:endParaRPr lang="de-DE"/>
          </a:p>
        </p:txBody>
      </p:sp>
      <p:sp>
        <p:nvSpPr>
          <p:cNvPr id="23" name="Text 21"/>
          <p:cNvSpPr/>
          <p:nvPr/>
        </p:nvSpPr>
        <p:spPr>
          <a:xfrm>
            <a:off x="475488" y="2907792"/>
            <a:ext cx="1060704" cy="329184"/>
          </a:xfrm>
          <a:prstGeom prst="rect">
            <a:avLst/>
          </a:prstGeom>
          <a:noFill/>
          <a:ln/>
        </p:spPr>
        <p:txBody>
          <a:bodyPr wrap="square" lIns="0" tIns="0" rIns="0" bIns="0" rtlCol="0" anchor="ctr"/>
          <a:lstStyle/>
          <a:p>
            <a:pPr marL="0" indent="0" algn="ctr">
              <a:buNone/>
            </a:pPr>
            <a:r>
              <a:rPr lang="en-US" sz="1100" b="1" dirty="0">
                <a:solidFill>
                  <a:srgbClr val="D97706"/>
                </a:solidFill>
                <a:latin typeface="Arial" pitchFamily="34" charset="0"/>
                <a:ea typeface="Arial" pitchFamily="34" charset="-122"/>
                <a:cs typeface="Arial" pitchFamily="34" charset="-120"/>
              </a:rPr>
              <a:t>Agent 2</a:t>
            </a:r>
            <a:endParaRPr lang="en-US" sz="1100" dirty="0"/>
          </a:p>
        </p:txBody>
      </p:sp>
      <p:sp>
        <p:nvSpPr>
          <p:cNvPr id="24" name="Text 22"/>
          <p:cNvSpPr/>
          <p:nvPr/>
        </p:nvSpPr>
        <p:spPr>
          <a:xfrm>
            <a:off x="475488" y="3291840"/>
            <a:ext cx="1060704" cy="256032"/>
          </a:xfrm>
          <a:prstGeom prst="rect">
            <a:avLst/>
          </a:prstGeom>
          <a:noFill/>
          <a:ln/>
        </p:spPr>
        <p:txBody>
          <a:bodyPr wrap="square" lIns="0" tIns="0" rIns="0" bIns="0" rtlCol="0" anchor="ctr"/>
          <a:lstStyle/>
          <a:p>
            <a:pPr marL="0" indent="0" algn="ctr">
              <a:buNone/>
            </a:pPr>
            <a:r>
              <a:rPr lang="en-US" sz="850" dirty="0">
                <a:solidFill>
                  <a:srgbClr val="9E9E9E"/>
                </a:solidFill>
                <a:latin typeface="Arial" pitchFamily="34" charset="0"/>
                <a:ea typeface="Arial" pitchFamily="34" charset="-122"/>
                <a:cs typeface="Arial" pitchFamily="34" charset="-120"/>
              </a:rPr>
              <a:t>CR-04+05</a:t>
            </a:r>
            <a:endParaRPr lang="en-US" sz="850" dirty="0"/>
          </a:p>
        </p:txBody>
      </p:sp>
      <p:sp>
        <p:nvSpPr>
          <p:cNvPr id="25" name="Shape 23"/>
          <p:cNvSpPr/>
          <p:nvPr/>
        </p:nvSpPr>
        <p:spPr>
          <a:xfrm>
            <a:off x="1627632" y="2907792"/>
            <a:ext cx="1005840" cy="219456"/>
          </a:xfrm>
          <a:prstGeom prst="rect">
            <a:avLst/>
          </a:prstGeom>
          <a:solidFill>
            <a:srgbClr val="FFF7ED"/>
          </a:solidFill>
          <a:ln w="12700">
            <a:solidFill>
              <a:srgbClr val="D97706"/>
            </a:solidFill>
            <a:prstDash val="solid"/>
          </a:ln>
          <a:effectLst>
            <a:outerShdw blurRad="101600" dist="25400" dir="8100000" algn="bl" rotWithShape="0">
              <a:srgbClr val="000000">
                <a:alpha val="7000"/>
              </a:srgbClr>
            </a:outerShdw>
          </a:effectLst>
        </p:spPr>
        <p:txBody>
          <a:bodyPr/>
          <a:lstStyle/>
          <a:p>
            <a:endParaRPr lang="de-DE"/>
          </a:p>
        </p:txBody>
      </p:sp>
      <p:sp>
        <p:nvSpPr>
          <p:cNvPr id="26" name="Text 24"/>
          <p:cNvSpPr/>
          <p:nvPr/>
        </p:nvSpPr>
        <p:spPr>
          <a:xfrm>
            <a:off x="1627632" y="2907792"/>
            <a:ext cx="1005840" cy="219456"/>
          </a:xfrm>
          <a:prstGeom prst="rect">
            <a:avLst/>
          </a:prstGeom>
          <a:noFill/>
          <a:ln/>
        </p:spPr>
        <p:txBody>
          <a:bodyPr wrap="square" lIns="0" tIns="0" rIns="0" bIns="0" rtlCol="0" anchor="ctr"/>
          <a:lstStyle/>
          <a:p>
            <a:pPr marL="0" indent="0" algn="ctr">
              <a:buNone/>
            </a:pPr>
            <a:r>
              <a:rPr lang="en-US" sz="800" b="1" dirty="0">
                <a:solidFill>
                  <a:srgbClr val="D97706"/>
                </a:solidFill>
                <a:latin typeface="Arial" pitchFamily="34" charset="0"/>
                <a:ea typeface="Arial" pitchFamily="34" charset="-122"/>
                <a:cs typeface="Arial" pitchFamily="34" charset="-120"/>
              </a:rPr>
              <a:t>NEW v1.1</a:t>
            </a:r>
            <a:endParaRPr lang="en-US" sz="800" dirty="0"/>
          </a:p>
        </p:txBody>
      </p:sp>
      <p:sp>
        <p:nvSpPr>
          <p:cNvPr id="27" name="Text 25"/>
          <p:cNvSpPr/>
          <p:nvPr/>
        </p:nvSpPr>
        <p:spPr>
          <a:xfrm>
            <a:off x="2706624" y="2907792"/>
            <a:ext cx="5815584" cy="310896"/>
          </a:xfrm>
          <a:prstGeom prst="rect">
            <a:avLst/>
          </a:prstGeom>
          <a:noFill/>
          <a:ln/>
        </p:spPr>
        <p:txBody>
          <a:bodyPr wrap="square" lIns="0" tIns="0" rIns="0" bIns="0" rtlCol="0" anchor="ctr"/>
          <a:lstStyle/>
          <a:p>
            <a:pPr marL="0" indent="0" algn="l">
              <a:buNone/>
            </a:pPr>
            <a:r>
              <a:rPr lang="en-US" sz="1200" b="1" dirty="0">
                <a:solidFill>
                  <a:srgbClr val="111111"/>
                </a:solidFill>
                <a:latin typeface="Arial" pitchFamily="34" charset="0"/>
                <a:ea typeface="Arial" pitchFamily="34" charset="-122"/>
                <a:cs typeface="Arial" pitchFamily="34" charset="-120"/>
              </a:rPr>
              <a:t>PO Matching + Local Accounting Rules</a:t>
            </a:r>
            <a:endParaRPr lang="en-US" sz="1200" dirty="0"/>
          </a:p>
        </p:txBody>
      </p:sp>
      <p:sp>
        <p:nvSpPr>
          <p:cNvPr id="28" name="Text 26"/>
          <p:cNvSpPr/>
          <p:nvPr/>
        </p:nvSpPr>
        <p:spPr>
          <a:xfrm>
            <a:off x="2706624" y="3236976"/>
            <a:ext cx="5815584" cy="420624"/>
          </a:xfrm>
          <a:prstGeom prst="rect">
            <a:avLst/>
          </a:prstGeom>
          <a:noFill/>
          <a:ln/>
        </p:spPr>
        <p:txBody>
          <a:bodyPr wrap="square" lIns="0" tIns="0" rIns="0" bIns="0" rtlCol="0" anchor="ctr"/>
          <a:lstStyle/>
          <a:p>
            <a:pPr marL="0" indent="0" algn="l">
              <a:buNone/>
            </a:pPr>
            <a:r>
              <a:rPr lang="en-US" sz="950" dirty="0">
                <a:solidFill>
                  <a:srgbClr val="4A4A4A"/>
                </a:solidFill>
                <a:latin typeface="Arial" pitchFamily="34" charset="0"/>
                <a:ea typeface="Arial" pitchFamily="34" charset="-122"/>
                <a:cs typeface="Arial" pitchFamily="34" charset="-120"/>
              </a:rPr>
              <a:t>Three-way match: invoice vs contract vs PO. Also checks jurisdiction-specific accounting thresholds — Germany, India, Philippines in v1.1. Flags if invoice triggers different accounting treatment.</a:t>
            </a:r>
            <a:endParaRPr lang="en-US" sz="950" dirty="0"/>
          </a:p>
        </p:txBody>
      </p:sp>
      <p:sp>
        <p:nvSpPr>
          <p:cNvPr id="29" name="Shape 27"/>
          <p:cNvSpPr/>
          <p:nvPr/>
        </p:nvSpPr>
        <p:spPr>
          <a:xfrm>
            <a:off x="457200" y="3840480"/>
            <a:ext cx="8229600" cy="87782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30" name="Shape 28"/>
          <p:cNvSpPr/>
          <p:nvPr/>
        </p:nvSpPr>
        <p:spPr>
          <a:xfrm>
            <a:off x="457200" y="3840480"/>
            <a:ext cx="45720" cy="877824"/>
          </a:xfrm>
          <a:prstGeom prst="rect">
            <a:avLst/>
          </a:prstGeom>
          <a:solidFill>
            <a:srgbClr val="0F766E"/>
          </a:solidFill>
          <a:ln w="12700">
            <a:solidFill>
              <a:srgbClr val="0F766E"/>
            </a:solidFill>
            <a:prstDash val="solid"/>
          </a:ln>
        </p:spPr>
        <p:txBody>
          <a:bodyPr/>
          <a:lstStyle/>
          <a:p>
            <a:endParaRPr lang="de-DE"/>
          </a:p>
        </p:txBody>
      </p:sp>
      <p:sp>
        <p:nvSpPr>
          <p:cNvPr id="31" name="Shape 29"/>
          <p:cNvSpPr/>
          <p:nvPr/>
        </p:nvSpPr>
        <p:spPr>
          <a:xfrm>
            <a:off x="457200" y="3840480"/>
            <a:ext cx="1097280" cy="877824"/>
          </a:xfrm>
          <a:prstGeom prst="rect">
            <a:avLst/>
          </a:prstGeom>
          <a:solidFill>
            <a:srgbClr val="E8F0FD"/>
          </a:solidFill>
          <a:ln w="12700">
            <a:solidFill>
              <a:srgbClr val="E2E8F0"/>
            </a:solidFill>
            <a:prstDash val="solid"/>
          </a:ln>
        </p:spPr>
        <p:txBody>
          <a:bodyPr/>
          <a:lstStyle/>
          <a:p>
            <a:endParaRPr lang="de-DE"/>
          </a:p>
        </p:txBody>
      </p:sp>
      <p:sp>
        <p:nvSpPr>
          <p:cNvPr id="32" name="Text 30"/>
          <p:cNvSpPr/>
          <p:nvPr/>
        </p:nvSpPr>
        <p:spPr>
          <a:xfrm>
            <a:off x="475488" y="3913632"/>
            <a:ext cx="1060704" cy="329184"/>
          </a:xfrm>
          <a:prstGeom prst="rect">
            <a:avLst/>
          </a:prstGeom>
          <a:noFill/>
          <a:ln/>
        </p:spPr>
        <p:txBody>
          <a:bodyPr wrap="square" lIns="0" tIns="0" rIns="0" bIns="0" rtlCol="0" anchor="ctr"/>
          <a:lstStyle/>
          <a:p>
            <a:pPr marL="0" indent="0" algn="ctr">
              <a:buNone/>
            </a:pPr>
            <a:r>
              <a:rPr lang="en-US" sz="1100" b="1" dirty="0">
                <a:solidFill>
                  <a:srgbClr val="0F766E"/>
                </a:solidFill>
                <a:latin typeface="Arial" pitchFamily="34" charset="0"/>
                <a:ea typeface="Arial" pitchFamily="34" charset="-122"/>
                <a:cs typeface="Arial" pitchFamily="34" charset="-120"/>
              </a:rPr>
              <a:t>Agent 2+5</a:t>
            </a:r>
            <a:endParaRPr lang="en-US" sz="1100" dirty="0"/>
          </a:p>
        </p:txBody>
      </p:sp>
      <p:sp>
        <p:nvSpPr>
          <p:cNvPr id="33" name="Text 31"/>
          <p:cNvSpPr/>
          <p:nvPr/>
        </p:nvSpPr>
        <p:spPr>
          <a:xfrm>
            <a:off x="475488" y="4297680"/>
            <a:ext cx="1060704" cy="256032"/>
          </a:xfrm>
          <a:prstGeom prst="rect">
            <a:avLst/>
          </a:prstGeom>
          <a:noFill/>
          <a:ln/>
        </p:spPr>
        <p:txBody>
          <a:bodyPr wrap="square" lIns="0" tIns="0" rIns="0" bIns="0" rtlCol="0" anchor="ctr"/>
          <a:lstStyle/>
          <a:p>
            <a:pPr marL="0" indent="0" algn="ctr">
              <a:buNone/>
            </a:pPr>
            <a:r>
              <a:rPr lang="en-US" sz="850" dirty="0">
                <a:solidFill>
                  <a:srgbClr val="9E9E9E"/>
                </a:solidFill>
                <a:latin typeface="Arial" pitchFamily="34" charset="0"/>
                <a:ea typeface="Arial" pitchFamily="34" charset="-122"/>
                <a:cs typeface="Arial" pitchFamily="34" charset="-120"/>
              </a:rPr>
              <a:t>CR-06</a:t>
            </a:r>
            <a:endParaRPr lang="en-US" sz="850" dirty="0"/>
          </a:p>
        </p:txBody>
      </p:sp>
      <p:sp>
        <p:nvSpPr>
          <p:cNvPr id="34" name="Shape 32"/>
          <p:cNvSpPr/>
          <p:nvPr/>
        </p:nvSpPr>
        <p:spPr>
          <a:xfrm>
            <a:off x="1627632" y="3913632"/>
            <a:ext cx="1005840" cy="219456"/>
          </a:xfrm>
          <a:prstGeom prst="rect">
            <a:avLst/>
          </a:prstGeom>
          <a:solidFill>
            <a:srgbClr val="F0FDFA"/>
          </a:solidFill>
          <a:ln w="12700">
            <a:solidFill>
              <a:srgbClr val="0F766E"/>
            </a:solidFill>
            <a:prstDash val="solid"/>
          </a:ln>
          <a:effectLst>
            <a:outerShdw blurRad="101600" dist="25400" dir="8100000" algn="bl" rotWithShape="0">
              <a:srgbClr val="000000">
                <a:alpha val="7000"/>
              </a:srgbClr>
            </a:outerShdw>
          </a:effectLst>
        </p:spPr>
        <p:txBody>
          <a:bodyPr/>
          <a:lstStyle/>
          <a:p>
            <a:endParaRPr lang="de-DE"/>
          </a:p>
        </p:txBody>
      </p:sp>
      <p:sp>
        <p:nvSpPr>
          <p:cNvPr id="35" name="Text 33"/>
          <p:cNvSpPr/>
          <p:nvPr/>
        </p:nvSpPr>
        <p:spPr>
          <a:xfrm>
            <a:off x="1627632" y="3913632"/>
            <a:ext cx="1005840" cy="219456"/>
          </a:xfrm>
          <a:prstGeom prst="rect">
            <a:avLst/>
          </a:prstGeom>
          <a:noFill/>
          <a:ln/>
        </p:spPr>
        <p:txBody>
          <a:bodyPr wrap="square" lIns="0" tIns="0" rIns="0" bIns="0" rtlCol="0" anchor="ctr"/>
          <a:lstStyle/>
          <a:p>
            <a:pPr marL="0" indent="0" algn="ctr">
              <a:buNone/>
            </a:pPr>
            <a:r>
              <a:rPr lang="en-US" sz="800" b="1" dirty="0">
                <a:solidFill>
                  <a:srgbClr val="0F766E"/>
                </a:solidFill>
                <a:latin typeface="Arial" pitchFamily="34" charset="0"/>
                <a:ea typeface="Arial" pitchFamily="34" charset="-122"/>
                <a:cs typeface="Arial" pitchFamily="34" charset="-120"/>
              </a:rPr>
              <a:t>NEW v1.1</a:t>
            </a:r>
            <a:endParaRPr lang="en-US" sz="800" dirty="0"/>
          </a:p>
        </p:txBody>
      </p:sp>
      <p:sp>
        <p:nvSpPr>
          <p:cNvPr id="36" name="Text 34"/>
          <p:cNvSpPr/>
          <p:nvPr/>
        </p:nvSpPr>
        <p:spPr>
          <a:xfrm>
            <a:off x="2706624" y="3913632"/>
            <a:ext cx="5815584" cy="310896"/>
          </a:xfrm>
          <a:prstGeom prst="rect">
            <a:avLst/>
          </a:prstGeom>
          <a:noFill/>
          <a:ln/>
        </p:spPr>
        <p:txBody>
          <a:bodyPr wrap="square" lIns="0" tIns="0" rIns="0" bIns="0" rtlCol="0" anchor="ctr"/>
          <a:lstStyle/>
          <a:p>
            <a:pPr marL="0" indent="0" algn="l">
              <a:buNone/>
            </a:pPr>
            <a:r>
              <a:rPr lang="en-US" sz="1200" b="1" dirty="0">
                <a:solidFill>
                  <a:srgbClr val="111111"/>
                </a:solidFill>
                <a:latin typeface="Arial" pitchFamily="34" charset="0"/>
                <a:ea typeface="Arial" pitchFamily="34" charset="-122"/>
                <a:cs typeface="Arial" pitchFamily="34" charset="-120"/>
              </a:rPr>
              <a:t>Intermediary Cost Tracking</a:t>
            </a:r>
            <a:endParaRPr lang="en-US" sz="1200" dirty="0"/>
          </a:p>
        </p:txBody>
      </p:sp>
      <p:sp>
        <p:nvSpPr>
          <p:cNvPr id="37" name="Text 35"/>
          <p:cNvSpPr/>
          <p:nvPr/>
        </p:nvSpPr>
        <p:spPr>
          <a:xfrm>
            <a:off x="2706624" y="4242816"/>
            <a:ext cx="5815584" cy="420624"/>
          </a:xfrm>
          <a:prstGeom prst="rect">
            <a:avLst/>
          </a:prstGeom>
          <a:noFill/>
          <a:ln/>
        </p:spPr>
        <p:txBody>
          <a:bodyPr wrap="square" lIns="0" tIns="0" rIns="0" bIns="0" rtlCol="0" anchor="ctr"/>
          <a:lstStyle/>
          <a:p>
            <a:pPr marL="0" indent="0" algn="l">
              <a:buNone/>
            </a:pPr>
            <a:r>
              <a:rPr lang="en-US" sz="950" dirty="0">
                <a:solidFill>
                  <a:srgbClr val="4A4A4A"/>
                </a:solidFill>
                <a:latin typeface="Arial" pitchFamily="34" charset="0"/>
                <a:ea typeface="Arial" pitchFamily="34" charset="-122"/>
                <a:cs typeface="Arial" pitchFamily="34" charset="-120"/>
              </a:rPr>
              <a:t>Intermediary fees tracked as adjacent costs: staffing_agency · eor_provider · government_fee · legal_counsel. Alert if intermediary costs exceed 30% of country spend.</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Phase 2 — new capabilities after go-live stabilisation</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06  REVISED PROPOSAL</a:t>
            </a:r>
            <a:endParaRPr lang="en-US" sz="850" dirty="0"/>
          </a:p>
        </p:txBody>
      </p:sp>
      <p:sp>
        <p:nvSpPr>
          <p:cNvPr id="7" name="Shape 5"/>
          <p:cNvSpPr/>
          <p:nvPr/>
        </p:nvSpPr>
        <p:spPr>
          <a:xfrm>
            <a:off x="457200" y="1261872"/>
            <a:ext cx="8229600" cy="475488"/>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75488"/>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75488"/>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Client requested full process automation up to the human signature step. Compliance research required before commitment.</a:t>
            </a:r>
            <a:endParaRPr lang="en-US" sz="1250" dirty="0"/>
          </a:p>
        </p:txBody>
      </p:sp>
      <p:sp>
        <p:nvSpPr>
          <p:cNvPr id="10" name="Shape 8"/>
          <p:cNvSpPr/>
          <p:nvPr/>
        </p:nvSpPr>
        <p:spPr>
          <a:xfrm>
            <a:off x="457200" y="1847088"/>
            <a:ext cx="3931920" cy="307238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457200" y="1847088"/>
            <a:ext cx="3931920" cy="384048"/>
          </a:xfrm>
          <a:prstGeom prst="rect">
            <a:avLst/>
          </a:prstGeom>
          <a:solidFill>
            <a:srgbClr val="0F766E"/>
          </a:solidFill>
          <a:ln w="12700">
            <a:solidFill>
              <a:srgbClr val="0F766E"/>
            </a:solidFill>
            <a:prstDash val="solid"/>
          </a:ln>
        </p:spPr>
        <p:txBody>
          <a:bodyPr/>
          <a:lstStyle/>
          <a:p>
            <a:endParaRPr lang="de-DE"/>
          </a:p>
        </p:txBody>
      </p:sp>
      <p:sp>
        <p:nvSpPr>
          <p:cNvPr id="12" name="Text 10"/>
          <p:cNvSpPr/>
          <p:nvPr/>
        </p:nvSpPr>
        <p:spPr>
          <a:xfrm>
            <a:off x="566928" y="1847088"/>
            <a:ext cx="3712464"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CR-02  Social Registration Automation</a:t>
            </a:r>
            <a:endParaRPr lang="en-US" sz="1100" dirty="0"/>
          </a:p>
        </p:txBody>
      </p:sp>
      <p:sp>
        <p:nvSpPr>
          <p:cNvPr id="13" name="Text 11"/>
          <p:cNvSpPr/>
          <p:nvPr/>
        </p:nvSpPr>
        <p:spPr>
          <a:xfrm>
            <a:off x="566928" y="2304288"/>
            <a:ext cx="3712464" cy="256032"/>
          </a:xfrm>
          <a:prstGeom prst="rect">
            <a:avLst/>
          </a:prstGeom>
          <a:noFill/>
          <a:ln/>
        </p:spPr>
        <p:txBody>
          <a:bodyPr wrap="square" lIns="0" tIns="0" rIns="0" bIns="0" rtlCol="0" anchor="ctr"/>
          <a:lstStyle/>
          <a:p>
            <a:pPr marL="0" indent="0" algn="l">
              <a:buNone/>
            </a:pPr>
            <a:r>
              <a:rPr lang="en-US" sz="900" i="1" dirty="0">
                <a:solidFill>
                  <a:srgbClr val="4A4A4A"/>
                </a:solidFill>
                <a:latin typeface="Arial" pitchFamily="34" charset="0"/>
                <a:ea typeface="Arial" pitchFamily="34" charset="-122"/>
                <a:cs typeface="Arial" pitchFamily="34" charset="-120"/>
              </a:rPr>
              <a:t>Trigger: New contract created in target country</a:t>
            </a:r>
            <a:endParaRPr lang="en-US" sz="900" dirty="0"/>
          </a:p>
        </p:txBody>
      </p:sp>
      <p:sp>
        <p:nvSpPr>
          <p:cNvPr id="14" name="Shape 12"/>
          <p:cNvSpPr/>
          <p:nvPr/>
        </p:nvSpPr>
        <p:spPr>
          <a:xfrm>
            <a:off x="566928" y="2651760"/>
            <a:ext cx="164592" cy="164592"/>
          </a:xfrm>
          <a:prstGeom prst="ellipse">
            <a:avLst/>
          </a:prstGeom>
          <a:solidFill>
            <a:srgbClr val="0F766E"/>
          </a:solidFill>
          <a:ln w="12700">
            <a:solidFill>
              <a:srgbClr val="0F766E"/>
            </a:solidFill>
            <a:prstDash val="solid"/>
          </a:ln>
        </p:spPr>
        <p:txBody>
          <a:bodyPr/>
          <a:lstStyle/>
          <a:p>
            <a:endParaRPr lang="de-DE"/>
          </a:p>
        </p:txBody>
      </p:sp>
      <p:sp>
        <p:nvSpPr>
          <p:cNvPr id="15" name="Text 13"/>
          <p:cNvSpPr/>
          <p:nvPr/>
        </p:nvSpPr>
        <p:spPr>
          <a:xfrm>
            <a:off x="804672" y="261518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Pulls country-specific social security + insurance requirements</a:t>
            </a:r>
            <a:endParaRPr lang="en-US" sz="900" dirty="0"/>
          </a:p>
        </p:txBody>
      </p:sp>
      <p:sp>
        <p:nvSpPr>
          <p:cNvPr id="16" name="Shape 14"/>
          <p:cNvSpPr/>
          <p:nvPr/>
        </p:nvSpPr>
        <p:spPr>
          <a:xfrm>
            <a:off x="566928" y="3017520"/>
            <a:ext cx="164592" cy="164592"/>
          </a:xfrm>
          <a:prstGeom prst="ellipse">
            <a:avLst/>
          </a:prstGeom>
          <a:solidFill>
            <a:srgbClr val="0F766E"/>
          </a:solidFill>
          <a:ln w="12700">
            <a:solidFill>
              <a:srgbClr val="0F766E"/>
            </a:solidFill>
            <a:prstDash val="solid"/>
          </a:ln>
        </p:spPr>
        <p:txBody>
          <a:bodyPr/>
          <a:lstStyle/>
          <a:p>
            <a:endParaRPr lang="de-DE"/>
          </a:p>
        </p:txBody>
      </p:sp>
      <p:sp>
        <p:nvSpPr>
          <p:cNvPr id="17" name="Text 15"/>
          <p:cNvSpPr/>
          <p:nvPr/>
        </p:nvSpPr>
        <p:spPr>
          <a:xfrm>
            <a:off x="804672" y="298094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Pre-fills registration forms with contract data</a:t>
            </a:r>
            <a:endParaRPr lang="en-US" sz="900" dirty="0"/>
          </a:p>
        </p:txBody>
      </p:sp>
      <p:sp>
        <p:nvSpPr>
          <p:cNvPr id="18" name="Shape 16"/>
          <p:cNvSpPr/>
          <p:nvPr/>
        </p:nvSpPr>
        <p:spPr>
          <a:xfrm>
            <a:off x="566928" y="3383280"/>
            <a:ext cx="164592" cy="164592"/>
          </a:xfrm>
          <a:prstGeom prst="ellipse">
            <a:avLst/>
          </a:prstGeom>
          <a:solidFill>
            <a:srgbClr val="0F766E"/>
          </a:solidFill>
          <a:ln w="12700">
            <a:solidFill>
              <a:srgbClr val="0F766E"/>
            </a:solidFill>
            <a:prstDash val="solid"/>
          </a:ln>
        </p:spPr>
        <p:txBody>
          <a:bodyPr/>
          <a:lstStyle/>
          <a:p>
            <a:endParaRPr lang="de-DE"/>
          </a:p>
        </p:txBody>
      </p:sp>
      <p:sp>
        <p:nvSpPr>
          <p:cNvPr id="19" name="Text 17"/>
          <p:cNvSpPr/>
          <p:nvPr/>
        </p:nvSpPr>
        <p:spPr>
          <a:xfrm>
            <a:off x="804672" y="334670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Routes to HR for review and official submission</a:t>
            </a:r>
            <a:endParaRPr lang="en-US" sz="900" dirty="0"/>
          </a:p>
        </p:txBody>
      </p:sp>
      <p:sp>
        <p:nvSpPr>
          <p:cNvPr id="20" name="Shape 18"/>
          <p:cNvSpPr/>
          <p:nvPr/>
        </p:nvSpPr>
        <p:spPr>
          <a:xfrm>
            <a:off x="566928" y="3749040"/>
            <a:ext cx="164592" cy="164592"/>
          </a:xfrm>
          <a:prstGeom prst="ellipse">
            <a:avLst/>
          </a:prstGeom>
          <a:solidFill>
            <a:srgbClr val="0F766E"/>
          </a:solidFill>
          <a:ln w="12700">
            <a:solidFill>
              <a:srgbClr val="0F766E"/>
            </a:solidFill>
            <a:prstDash val="solid"/>
          </a:ln>
        </p:spPr>
        <p:txBody>
          <a:bodyPr/>
          <a:lstStyle/>
          <a:p>
            <a:endParaRPr lang="de-DE"/>
          </a:p>
        </p:txBody>
      </p:sp>
      <p:sp>
        <p:nvSpPr>
          <p:cNvPr id="21" name="Text 19"/>
          <p:cNvSpPr/>
          <p:nvPr/>
        </p:nvSpPr>
        <p:spPr>
          <a:xfrm>
            <a:off x="804672" y="371246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Human submits to government bodies — agent prepares only</a:t>
            </a:r>
            <a:endParaRPr lang="en-US" sz="900" dirty="0"/>
          </a:p>
        </p:txBody>
      </p:sp>
      <p:sp>
        <p:nvSpPr>
          <p:cNvPr id="22" name="Shape 20"/>
          <p:cNvSpPr/>
          <p:nvPr/>
        </p:nvSpPr>
        <p:spPr>
          <a:xfrm>
            <a:off x="566928" y="4261104"/>
            <a:ext cx="3712464" cy="475488"/>
          </a:xfrm>
          <a:prstGeom prst="rect">
            <a:avLst/>
          </a:prstGeom>
          <a:solidFill>
            <a:srgbClr val="F0FDFA"/>
          </a:solidFill>
          <a:ln w="12700">
            <a:solidFill>
              <a:srgbClr val="99F6E4"/>
            </a:solidFill>
            <a:prstDash val="solid"/>
          </a:ln>
        </p:spPr>
        <p:txBody>
          <a:bodyPr/>
          <a:lstStyle/>
          <a:p>
            <a:endParaRPr lang="de-DE"/>
          </a:p>
        </p:txBody>
      </p:sp>
      <p:sp>
        <p:nvSpPr>
          <p:cNvPr id="23" name="Text 21"/>
          <p:cNvSpPr/>
          <p:nvPr/>
        </p:nvSpPr>
        <p:spPr>
          <a:xfrm>
            <a:off x="621792" y="4261104"/>
            <a:ext cx="3602736" cy="475488"/>
          </a:xfrm>
          <a:prstGeom prst="rect">
            <a:avLst/>
          </a:prstGeom>
          <a:noFill/>
          <a:ln/>
        </p:spPr>
        <p:txBody>
          <a:bodyPr wrap="square" lIns="0" tIns="0" rIns="0" bIns="0" rtlCol="0" anchor="ctr"/>
          <a:lstStyle/>
          <a:p>
            <a:pPr marL="0" indent="0" algn="l">
              <a:buNone/>
            </a:pPr>
            <a:r>
              <a:rPr lang="en-US" sz="850" b="1" dirty="0">
                <a:solidFill>
                  <a:srgbClr val="0F766E"/>
                </a:solidFill>
                <a:latin typeface="Arial" pitchFamily="34" charset="0"/>
                <a:ea typeface="Arial" pitchFamily="34" charset="-122"/>
                <a:cs typeface="Arial" pitchFamily="34" charset="-120"/>
              </a:rPr>
              <a:t>⚠  Pre-condition: legal review per jurisdiction before automation</a:t>
            </a:r>
            <a:endParaRPr lang="en-US" sz="850" dirty="0"/>
          </a:p>
        </p:txBody>
      </p:sp>
      <p:sp>
        <p:nvSpPr>
          <p:cNvPr id="24" name="Shape 22"/>
          <p:cNvSpPr/>
          <p:nvPr/>
        </p:nvSpPr>
        <p:spPr>
          <a:xfrm>
            <a:off x="4754880" y="1847088"/>
            <a:ext cx="3931920" cy="3072384"/>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5" name="Shape 23"/>
          <p:cNvSpPr/>
          <p:nvPr/>
        </p:nvSpPr>
        <p:spPr>
          <a:xfrm>
            <a:off x="4754880" y="1847088"/>
            <a:ext cx="3931920" cy="384048"/>
          </a:xfrm>
          <a:prstGeom prst="rect">
            <a:avLst/>
          </a:prstGeom>
          <a:solidFill>
            <a:srgbClr val="005AEE"/>
          </a:solidFill>
          <a:ln w="12700">
            <a:solidFill>
              <a:srgbClr val="005AEE"/>
            </a:solidFill>
            <a:prstDash val="solid"/>
          </a:ln>
        </p:spPr>
        <p:txBody>
          <a:bodyPr/>
          <a:lstStyle/>
          <a:p>
            <a:endParaRPr lang="de-DE"/>
          </a:p>
        </p:txBody>
      </p:sp>
      <p:sp>
        <p:nvSpPr>
          <p:cNvPr id="26" name="Text 24"/>
          <p:cNvSpPr/>
          <p:nvPr/>
        </p:nvSpPr>
        <p:spPr>
          <a:xfrm>
            <a:off x="4864608" y="1847088"/>
            <a:ext cx="3712464" cy="384048"/>
          </a:xfrm>
          <a:prstGeom prst="rect">
            <a:avLst/>
          </a:prstGeom>
          <a:noFill/>
          <a:ln/>
        </p:spPr>
        <p:txBody>
          <a:bodyPr wrap="square" lIns="0" tIns="0" rIns="0" bIns="0" rtlCol="0" anchor="ctr"/>
          <a:lstStyle/>
          <a:p>
            <a:pPr marL="0" indent="0" algn="l">
              <a:buNone/>
            </a:pPr>
            <a:r>
              <a:rPr lang="en-US" sz="1100" b="1" dirty="0">
                <a:solidFill>
                  <a:srgbClr val="FFFFFF"/>
                </a:solidFill>
                <a:latin typeface="Arial" pitchFamily="34" charset="0"/>
                <a:ea typeface="Arial" pitchFamily="34" charset="-122"/>
                <a:cs typeface="Arial" pitchFamily="34" charset="-120"/>
              </a:rPr>
              <a:t>CR-03  Contract Generation Workflow</a:t>
            </a:r>
            <a:endParaRPr lang="en-US" sz="1100" dirty="0"/>
          </a:p>
        </p:txBody>
      </p:sp>
      <p:sp>
        <p:nvSpPr>
          <p:cNvPr id="27" name="Text 25"/>
          <p:cNvSpPr/>
          <p:nvPr/>
        </p:nvSpPr>
        <p:spPr>
          <a:xfrm>
            <a:off x="4864608" y="2304288"/>
            <a:ext cx="3712464" cy="256032"/>
          </a:xfrm>
          <a:prstGeom prst="rect">
            <a:avLst/>
          </a:prstGeom>
          <a:noFill/>
          <a:ln/>
        </p:spPr>
        <p:txBody>
          <a:bodyPr wrap="square" lIns="0" tIns="0" rIns="0" bIns="0" rtlCol="0" anchor="ctr"/>
          <a:lstStyle/>
          <a:p>
            <a:pPr marL="0" indent="0" algn="l">
              <a:buNone/>
            </a:pPr>
            <a:r>
              <a:rPr lang="en-US" sz="900" i="1" dirty="0">
                <a:solidFill>
                  <a:srgbClr val="4A4A4A"/>
                </a:solidFill>
                <a:latin typeface="Arial" pitchFamily="34" charset="0"/>
                <a:ea typeface="Arial" pitchFamily="34" charset="-122"/>
                <a:cs typeface="Arial" pitchFamily="34" charset="-120"/>
              </a:rPr>
              <a:t>Trigger: HR onboards a new worker</a:t>
            </a:r>
            <a:endParaRPr lang="en-US" sz="900" dirty="0"/>
          </a:p>
        </p:txBody>
      </p:sp>
      <p:sp>
        <p:nvSpPr>
          <p:cNvPr id="28" name="Shape 26"/>
          <p:cNvSpPr/>
          <p:nvPr/>
        </p:nvSpPr>
        <p:spPr>
          <a:xfrm>
            <a:off x="4864608" y="2651760"/>
            <a:ext cx="164592" cy="164592"/>
          </a:xfrm>
          <a:prstGeom prst="ellipse">
            <a:avLst/>
          </a:prstGeom>
          <a:solidFill>
            <a:srgbClr val="005AEE"/>
          </a:solidFill>
          <a:ln w="12700">
            <a:solidFill>
              <a:srgbClr val="005AEE"/>
            </a:solidFill>
            <a:prstDash val="solid"/>
          </a:ln>
        </p:spPr>
        <p:txBody>
          <a:bodyPr/>
          <a:lstStyle/>
          <a:p>
            <a:endParaRPr lang="de-DE"/>
          </a:p>
        </p:txBody>
      </p:sp>
      <p:sp>
        <p:nvSpPr>
          <p:cNvPr id="29" name="Text 27"/>
          <p:cNvSpPr/>
          <p:nvPr/>
        </p:nvSpPr>
        <p:spPr>
          <a:xfrm>
            <a:off x="5102352" y="261518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Collects: name, role, country, contract type, rate, start date</a:t>
            </a:r>
            <a:endParaRPr lang="en-US" sz="900" dirty="0"/>
          </a:p>
        </p:txBody>
      </p:sp>
      <p:sp>
        <p:nvSpPr>
          <p:cNvPr id="30" name="Shape 28"/>
          <p:cNvSpPr/>
          <p:nvPr/>
        </p:nvSpPr>
        <p:spPr>
          <a:xfrm>
            <a:off x="4864608" y="3017520"/>
            <a:ext cx="164592" cy="164592"/>
          </a:xfrm>
          <a:prstGeom prst="ellipse">
            <a:avLst/>
          </a:prstGeom>
          <a:solidFill>
            <a:srgbClr val="005AEE"/>
          </a:solidFill>
          <a:ln w="12700">
            <a:solidFill>
              <a:srgbClr val="005AEE"/>
            </a:solidFill>
            <a:prstDash val="solid"/>
          </a:ln>
        </p:spPr>
        <p:txBody>
          <a:bodyPr/>
          <a:lstStyle/>
          <a:p>
            <a:endParaRPr lang="de-DE"/>
          </a:p>
        </p:txBody>
      </p:sp>
      <p:sp>
        <p:nvSpPr>
          <p:cNvPr id="31" name="Text 29"/>
          <p:cNvSpPr/>
          <p:nvPr/>
        </p:nvSpPr>
        <p:spPr>
          <a:xfrm>
            <a:off x="5102352" y="298094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LLM generates draft using jurisdiction-specific template</a:t>
            </a:r>
            <a:endParaRPr lang="en-US" sz="900" dirty="0"/>
          </a:p>
        </p:txBody>
      </p:sp>
      <p:sp>
        <p:nvSpPr>
          <p:cNvPr id="32" name="Shape 30"/>
          <p:cNvSpPr/>
          <p:nvPr/>
        </p:nvSpPr>
        <p:spPr>
          <a:xfrm>
            <a:off x="4864608" y="3383280"/>
            <a:ext cx="164592" cy="164592"/>
          </a:xfrm>
          <a:prstGeom prst="ellipse">
            <a:avLst/>
          </a:prstGeom>
          <a:solidFill>
            <a:srgbClr val="005AEE"/>
          </a:solidFill>
          <a:ln w="12700">
            <a:solidFill>
              <a:srgbClr val="005AEE"/>
            </a:solidFill>
            <a:prstDash val="solid"/>
          </a:ln>
        </p:spPr>
        <p:txBody>
          <a:bodyPr/>
          <a:lstStyle/>
          <a:p>
            <a:endParaRPr lang="de-DE"/>
          </a:p>
        </p:txBody>
      </p:sp>
      <p:sp>
        <p:nvSpPr>
          <p:cNvPr id="33" name="Text 31"/>
          <p:cNvSpPr/>
          <p:nvPr/>
        </p:nvSpPr>
        <p:spPr>
          <a:xfrm>
            <a:off x="5102352" y="334670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Draft produced in local language + English</a:t>
            </a:r>
            <a:endParaRPr lang="en-US" sz="900" dirty="0"/>
          </a:p>
        </p:txBody>
      </p:sp>
      <p:sp>
        <p:nvSpPr>
          <p:cNvPr id="34" name="Shape 32"/>
          <p:cNvSpPr/>
          <p:nvPr/>
        </p:nvSpPr>
        <p:spPr>
          <a:xfrm>
            <a:off x="4864608" y="3749040"/>
            <a:ext cx="164592" cy="164592"/>
          </a:xfrm>
          <a:prstGeom prst="ellipse">
            <a:avLst/>
          </a:prstGeom>
          <a:solidFill>
            <a:srgbClr val="005AEE"/>
          </a:solidFill>
          <a:ln w="12700">
            <a:solidFill>
              <a:srgbClr val="005AEE"/>
            </a:solidFill>
            <a:prstDash val="solid"/>
          </a:ln>
        </p:spPr>
        <p:txBody>
          <a:bodyPr/>
          <a:lstStyle/>
          <a:p>
            <a:endParaRPr lang="de-DE"/>
          </a:p>
        </p:txBody>
      </p:sp>
      <p:sp>
        <p:nvSpPr>
          <p:cNvPr id="35" name="Text 33"/>
          <p:cNvSpPr/>
          <p:nvPr/>
        </p:nvSpPr>
        <p:spPr>
          <a:xfrm>
            <a:off x="5102352" y="3712464"/>
            <a:ext cx="3474720" cy="329184"/>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Lawyer reviews first template per country — approved templates reused</a:t>
            </a:r>
            <a:endParaRPr lang="en-US" sz="900" dirty="0"/>
          </a:p>
        </p:txBody>
      </p:sp>
      <p:sp>
        <p:nvSpPr>
          <p:cNvPr id="36" name="Shape 34"/>
          <p:cNvSpPr/>
          <p:nvPr/>
        </p:nvSpPr>
        <p:spPr>
          <a:xfrm>
            <a:off x="4864608" y="4261104"/>
            <a:ext cx="3712464" cy="475488"/>
          </a:xfrm>
          <a:prstGeom prst="rect">
            <a:avLst/>
          </a:prstGeom>
          <a:solidFill>
            <a:srgbClr val="E8F0FD"/>
          </a:solidFill>
          <a:ln w="12700">
            <a:solidFill>
              <a:srgbClr val="C5D9FA"/>
            </a:solidFill>
            <a:prstDash val="solid"/>
          </a:ln>
        </p:spPr>
        <p:txBody>
          <a:bodyPr/>
          <a:lstStyle/>
          <a:p>
            <a:endParaRPr lang="de-DE"/>
          </a:p>
        </p:txBody>
      </p:sp>
      <p:sp>
        <p:nvSpPr>
          <p:cNvPr id="37" name="Text 35"/>
          <p:cNvSpPr/>
          <p:nvPr/>
        </p:nvSpPr>
        <p:spPr>
          <a:xfrm>
            <a:off x="4919472" y="4261104"/>
            <a:ext cx="3602736" cy="475488"/>
          </a:xfrm>
          <a:prstGeom prst="rect">
            <a:avLst/>
          </a:prstGeom>
          <a:noFill/>
          <a:ln/>
        </p:spPr>
        <p:txBody>
          <a:bodyPr wrap="square" lIns="0" tIns="0" rIns="0" bIns="0" rtlCol="0" anchor="ctr"/>
          <a:lstStyle/>
          <a:p>
            <a:pPr marL="0" indent="0" algn="l">
              <a:buNone/>
            </a:pPr>
            <a:r>
              <a:rPr lang="en-US" sz="850" b="1" dirty="0">
                <a:solidFill>
                  <a:srgbClr val="005AEE"/>
                </a:solidFill>
                <a:latin typeface="Arial" pitchFamily="34" charset="0"/>
                <a:ea typeface="Arial" pitchFamily="34" charset="-122"/>
                <a:cs typeface="Arial" pitchFamily="34" charset="-120"/>
              </a:rPr>
              <a:t>⚠  Auto-signing explicitly out of scope — human signature always required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Change log — request → action → why</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06  CHANGE LOG</a:t>
            </a:r>
            <a:endParaRPr lang="en-US" sz="850" dirty="0"/>
          </a:p>
        </p:txBody>
      </p:sp>
      <p:sp>
        <p:nvSpPr>
          <p:cNvPr id="7" name="Shape 5"/>
          <p:cNvSpPr/>
          <p:nvPr/>
        </p:nvSpPr>
        <p:spPr>
          <a:xfrm>
            <a:off x="457200" y="1261872"/>
            <a:ext cx="8229600" cy="402336"/>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02336"/>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02336"/>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Five accepted (Phase 1), two scoped (Phase 2), two push-backs. Every decision has a reason.</a:t>
            </a:r>
            <a:endParaRPr lang="en-US" sz="1250" dirty="0"/>
          </a:p>
        </p:txBody>
      </p:sp>
      <p:sp>
        <p:nvSpPr>
          <p:cNvPr id="10" name="Shape 8"/>
          <p:cNvSpPr/>
          <p:nvPr/>
        </p:nvSpPr>
        <p:spPr>
          <a:xfrm>
            <a:off x="457200" y="1755648"/>
            <a:ext cx="1234440" cy="310896"/>
          </a:xfrm>
          <a:prstGeom prst="rect">
            <a:avLst/>
          </a:prstGeom>
          <a:solidFill>
            <a:srgbClr val="005AEE"/>
          </a:solidFill>
          <a:ln w="12700">
            <a:solidFill>
              <a:srgbClr val="005AEE"/>
            </a:solidFill>
            <a:prstDash val="solid"/>
          </a:ln>
        </p:spPr>
        <p:txBody>
          <a:bodyPr/>
          <a:lstStyle/>
          <a:p>
            <a:endParaRPr lang="de-DE"/>
          </a:p>
        </p:txBody>
      </p:sp>
      <p:sp>
        <p:nvSpPr>
          <p:cNvPr id="11" name="Text 9"/>
          <p:cNvSpPr/>
          <p:nvPr/>
        </p:nvSpPr>
        <p:spPr>
          <a:xfrm>
            <a:off x="512064" y="1755648"/>
            <a:ext cx="114300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CR</a:t>
            </a:r>
            <a:endParaRPr lang="en-US" sz="1000" dirty="0"/>
          </a:p>
        </p:txBody>
      </p:sp>
      <p:sp>
        <p:nvSpPr>
          <p:cNvPr id="12" name="Shape 10"/>
          <p:cNvSpPr/>
          <p:nvPr/>
        </p:nvSpPr>
        <p:spPr>
          <a:xfrm>
            <a:off x="1737360" y="1755648"/>
            <a:ext cx="1783080" cy="310896"/>
          </a:xfrm>
          <a:prstGeom prst="rect">
            <a:avLst/>
          </a:prstGeom>
          <a:solidFill>
            <a:srgbClr val="005AEE"/>
          </a:solidFill>
          <a:ln w="12700">
            <a:solidFill>
              <a:srgbClr val="005AEE"/>
            </a:solidFill>
            <a:prstDash val="solid"/>
          </a:ln>
        </p:spPr>
        <p:txBody>
          <a:bodyPr/>
          <a:lstStyle/>
          <a:p>
            <a:endParaRPr lang="de-DE"/>
          </a:p>
        </p:txBody>
      </p:sp>
      <p:sp>
        <p:nvSpPr>
          <p:cNvPr id="13" name="Text 11"/>
          <p:cNvSpPr/>
          <p:nvPr/>
        </p:nvSpPr>
        <p:spPr>
          <a:xfrm>
            <a:off x="1792224" y="1755648"/>
            <a:ext cx="169164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Action</a:t>
            </a:r>
            <a:endParaRPr lang="en-US" sz="1000" dirty="0"/>
          </a:p>
        </p:txBody>
      </p:sp>
      <p:sp>
        <p:nvSpPr>
          <p:cNvPr id="14" name="Shape 12"/>
          <p:cNvSpPr/>
          <p:nvPr/>
        </p:nvSpPr>
        <p:spPr>
          <a:xfrm>
            <a:off x="3566160" y="1755648"/>
            <a:ext cx="2331720" cy="310896"/>
          </a:xfrm>
          <a:prstGeom prst="rect">
            <a:avLst/>
          </a:prstGeom>
          <a:solidFill>
            <a:srgbClr val="005AEE"/>
          </a:solidFill>
          <a:ln w="12700">
            <a:solidFill>
              <a:srgbClr val="005AEE"/>
            </a:solidFill>
            <a:prstDash val="solid"/>
          </a:ln>
        </p:spPr>
        <p:txBody>
          <a:bodyPr/>
          <a:lstStyle/>
          <a:p>
            <a:endParaRPr lang="de-DE"/>
          </a:p>
        </p:txBody>
      </p:sp>
      <p:sp>
        <p:nvSpPr>
          <p:cNvPr id="15" name="Text 13"/>
          <p:cNvSpPr/>
          <p:nvPr/>
        </p:nvSpPr>
        <p:spPr>
          <a:xfrm>
            <a:off x="3621024" y="1755648"/>
            <a:ext cx="224028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What changed</a:t>
            </a:r>
            <a:endParaRPr lang="en-US" sz="1000" dirty="0"/>
          </a:p>
        </p:txBody>
      </p:sp>
      <p:sp>
        <p:nvSpPr>
          <p:cNvPr id="16" name="Shape 14"/>
          <p:cNvSpPr/>
          <p:nvPr/>
        </p:nvSpPr>
        <p:spPr>
          <a:xfrm>
            <a:off x="5943600" y="1755648"/>
            <a:ext cx="2743200" cy="310896"/>
          </a:xfrm>
          <a:prstGeom prst="rect">
            <a:avLst/>
          </a:prstGeom>
          <a:solidFill>
            <a:srgbClr val="005AEE"/>
          </a:solidFill>
          <a:ln w="12700">
            <a:solidFill>
              <a:srgbClr val="005AEE"/>
            </a:solidFill>
            <a:prstDash val="solid"/>
          </a:ln>
        </p:spPr>
        <p:txBody>
          <a:bodyPr/>
          <a:lstStyle/>
          <a:p>
            <a:endParaRPr lang="de-DE"/>
          </a:p>
        </p:txBody>
      </p:sp>
      <p:sp>
        <p:nvSpPr>
          <p:cNvPr id="17" name="Text 15"/>
          <p:cNvSpPr/>
          <p:nvPr/>
        </p:nvSpPr>
        <p:spPr>
          <a:xfrm>
            <a:off x="5998464" y="1755648"/>
            <a:ext cx="2651760" cy="310896"/>
          </a:xfrm>
          <a:prstGeom prst="rect">
            <a:avLst/>
          </a:prstGeom>
          <a:noFill/>
          <a:ln/>
        </p:spPr>
        <p:txBody>
          <a:bodyPr wrap="square" lIns="0" tIns="0" rIns="0" bIns="0" rtlCol="0" anchor="ctr"/>
          <a:lstStyle/>
          <a:p>
            <a:pPr marL="0" indent="0" algn="l">
              <a:buNone/>
            </a:pPr>
            <a:r>
              <a:rPr lang="en-US" sz="1000" b="1" dirty="0">
                <a:solidFill>
                  <a:srgbClr val="FFFFFF"/>
                </a:solidFill>
                <a:latin typeface="Arial" pitchFamily="34" charset="0"/>
                <a:ea typeface="Arial" pitchFamily="34" charset="-122"/>
                <a:cs typeface="Arial" pitchFamily="34" charset="-120"/>
              </a:rPr>
              <a:t>Why</a:t>
            </a:r>
            <a:endParaRPr lang="en-US" sz="1000" dirty="0"/>
          </a:p>
        </p:txBody>
      </p:sp>
      <p:sp>
        <p:nvSpPr>
          <p:cNvPr id="18" name="Shape 16"/>
          <p:cNvSpPr/>
          <p:nvPr/>
        </p:nvSpPr>
        <p:spPr>
          <a:xfrm>
            <a:off x="457200" y="2103120"/>
            <a:ext cx="1234440" cy="301752"/>
          </a:xfrm>
          <a:prstGeom prst="rect">
            <a:avLst/>
          </a:prstGeom>
          <a:solidFill>
            <a:srgbClr val="F0FDF4"/>
          </a:solidFill>
          <a:ln w="12700">
            <a:solidFill>
              <a:srgbClr val="E2E8F0"/>
            </a:solidFill>
            <a:prstDash val="solid"/>
          </a:ln>
        </p:spPr>
        <p:txBody>
          <a:bodyPr/>
          <a:lstStyle/>
          <a:p>
            <a:endParaRPr lang="de-DE"/>
          </a:p>
        </p:txBody>
      </p:sp>
      <p:sp>
        <p:nvSpPr>
          <p:cNvPr id="19" name="Shape 17"/>
          <p:cNvSpPr/>
          <p:nvPr/>
        </p:nvSpPr>
        <p:spPr>
          <a:xfrm>
            <a:off x="1737360" y="2103120"/>
            <a:ext cx="1783080" cy="301752"/>
          </a:xfrm>
          <a:prstGeom prst="rect">
            <a:avLst/>
          </a:prstGeom>
          <a:solidFill>
            <a:srgbClr val="F0FDF4"/>
          </a:solidFill>
          <a:ln w="12700">
            <a:solidFill>
              <a:srgbClr val="E2E8F0"/>
            </a:solidFill>
            <a:prstDash val="solid"/>
          </a:ln>
        </p:spPr>
        <p:txBody>
          <a:bodyPr/>
          <a:lstStyle/>
          <a:p>
            <a:endParaRPr lang="de-DE"/>
          </a:p>
        </p:txBody>
      </p:sp>
      <p:sp>
        <p:nvSpPr>
          <p:cNvPr id="20" name="Shape 18"/>
          <p:cNvSpPr/>
          <p:nvPr/>
        </p:nvSpPr>
        <p:spPr>
          <a:xfrm>
            <a:off x="3566160" y="2103120"/>
            <a:ext cx="2331720" cy="301752"/>
          </a:xfrm>
          <a:prstGeom prst="rect">
            <a:avLst/>
          </a:prstGeom>
          <a:solidFill>
            <a:srgbClr val="F0FDF4"/>
          </a:solidFill>
          <a:ln w="12700">
            <a:solidFill>
              <a:srgbClr val="E2E8F0"/>
            </a:solidFill>
            <a:prstDash val="solid"/>
          </a:ln>
        </p:spPr>
        <p:txBody>
          <a:bodyPr/>
          <a:lstStyle/>
          <a:p>
            <a:endParaRPr lang="de-DE"/>
          </a:p>
        </p:txBody>
      </p:sp>
      <p:sp>
        <p:nvSpPr>
          <p:cNvPr id="21" name="Shape 19"/>
          <p:cNvSpPr/>
          <p:nvPr/>
        </p:nvSpPr>
        <p:spPr>
          <a:xfrm>
            <a:off x="5943600" y="2103120"/>
            <a:ext cx="2743200" cy="301752"/>
          </a:xfrm>
          <a:prstGeom prst="rect">
            <a:avLst/>
          </a:prstGeom>
          <a:solidFill>
            <a:srgbClr val="F0FDF4"/>
          </a:solidFill>
          <a:ln w="12700">
            <a:solidFill>
              <a:srgbClr val="E2E8F0"/>
            </a:solidFill>
            <a:prstDash val="solid"/>
          </a:ln>
        </p:spPr>
        <p:txBody>
          <a:bodyPr/>
          <a:lstStyle/>
          <a:p>
            <a:endParaRPr lang="de-DE"/>
          </a:p>
        </p:txBody>
      </p:sp>
      <p:sp>
        <p:nvSpPr>
          <p:cNvPr id="22" name="Shape 20"/>
          <p:cNvSpPr/>
          <p:nvPr/>
        </p:nvSpPr>
        <p:spPr>
          <a:xfrm>
            <a:off x="457200" y="2103120"/>
            <a:ext cx="36576" cy="301752"/>
          </a:xfrm>
          <a:prstGeom prst="rect">
            <a:avLst/>
          </a:prstGeom>
          <a:solidFill>
            <a:srgbClr val="16A34A"/>
          </a:solidFill>
          <a:ln w="12700">
            <a:solidFill>
              <a:srgbClr val="16A34A"/>
            </a:solidFill>
            <a:prstDash val="solid"/>
          </a:ln>
        </p:spPr>
        <p:txBody>
          <a:bodyPr/>
          <a:lstStyle/>
          <a:p>
            <a:endParaRPr lang="de-DE"/>
          </a:p>
        </p:txBody>
      </p:sp>
      <p:sp>
        <p:nvSpPr>
          <p:cNvPr id="23" name="Text 21"/>
          <p:cNvSpPr/>
          <p:nvPr/>
        </p:nvSpPr>
        <p:spPr>
          <a:xfrm>
            <a:off x="530352" y="2103120"/>
            <a:ext cx="1124712"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CR-01</a:t>
            </a:r>
            <a:endParaRPr lang="en-US" sz="900" dirty="0"/>
          </a:p>
        </p:txBody>
      </p:sp>
      <p:sp>
        <p:nvSpPr>
          <p:cNvPr id="24" name="Text 22"/>
          <p:cNvSpPr/>
          <p:nvPr/>
        </p:nvSpPr>
        <p:spPr>
          <a:xfrm>
            <a:off x="1792224" y="2103120"/>
            <a:ext cx="1691640"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 Accepted</a:t>
            </a:r>
            <a:endParaRPr lang="en-US" sz="900" dirty="0"/>
          </a:p>
        </p:txBody>
      </p:sp>
      <p:sp>
        <p:nvSpPr>
          <p:cNvPr id="25" name="Text 23"/>
          <p:cNvSpPr/>
          <p:nvPr/>
        </p:nvSpPr>
        <p:spPr>
          <a:xfrm>
            <a:off x="3621024" y="210312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EOR flag → Agent 4</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EOR fees → Agent 5</a:t>
            </a:r>
            <a:endParaRPr lang="en-US" sz="850" dirty="0"/>
          </a:p>
        </p:txBody>
      </p:sp>
      <p:sp>
        <p:nvSpPr>
          <p:cNvPr id="26" name="Text 24"/>
          <p:cNvSpPr/>
          <p:nvPr/>
        </p:nvSpPr>
        <p:spPr>
          <a:xfrm>
            <a:off x="5998464" y="210312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Oracle has no entity in 5 countries — this was a gap in v1.0</a:t>
            </a:r>
            <a:endParaRPr lang="en-US" sz="800" dirty="0"/>
          </a:p>
        </p:txBody>
      </p:sp>
      <p:sp>
        <p:nvSpPr>
          <p:cNvPr id="27" name="Shape 25"/>
          <p:cNvSpPr/>
          <p:nvPr/>
        </p:nvSpPr>
        <p:spPr>
          <a:xfrm>
            <a:off x="457200" y="2423160"/>
            <a:ext cx="1234440" cy="301752"/>
          </a:xfrm>
          <a:prstGeom prst="rect">
            <a:avLst/>
          </a:prstGeom>
          <a:solidFill>
            <a:srgbClr val="FFFFFF"/>
          </a:solidFill>
          <a:ln w="12700">
            <a:solidFill>
              <a:srgbClr val="E2E8F0"/>
            </a:solidFill>
            <a:prstDash val="solid"/>
          </a:ln>
        </p:spPr>
        <p:txBody>
          <a:bodyPr/>
          <a:lstStyle/>
          <a:p>
            <a:endParaRPr lang="de-DE"/>
          </a:p>
        </p:txBody>
      </p:sp>
      <p:sp>
        <p:nvSpPr>
          <p:cNvPr id="28" name="Shape 26"/>
          <p:cNvSpPr/>
          <p:nvPr/>
        </p:nvSpPr>
        <p:spPr>
          <a:xfrm>
            <a:off x="1737360" y="2423160"/>
            <a:ext cx="1783080" cy="301752"/>
          </a:xfrm>
          <a:prstGeom prst="rect">
            <a:avLst/>
          </a:prstGeom>
          <a:solidFill>
            <a:srgbClr val="FFFFFF"/>
          </a:solidFill>
          <a:ln w="12700">
            <a:solidFill>
              <a:srgbClr val="E2E8F0"/>
            </a:solidFill>
            <a:prstDash val="solid"/>
          </a:ln>
        </p:spPr>
        <p:txBody>
          <a:bodyPr/>
          <a:lstStyle/>
          <a:p>
            <a:endParaRPr lang="de-DE"/>
          </a:p>
        </p:txBody>
      </p:sp>
      <p:sp>
        <p:nvSpPr>
          <p:cNvPr id="29" name="Shape 27"/>
          <p:cNvSpPr/>
          <p:nvPr/>
        </p:nvSpPr>
        <p:spPr>
          <a:xfrm>
            <a:off x="3566160" y="2423160"/>
            <a:ext cx="2331720" cy="301752"/>
          </a:xfrm>
          <a:prstGeom prst="rect">
            <a:avLst/>
          </a:prstGeom>
          <a:solidFill>
            <a:srgbClr val="FFFFFF"/>
          </a:solidFill>
          <a:ln w="12700">
            <a:solidFill>
              <a:srgbClr val="E2E8F0"/>
            </a:solidFill>
            <a:prstDash val="solid"/>
          </a:ln>
        </p:spPr>
        <p:txBody>
          <a:bodyPr/>
          <a:lstStyle/>
          <a:p>
            <a:endParaRPr lang="de-DE"/>
          </a:p>
        </p:txBody>
      </p:sp>
      <p:sp>
        <p:nvSpPr>
          <p:cNvPr id="30" name="Shape 28"/>
          <p:cNvSpPr/>
          <p:nvPr/>
        </p:nvSpPr>
        <p:spPr>
          <a:xfrm>
            <a:off x="5943600" y="2423160"/>
            <a:ext cx="2743200" cy="301752"/>
          </a:xfrm>
          <a:prstGeom prst="rect">
            <a:avLst/>
          </a:prstGeom>
          <a:solidFill>
            <a:srgbClr val="FFFFFF"/>
          </a:solidFill>
          <a:ln w="12700">
            <a:solidFill>
              <a:srgbClr val="E2E8F0"/>
            </a:solidFill>
            <a:prstDash val="solid"/>
          </a:ln>
        </p:spPr>
        <p:txBody>
          <a:bodyPr/>
          <a:lstStyle/>
          <a:p>
            <a:endParaRPr lang="de-DE"/>
          </a:p>
        </p:txBody>
      </p:sp>
      <p:sp>
        <p:nvSpPr>
          <p:cNvPr id="31" name="Shape 29"/>
          <p:cNvSpPr/>
          <p:nvPr/>
        </p:nvSpPr>
        <p:spPr>
          <a:xfrm>
            <a:off x="457200" y="2423160"/>
            <a:ext cx="36576" cy="301752"/>
          </a:xfrm>
          <a:prstGeom prst="rect">
            <a:avLst/>
          </a:prstGeom>
          <a:solidFill>
            <a:srgbClr val="16A34A"/>
          </a:solidFill>
          <a:ln w="12700">
            <a:solidFill>
              <a:srgbClr val="16A34A"/>
            </a:solidFill>
            <a:prstDash val="solid"/>
          </a:ln>
        </p:spPr>
        <p:txBody>
          <a:bodyPr/>
          <a:lstStyle/>
          <a:p>
            <a:endParaRPr lang="de-DE"/>
          </a:p>
        </p:txBody>
      </p:sp>
      <p:sp>
        <p:nvSpPr>
          <p:cNvPr id="32" name="Text 30"/>
          <p:cNvSpPr/>
          <p:nvPr/>
        </p:nvSpPr>
        <p:spPr>
          <a:xfrm>
            <a:off x="530352" y="2423160"/>
            <a:ext cx="1124712"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CR-04</a:t>
            </a:r>
            <a:endParaRPr lang="en-US" sz="900" dirty="0"/>
          </a:p>
        </p:txBody>
      </p:sp>
      <p:sp>
        <p:nvSpPr>
          <p:cNvPr id="33" name="Text 31"/>
          <p:cNvSpPr/>
          <p:nvPr/>
        </p:nvSpPr>
        <p:spPr>
          <a:xfrm>
            <a:off x="1792224" y="2423160"/>
            <a:ext cx="1691640"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 Accepted</a:t>
            </a:r>
            <a:endParaRPr lang="en-US" sz="900" dirty="0"/>
          </a:p>
        </p:txBody>
      </p:sp>
      <p:sp>
        <p:nvSpPr>
          <p:cNvPr id="34" name="Text 32"/>
          <p:cNvSpPr/>
          <p:nvPr/>
        </p:nvSpPr>
        <p:spPr>
          <a:xfrm>
            <a:off x="3621024" y="242316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Agent 2: three-way match</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(invoice + contract + PO)</a:t>
            </a:r>
            <a:endParaRPr lang="en-US" sz="850" dirty="0"/>
          </a:p>
        </p:txBody>
      </p:sp>
      <p:sp>
        <p:nvSpPr>
          <p:cNvPr id="35" name="Text 33"/>
          <p:cNvSpPr/>
          <p:nvPr/>
        </p:nvSpPr>
        <p:spPr>
          <a:xfrm>
            <a:off x="5998464" y="242316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Oracle issues POs; contract-only match misses a real mismatch vector</a:t>
            </a:r>
            <a:endParaRPr lang="en-US" sz="800" dirty="0"/>
          </a:p>
        </p:txBody>
      </p:sp>
      <p:sp>
        <p:nvSpPr>
          <p:cNvPr id="36" name="Shape 34"/>
          <p:cNvSpPr/>
          <p:nvPr/>
        </p:nvSpPr>
        <p:spPr>
          <a:xfrm>
            <a:off x="457200" y="2743200"/>
            <a:ext cx="1234440" cy="301752"/>
          </a:xfrm>
          <a:prstGeom prst="rect">
            <a:avLst/>
          </a:prstGeom>
          <a:solidFill>
            <a:srgbClr val="F0FDF4"/>
          </a:solidFill>
          <a:ln w="12700">
            <a:solidFill>
              <a:srgbClr val="E2E8F0"/>
            </a:solidFill>
            <a:prstDash val="solid"/>
          </a:ln>
        </p:spPr>
        <p:txBody>
          <a:bodyPr/>
          <a:lstStyle/>
          <a:p>
            <a:endParaRPr lang="de-DE"/>
          </a:p>
        </p:txBody>
      </p:sp>
      <p:sp>
        <p:nvSpPr>
          <p:cNvPr id="37" name="Shape 35"/>
          <p:cNvSpPr/>
          <p:nvPr/>
        </p:nvSpPr>
        <p:spPr>
          <a:xfrm>
            <a:off x="1737360" y="2743200"/>
            <a:ext cx="1783080" cy="301752"/>
          </a:xfrm>
          <a:prstGeom prst="rect">
            <a:avLst/>
          </a:prstGeom>
          <a:solidFill>
            <a:srgbClr val="F0FDF4"/>
          </a:solidFill>
          <a:ln w="12700">
            <a:solidFill>
              <a:srgbClr val="E2E8F0"/>
            </a:solidFill>
            <a:prstDash val="solid"/>
          </a:ln>
        </p:spPr>
        <p:txBody>
          <a:bodyPr/>
          <a:lstStyle/>
          <a:p>
            <a:endParaRPr lang="de-DE"/>
          </a:p>
        </p:txBody>
      </p:sp>
      <p:sp>
        <p:nvSpPr>
          <p:cNvPr id="38" name="Shape 36"/>
          <p:cNvSpPr/>
          <p:nvPr/>
        </p:nvSpPr>
        <p:spPr>
          <a:xfrm>
            <a:off x="3566160" y="2743200"/>
            <a:ext cx="2331720" cy="301752"/>
          </a:xfrm>
          <a:prstGeom prst="rect">
            <a:avLst/>
          </a:prstGeom>
          <a:solidFill>
            <a:srgbClr val="F0FDF4"/>
          </a:solidFill>
          <a:ln w="12700">
            <a:solidFill>
              <a:srgbClr val="E2E8F0"/>
            </a:solidFill>
            <a:prstDash val="solid"/>
          </a:ln>
        </p:spPr>
        <p:txBody>
          <a:bodyPr/>
          <a:lstStyle/>
          <a:p>
            <a:endParaRPr lang="de-DE"/>
          </a:p>
        </p:txBody>
      </p:sp>
      <p:sp>
        <p:nvSpPr>
          <p:cNvPr id="39" name="Shape 37"/>
          <p:cNvSpPr/>
          <p:nvPr/>
        </p:nvSpPr>
        <p:spPr>
          <a:xfrm>
            <a:off x="5943600" y="2743200"/>
            <a:ext cx="2743200" cy="301752"/>
          </a:xfrm>
          <a:prstGeom prst="rect">
            <a:avLst/>
          </a:prstGeom>
          <a:solidFill>
            <a:srgbClr val="F0FDF4"/>
          </a:solidFill>
          <a:ln w="12700">
            <a:solidFill>
              <a:srgbClr val="E2E8F0"/>
            </a:solidFill>
            <a:prstDash val="solid"/>
          </a:ln>
        </p:spPr>
        <p:txBody>
          <a:bodyPr/>
          <a:lstStyle/>
          <a:p>
            <a:endParaRPr lang="de-DE"/>
          </a:p>
        </p:txBody>
      </p:sp>
      <p:sp>
        <p:nvSpPr>
          <p:cNvPr id="40" name="Shape 38"/>
          <p:cNvSpPr/>
          <p:nvPr/>
        </p:nvSpPr>
        <p:spPr>
          <a:xfrm>
            <a:off x="457200" y="2743200"/>
            <a:ext cx="36576" cy="301752"/>
          </a:xfrm>
          <a:prstGeom prst="rect">
            <a:avLst/>
          </a:prstGeom>
          <a:solidFill>
            <a:srgbClr val="16A34A"/>
          </a:solidFill>
          <a:ln w="12700">
            <a:solidFill>
              <a:srgbClr val="16A34A"/>
            </a:solidFill>
            <a:prstDash val="solid"/>
          </a:ln>
        </p:spPr>
        <p:txBody>
          <a:bodyPr/>
          <a:lstStyle/>
          <a:p>
            <a:endParaRPr lang="de-DE"/>
          </a:p>
        </p:txBody>
      </p:sp>
      <p:sp>
        <p:nvSpPr>
          <p:cNvPr id="41" name="Text 39"/>
          <p:cNvSpPr/>
          <p:nvPr/>
        </p:nvSpPr>
        <p:spPr>
          <a:xfrm>
            <a:off x="530352" y="2743200"/>
            <a:ext cx="1124712"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CR-05</a:t>
            </a:r>
            <a:endParaRPr lang="en-US" sz="900" dirty="0"/>
          </a:p>
        </p:txBody>
      </p:sp>
      <p:sp>
        <p:nvSpPr>
          <p:cNvPr id="42" name="Text 40"/>
          <p:cNvSpPr/>
          <p:nvPr/>
        </p:nvSpPr>
        <p:spPr>
          <a:xfrm>
            <a:off x="1792224" y="2743200"/>
            <a:ext cx="1691640"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 Accepted</a:t>
            </a:r>
            <a:endParaRPr lang="en-US" sz="900" dirty="0"/>
          </a:p>
        </p:txBody>
      </p:sp>
      <p:sp>
        <p:nvSpPr>
          <p:cNvPr id="43" name="Text 41"/>
          <p:cNvSpPr/>
          <p:nvPr/>
        </p:nvSpPr>
        <p:spPr>
          <a:xfrm>
            <a:off x="3621024" y="274320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Agent 2: local accounting</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thresholds per jurisdiction</a:t>
            </a:r>
            <a:endParaRPr lang="en-US" sz="850" dirty="0"/>
          </a:p>
        </p:txBody>
      </p:sp>
      <p:sp>
        <p:nvSpPr>
          <p:cNvPr id="44" name="Text 42"/>
          <p:cNvSpPr/>
          <p:nvPr/>
        </p:nvSpPr>
        <p:spPr>
          <a:xfrm>
            <a:off x="5998464" y="274320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Same invoice = opex in Germany, capex in India — must flag before payment</a:t>
            </a:r>
            <a:endParaRPr lang="en-US" sz="800" dirty="0"/>
          </a:p>
        </p:txBody>
      </p:sp>
      <p:sp>
        <p:nvSpPr>
          <p:cNvPr id="45" name="Shape 43"/>
          <p:cNvSpPr/>
          <p:nvPr/>
        </p:nvSpPr>
        <p:spPr>
          <a:xfrm>
            <a:off x="457200" y="3063240"/>
            <a:ext cx="1234440" cy="301752"/>
          </a:xfrm>
          <a:prstGeom prst="rect">
            <a:avLst/>
          </a:prstGeom>
          <a:solidFill>
            <a:srgbClr val="FFFFFF"/>
          </a:solidFill>
          <a:ln w="12700">
            <a:solidFill>
              <a:srgbClr val="E2E8F0"/>
            </a:solidFill>
            <a:prstDash val="solid"/>
          </a:ln>
        </p:spPr>
        <p:txBody>
          <a:bodyPr/>
          <a:lstStyle/>
          <a:p>
            <a:endParaRPr lang="de-DE"/>
          </a:p>
        </p:txBody>
      </p:sp>
      <p:sp>
        <p:nvSpPr>
          <p:cNvPr id="46" name="Shape 44"/>
          <p:cNvSpPr/>
          <p:nvPr/>
        </p:nvSpPr>
        <p:spPr>
          <a:xfrm>
            <a:off x="1737360" y="3063240"/>
            <a:ext cx="1783080" cy="301752"/>
          </a:xfrm>
          <a:prstGeom prst="rect">
            <a:avLst/>
          </a:prstGeom>
          <a:solidFill>
            <a:srgbClr val="FFFFFF"/>
          </a:solidFill>
          <a:ln w="12700">
            <a:solidFill>
              <a:srgbClr val="E2E8F0"/>
            </a:solidFill>
            <a:prstDash val="solid"/>
          </a:ln>
        </p:spPr>
        <p:txBody>
          <a:bodyPr/>
          <a:lstStyle/>
          <a:p>
            <a:endParaRPr lang="de-DE"/>
          </a:p>
        </p:txBody>
      </p:sp>
      <p:sp>
        <p:nvSpPr>
          <p:cNvPr id="47" name="Shape 45"/>
          <p:cNvSpPr/>
          <p:nvPr/>
        </p:nvSpPr>
        <p:spPr>
          <a:xfrm>
            <a:off x="3566160" y="3063240"/>
            <a:ext cx="2331720" cy="301752"/>
          </a:xfrm>
          <a:prstGeom prst="rect">
            <a:avLst/>
          </a:prstGeom>
          <a:solidFill>
            <a:srgbClr val="FFFFFF"/>
          </a:solidFill>
          <a:ln w="12700">
            <a:solidFill>
              <a:srgbClr val="E2E8F0"/>
            </a:solidFill>
            <a:prstDash val="solid"/>
          </a:ln>
        </p:spPr>
        <p:txBody>
          <a:bodyPr/>
          <a:lstStyle/>
          <a:p>
            <a:endParaRPr lang="de-DE"/>
          </a:p>
        </p:txBody>
      </p:sp>
      <p:sp>
        <p:nvSpPr>
          <p:cNvPr id="48" name="Shape 46"/>
          <p:cNvSpPr/>
          <p:nvPr/>
        </p:nvSpPr>
        <p:spPr>
          <a:xfrm>
            <a:off x="5943600" y="3063240"/>
            <a:ext cx="2743200" cy="301752"/>
          </a:xfrm>
          <a:prstGeom prst="rect">
            <a:avLst/>
          </a:prstGeom>
          <a:solidFill>
            <a:srgbClr val="FFFFFF"/>
          </a:solidFill>
          <a:ln w="12700">
            <a:solidFill>
              <a:srgbClr val="E2E8F0"/>
            </a:solidFill>
            <a:prstDash val="solid"/>
          </a:ln>
        </p:spPr>
        <p:txBody>
          <a:bodyPr/>
          <a:lstStyle/>
          <a:p>
            <a:endParaRPr lang="de-DE"/>
          </a:p>
        </p:txBody>
      </p:sp>
      <p:sp>
        <p:nvSpPr>
          <p:cNvPr id="49" name="Shape 47"/>
          <p:cNvSpPr/>
          <p:nvPr/>
        </p:nvSpPr>
        <p:spPr>
          <a:xfrm>
            <a:off x="457200" y="3063240"/>
            <a:ext cx="36576" cy="301752"/>
          </a:xfrm>
          <a:prstGeom prst="rect">
            <a:avLst/>
          </a:prstGeom>
          <a:solidFill>
            <a:srgbClr val="16A34A"/>
          </a:solidFill>
          <a:ln w="12700">
            <a:solidFill>
              <a:srgbClr val="16A34A"/>
            </a:solidFill>
            <a:prstDash val="solid"/>
          </a:ln>
        </p:spPr>
        <p:txBody>
          <a:bodyPr/>
          <a:lstStyle/>
          <a:p>
            <a:endParaRPr lang="de-DE"/>
          </a:p>
        </p:txBody>
      </p:sp>
      <p:sp>
        <p:nvSpPr>
          <p:cNvPr id="50" name="Text 48"/>
          <p:cNvSpPr/>
          <p:nvPr/>
        </p:nvSpPr>
        <p:spPr>
          <a:xfrm>
            <a:off x="530352" y="3063240"/>
            <a:ext cx="1124712"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CR-06</a:t>
            </a:r>
            <a:endParaRPr lang="en-US" sz="900" dirty="0"/>
          </a:p>
        </p:txBody>
      </p:sp>
      <p:sp>
        <p:nvSpPr>
          <p:cNvPr id="51" name="Text 49"/>
          <p:cNvSpPr/>
          <p:nvPr/>
        </p:nvSpPr>
        <p:spPr>
          <a:xfrm>
            <a:off x="1792224" y="3063240"/>
            <a:ext cx="1691640"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 Accepted</a:t>
            </a:r>
            <a:endParaRPr lang="en-US" sz="900" dirty="0"/>
          </a:p>
        </p:txBody>
      </p:sp>
      <p:sp>
        <p:nvSpPr>
          <p:cNvPr id="52" name="Text 50"/>
          <p:cNvSpPr/>
          <p:nvPr/>
        </p:nvSpPr>
        <p:spPr>
          <a:xfrm>
            <a:off x="3621024" y="306324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Intermediary tracking</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Agent 2 + Agent 5</a:t>
            </a:r>
            <a:endParaRPr lang="en-US" sz="850" dirty="0"/>
          </a:p>
        </p:txBody>
      </p:sp>
      <p:sp>
        <p:nvSpPr>
          <p:cNvPr id="53" name="Text 51"/>
          <p:cNvSpPr/>
          <p:nvPr/>
        </p:nvSpPr>
        <p:spPr>
          <a:xfrm>
            <a:off x="5998464" y="306324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47% of burn through agencies — visible in data, should have been in v1.0</a:t>
            </a:r>
            <a:endParaRPr lang="en-US" sz="800" dirty="0"/>
          </a:p>
        </p:txBody>
      </p:sp>
      <p:sp>
        <p:nvSpPr>
          <p:cNvPr id="54" name="Shape 52"/>
          <p:cNvSpPr/>
          <p:nvPr/>
        </p:nvSpPr>
        <p:spPr>
          <a:xfrm>
            <a:off x="457200" y="3383280"/>
            <a:ext cx="1234440" cy="301752"/>
          </a:xfrm>
          <a:prstGeom prst="rect">
            <a:avLst/>
          </a:prstGeom>
          <a:solidFill>
            <a:srgbClr val="F0FDF4"/>
          </a:solidFill>
          <a:ln w="12700">
            <a:solidFill>
              <a:srgbClr val="E2E8F0"/>
            </a:solidFill>
            <a:prstDash val="solid"/>
          </a:ln>
        </p:spPr>
        <p:txBody>
          <a:bodyPr/>
          <a:lstStyle/>
          <a:p>
            <a:endParaRPr lang="de-DE"/>
          </a:p>
        </p:txBody>
      </p:sp>
      <p:sp>
        <p:nvSpPr>
          <p:cNvPr id="55" name="Shape 53"/>
          <p:cNvSpPr/>
          <p:nvPr/>
        </p:nvSpPr>
        <p:spPr>
          <a:xfrm>
            <a:off x="1737360" y="3383280"/>
            <a:ext cx="1783080" cy="301752"/>
          </a:xfrm>
          <a:prstGeom prst="rect">
            <a:avLst/>
          </a:prstGeom>
          <a:solidFill>
            <a:srgbClr val="F0FDF4"/>
          </a:solidFill>
          <a:ln w="12700">
            <a:solidFill>
              <a:srgbClr val="E2E8F0"/>
            </a:solidFill>
            <a:prstDash val="solid"/>
          </a:ln>
        </p:spPr>
        <p:txBody>
          <a:bodyPr/>
          <a:lstStyle/>
          <a:p>
            <a:endParaRPr lang="de-DE"/>
          </a:p>
        </p:txBody>
      </p:sp>
      <p:sp>
        <p:nvSpPr>
          <p:cNvPr id="56" name="Shape 54"/>
          <p:cNvSpPr/>
          <p:nvPr/>
        </p:nvSpPr>
        <p:spPr>
          <a:xfrm>
            <a:off x="3566160" y="3383280"/>
            <a:ext cx="2331720" cy="301752"/>
          </a:xfrm>
          <a:prstGeom prst="rect">
            <a:avLst/>
          </a:prstGeom>
          <a:solidFill>
            <a:srgbClr val="F0FDF4"/>
          </a:solidFill>
          <a:ln w="12700">
            <a:solidFill>
              <a:srgbClr val="E2E8F0"/>
            </a:solidFill>
            <a:prstDash val="solid"/>
          </a:ln>
        </p:spPr>
        <p:txBody>
          <a:bodyPr/>
          <a:lstStyle/>
          <a:p>
            <a:endParaRPr lang="de-DE"/>
          </a:p>
        </p:txBody>
      </p:sp>
      <p:sp>
        <p:nvSpPr>
          <p:cNvPr id="57" name="Shape 55"/>
          <p:cNvSpPr/>
          <p:nvPr/>
        </p:nvSpPr>
        <p:spPr>
          <a:xfrm>
            <a:off x="5943600" y="3383280"/>
            <a:ext cx="2743200" cy="301752"/>
          </a:xfrm>
          <a:prstGeom prst="rect">
            <a:avLst/>
          </a:prstGeom>
          <a:solidFill>
            <a:srgbClr val="F0FDF4"/>
          </a:solidFill>
          <a:ln w="12700">
            <a:solidFill>
              <a:srgbClr val="E2E8F0"/>
            </a:solidFill>
            <a:prstDash val="solid"/>
          </a:ln>
        </p:spPr>
        <p:txBody>
          <a:bodyPr/>
          <a:lstStyle/>
          <a:p>
            <a:endParaRPr lang="de-DE"/>
          </a:p>
        </p:txBody>
      </p:sp>
      <p:sp>
        <p:nvSpPr>
          <p:cNvPr id="58" name="Shape 56"/>
          <p:cNvSpPr/>
          <p:nvPr/>
        </p:nvSpPr>
        <p:spPr>
          <a:xfrm>
            <a:off x="457200" y="3383280"/>
            <a:ext cx="36576" cy="301752"/>
          </a:xfrm>
          <a:prstGeom prst="rect">
            <a:avLst/>
          </a:prstGeom>
          <a:solidFill>
            <a:srgbClr val="16A34A"/>
          </a:solidFill>
          <a:ln w="12700">
            <a:solidFill>
              <a:srgbClr val="16A34A"/>
            </a:solidFill>
            <a:prstDash val="solid"/>
          </a:ln>
        </p:spPr>
        <p:txBody>
          <a:bodyPr/>
          <a:lstStyle/>
          <a:p>
            <a:endParaRPr lang="de-DE"/>
          </a:p>
        </p:txBody>
      </p:sp>
      <p:sp>
        <p:nvSpPr>
          <p:cNvPr id="59" name="Text 57"/>
          <p:cNvSpPr/>
          <p:nvPr/>
        </p:nvSpPr>
        <p:spPr>
          <a:xfrm>
            <a:off x="530352" y="3383280"/>
            <a:ext cx="1124712"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CR-07</a:t>
            </a:r>
            <a:endParaRPr lang="en-US" sz="900" dirty="0"/>
          </a:p>
        </p:txBody>
      </p:sp>
      <p:sp>
        <p:nvSpPr>
          <p:cNvPr id="60" name="Text 58"/>
          <p:cNvSpPr/>
          <p:nvPr/>
        </p:nvSpPr>
        <p:spPr>
          <a:xfrm>
            <a:off x="1792224" y="3383280"/>
            <a:ext cx="1691640" cy="301752"/>
          </a:xfrm>
          <a:prstGeom prst="rect">
            <a:avLst/>
          </a:prstGeom>
          <a:noFill/>
          <a:ln/>
        </p:spPr>
        <p:txBody>
          <a:bodyPr wrap="square" lIns="0" tIns="0" rIns="0" bIns="0" rtlCol="0" anchor="ctr"/>
          <a:lstStyle/>
          <a:p>
            <a:pPr marL="0" indent="0" algn="l">
              <a:buNone/>
            </a:pPr>
            <a:r>
              <a:rPr lang="en-US" sz="900" b="1" dirty="0">
                <a:solidFill>
                  <a:srgbClr val="16A34A"/>
                </a:solidFill>
                <a:latin typeface="Arial" pitchFamily="34" charset="0"/>
                <a:ea typeface="Arial" pitchFamily="34" charset="-122"/>
                <a:cs typeface="Arial" pitchFamily="34" charset="-120"/>
              </a:rPr>
              <a:t>✅ Accepted</a:t>
            </a:r>
            <a:endParaRPr lang="en-US" sz="900" dirty="0"/>
          </a:p>
        </p:txBody>
      </p:sp>
      <p:sp>
        <p:nvSpPr>
          <p:cNvPr id="61" name="Text 59"/>
          <p:cNvSpPr/>
          <p:nvPr/>
        </p:nvSpPr>
        <p:spPr>
          <a:xfrm>
            <a:off x="3621024" y="338328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Formal 3-phase multilingual</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QA plan, 7 languages</a:t>
            </a:r>
            <a:endParaRPr lang="en-US" sz="850" dirty="0"/>
          </a:p>
        </p:txBody>
      </p:sp>
      <p:sp>
        <p:nvSpPr>
          <p:cNvPr id="62" name="Text 60"/>
          <p:cNvSpPr/>
          <p:nvPr/>
        </p:nvSpPr>
        <p:spPr>
          <a:xfrm>
            <a:off x="5998464" y="338328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Informal confidence ≠ compliance measure. GDPR requires documented safeguards</a:t>
            </a:r>
            <a:endParaRPr lang="en-US" sz="800" dirty="0"/>
          </a:p>
        </p:txBody>
      </p:sp>
      <p:sp>
        <p:nvSpPr>
          <p:cNvPr id="63" name="Shape 61"/>
          <p:cNvSpPr/>
          <p:nvPr/>
        </p:nvSpPr>
        <p:spPr>
          <a:xfrm>
            <a:off x="457200" y="3703320"/>
            <a:ext cx="1234440" cy="301752"/>
          </a:xfrm>
          <a:prstGeom prst="rect">
            <a:avLst/>
          </a:prstGeom>
          <a:solidFill>
            <a:srgbClr val="FFFFFF"/>
          </a:solidFill>
          <a:ln w="12700">
            <a:solidFill>
              <a:srgbClr val="E2E8F0"/>
            </a:solidFill>
            <a:prstDash val="solid"/>
          </a:ln>
        </p:spPr>
        <p:txBody>
          <a:bodyPr/>
          <a:lstStyle/>
          <a:p>
            <a:endParaRPr lang="de-DE"/>
          </a:p>
        </p:txBody>
      </p:sp>
      <p:sp>
        <p:nvSpPr>
          <p:cNvPr id="64" name="Shape 62"/>
          <p:cNvSpPr/>
          <p:nvPr/>
        </p:nvSpPr>
        <p:spPr>
          <a:xfrm>
            <a:off x="1737360" y="3703320"/>
            <a:ext cx="1783080" cy="301752"/>
          </a:xfrm>
          <a:prstGeom prst="rect">
            <a:avLst/>
          </a:prstGeom>
          <a:solidFill>
            <a:srgbClr val="FFFFFF"/>
          </a:solidFill>
          <a:ln w="12700">
            <a:solidFill>
              <a:srgbClr val="E2E8F0"/>
            </a:solidFill>
            <a:prstDash val="solid"/>
          </a:ln>
        </p:spPr>
        <p:txBody>
          <a:bodyPr/>
          <a:lstStyle/>
          <a:p>
            <a:endParaRPr lang="de-DE"/>
          </a:p>
        </p:txBody>
      </p:sp>
      <p:sp>
        <p:nvSpPr>
          <p:cNvPr id="65" name="Shape 63"/>
          <p:cNvSpPr/>
          <p:nvPr/>
        </p:nvSpPr>
        <p:spPr>
          <a:xfrm>
            <a:off x="3566160" y="3703320"/>
            <a:ext cx="2331720" cy="301752"/>
          </a:xfrm>
          <a:prstGeom prst="rect">
            <a:avLst/>
          </a:prstGeom>
          <a:solidFill>
            <a:srgbClr val="FFFFFF"/>
          </a:solidFill>
          <a:ln w="12700">
            <a:solidFill>
              <a:srgbClr val="E2E8F0"/>
            </a:solidFill>
            <a:prstDash val="solid"/>
          </a:ln>
        </p:spPr>
        <p:txBody>
          <a:bodyPr/>
          <a:lstStyle/>
          <a:p>
            <a:endParaRPr lang="de-DE"/>
          </a:p>
        </p:txBody>
      </p:sp>
      <p:sp>
        <p:nvSpPr>
          <p:cNvPr id="66" name="Shape 64"/>
          <p:cNvSpPr/>
          <p:nvPr/>
        </p:nvSpPr>
        <p:spPr>
          <a:xfrm>
            <a:off x="5943600" y="3703320"/>
            <a:ext cx="2743200" cy="301752"/>
          </a:xfrm>
          <a:prstGeom prst="rect">
            <a:avLst/>
          </a:prstGeom>
          <a:solidFill>
            <a:srgbClr val="FFFFFF"/>
          </a:solidFill>
          <a:ln w="12700">
            <a:solidFill>
              <a:srgbClr val="E2E8F0"/>
            </a:solidFill>
            <a:prstDash val="solid"/>
          </a:ln>
        </p:spPr>
        <p:txBody>
          <a:bodyPr/>
          <a:lstStyle/>
          <a:p>
            <a:endParaRPr lang="de-DE"/>
          </a:p>
        </p:txBody>
      </p:sp>
      <p:sp>
        <p:nvSpPr>
          <p:cNvPr id="67" name="Shape 65"/>
          <p:cNvSpPr/>
          <p:nvPr/>
        </p:nvSpPr>
        <p:spPr>
          <a:xfrm>
            <a:off x="457200" y="3703320"/>
            <a:ext cx="36576" cy="301752"/>
          </a:xfrm>
          <a:prstGeom prst="rect">
            <a:avLst/>
          </a:prstGeom>
          <a:solidFill>
            <a:srgbClr val="D97706"/>
          </a:solidFill>
          <a:ln w="12700">
            <a:solidFill>
              <a:srgbClr val="D97706"/>
            </a:solidFill>
            <a:prstDash val="solid"/>
          </a:ln>
        </p:spPr>
        <p:txBody>
          <a:bodyPr/>
          <a:lstStyle/>
          <a:p>
            <a:endParaRPr lang="de-DE"/>
          </a:p>
        </p:txBody>
      </p:sp>
      <p:sp>
        <p:nvSpPr>
          <p:cNvPr id="68" name="Text 66"/>
          <p:cNvSpPr/>
          <p:nvPr/>
        </p:nvSpPr>
        <p:spPr>
          <a:xfrm>
            <a:off x="530352" y="3703320"/>
            <a:ext cx="1124712" cy="301752"/>
          </a:xfrm>
          <a:prstGeom prst="rect">
            <a:avLst/>
          </a:prstGeom>
          <a:noFill/>
          <a:ln/>
        </p:spPr>
        <p:txBody>
          <a:bodyPr wrap="square" lIns="0" tIns="0" rIns="0" bIns="0" rtlCol="0" anchor="ctr"/>
          <a:lstStyle/>
          <a:p>
            <a:pPr marL="0" indent="0" algn="l">
              <a:buNone/>
            </a:pPr>
            <a:r>
              <a:rPr lang="en-US" sz="900" b="1" dirty="0">
                <a:solidFill>
                  <a:srgbClr val="D97706"/>
                </a:solidFill>
                <a:latin typeface="Arial" pitchFamily="34" charset="0"/>
                <a:ea typeface="Arial" pitchFamily="34" charset="-122"/>
                <a:cs typeface="Arial" pitchFamily="34" charset="-120"/>
              </a:rPr>
              <a:t>CR-02</a:t>
            </a:r>
            <a:endParaRPr lang="en-US" sz="900" dirty="0"/>
          </a:p>
        </p:txBody>
      </p:sp>
      <p:sp>
        <p:nvSpPr>
          <p:cNvPr id="69" name="Text 67"/>
          <p:cNvSpPr/>
          <p:nvPr/>
        </p:nvSpPr>
        <p:spPr>
          <a:xfrm>
            <a:off x="1792224" y="3703320"/>
            <a:ext cx="1691640" cy="301752"/>
          </a:xfrm>
          <a:prstGeom prst="rect">
            <a:avLst/>
          </a:prstGeom>
          <a:noFill/>
          <a:ln/>
        </p:spPr>
        <p:txBody>
          <a:bodyPr wrap="square" lIns="0" tIns="0" rIns="0" bIns="0" rtlCol="0" anchor="ctr"/>
          <a:lstStyle/>
          <a:p>
            <a:pPr marL="0" indent="0" algn="l">
              <a:buNone/>
            </a:pPr>
            <a:r>
              <a:rPr lang="en-US" sz="900" b="1" dirty="0">
                <a:solidFill>
                  <a:srgbClr val="D97706"/>
                </a:solidFill>
                <a:latin typeface="Arial" pitchFamily="34" charset="0"/>
                <a:ea typeface="Arial" pitchFamily="34" charset="-122"/>
                <a:cs typeface="Arial" pitchFamily="34" charset="-120"/>
              </a:rPr>
              <a:t>⏳ Phase 2</a:t>
            </a:r>
            <a:endParaRPr lang="en-US" sz="900" dirty="0"/>
          </a:p>
        </p:txBody>
      </p:sp>
      <p:sp>
        <p:nvSpPr>
          <p:cNvPr id="70" name="Text 68"/>
          <p:cNvSpPr/>
          <p:nvPr/>
        </p:nvSpPr>
        <p:spPr>
          <a:xfrm>
            <a:off x="3621024" y="370332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Social registration</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automation per country</a:t>
            </a:r>
            <a:endParaRPr lang="en-US" sz="850" dirty="0"/>
          </a:p>
        </p:txBody>
      </p:sp>
      <p:sp>
        <p:nvSpPr>
          <p:cNvPr id="71" name="Text 69"/>
          <p:cNvSpPr/>
          <p:nvPr/>
        </p:nvSpPr>
        <p:spPr>
          <a:xfrm>
            <a:off x="5998464" y="370332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Feasible — legal review per jurisdiction required before automating filings</a:t>
            </a:r>
            <a:endParaRPr lang="en-US" sz="800" dirty="0"/>
          </a:p>
        </p:txBody>
      </p:sp>
      <p:sp>
        <p:nvSpPr>
          <p:cNvPr id="72" name="Shape 70"/>
          <p:cNvSpPr/>
          <p:nvPr/>
        </p:nvSpPr>
        <p:spPr>
          <a:xfrm>
            <a:off x="457200" y="4023360"/>
            <a:ext cx="1234440" cy="301752"/>
          </a:xfrm>
          <a:prstGeom prst="rect">
            <a:avLst/>
          </a:prstGeom>
          <a:solidFill>
            <a:srgbClr val="FFF7ED"/>
          </a:solidFill>
          <a:ln w="12700">
            <a:solidFill>
              <a:srgbClr val="E2E8F0"/>
            </a:solidFill>
            <a:prstDash val="solid"/>
          </a:ln>
        </p:spPr>
        <p:txBody>
          <a:bodyPr/>
          <a:lstStyle/>
          <a:p>
            <a:endParaRPr lang="de-DE"/>
          </a:p>
        </p:txBody>
      </p:sp>
      <p:sp>
        <p:nvSpPr>
          <p:cNvPr id="73" name="Shape 71"/>
          <p:cNvSpPr/>
          <p:nvPr/>
        </p:nvSpPr>
        <p:spPr>
          <a:xfrm>
            <a:off x="1737360" y="4023360"/>
            <a:ext cx="1783080" cy="301752"/>
          </a:xfrm>
          <a:prstGeom prst="rect">
            <a:avLst/>
          </a:prstGeom>
          <a:solidFill>
            <a:srgbClr val="FFF7ED"/>
          </a:solidFill>
          <a:ln w="12700">
            <a:solidFill>
              <a:srgbClr val="E2E8F0"/>
            </a:solidFill>
            <a:prstDash val="solid"/>
          </a:ln>
        </p:spPr>
        <p:txBody>
          <a:bodyPr/>
          <a:lstStyle/>
          <a:p>
            <a:endParaRPr lang="de-DE"/>
          </a:p>
        </p:txBody>
      </p:sp>
      <p:sp>
        <p:nvSpPr>
          <p:cNvPr id="74" name="Shape 72"/>
          <p:cNvSpPr/>
          <p:nvPr/>
        </p:nvSpPr>
        <p:spPr>
          <a:xfrm>
            <a:off x="3566160" y="4023360"/>
            <a:ext cx="2331720" cy="301752"/>
          </a:xfrm>
          <a:prstGeom prst="rect">
            <a:avLst/>
          </a:prstGeom>
          <a:solidFill>
            <a:srgbClr val="FFF7ED"/>
          </a:solidFill>
          <a:ln w="12700">
            <a:solidFill>
              <a:srgbClr val="E2E8F0"/>
            </a:solidFill>
            <a:prstDash val="solid"/>
          </a:ln>
        </p:spPr>
        <p:txBody>
          <a:bodyPr/>
          <a:lstStyle/>
          <a:p>
            <a:endParaRPr lang="de-DE"/>
          </a:p>
        </p:txBody>
      </p:sp>
      <p:sp>
        <p:nvSpPr>
          <p:cNvPr id="75" name="Shape 73"/>
          <p:cNvSpPr/>
          <p:nvPr/>
        </p:nvSpPr>
        <p:spPr>
          <a:xfrm>
            <a:off x="5943600" y="4023360"/>
            <a:ext cx="2743200" cy="301752"/>
          </a:xfrm>
          <a:prstGeom prst="rect">
            <a:avLst/>
          </a:prstGeom>
          <a:solidFill>
            <a:srgbClr val="FFF7ED"/>
          </a:solidFill>
          <a:ln w="12700">
            <a:solidFill>
              <a:srgbClr val="E2E8F0"/>
            </a:solidFill>
            <a:prstDash val="solid"/>
          </a:ln>
        </p:spPr>
        <p:txBody>
          <a:bodyPr/>
          <a:lstStyle/>
          <a:p>
            <a:endParaRPr lang="de-DE"/>
          </a:p>
        </p:txBody>
      </p:sp>
      <p:sp>
        <p:nvSpPr>
          <p:cNvPr id="76" name="Shape 74"/>
          <p:cNvSpPr/>
          <p:nvPr/>
        </p:nvSpPr>
        <p:spPr>
          <a:xfrm>
            <a:off x="457200" y="4023360"/>
            <a:ext cx="36576" cy="301752"/>
          </a:xfrm>
          <a:prstGeom prst="rect">
            <a:avLst/>
          </a:prstGeom>
          <a:solidFill>
            <a:srgbClr val="D97706"/>
          </a:solidFill>
          <a:ln w="12700">
            <a:solidFill>
              <a:srgbClr val="D97706"/>
            </a:solidFill>
            <a:prstDash val="solid"/>
          </a:ln>
        </p:spPr>
        <p:txBody>
          <a:bodyPr/>
          <a:lstStyle/>
          <a:p>
            <a:endParaRPr lang="de-DE"/>
          </a:p>
        </p:txBody>
      </p:sp>
      <p:sp>
        <p:nvSpPr>
          <p:cNvPr id="77" name="Text 75"/>
          <p:cNvSpPr/>
          <p:nvPr/>
        </p:nvSpPr>
        <p:spPr>
          <a:xfrm>
            <a:off x="530352" y="4023360"/>
            <a:ext cx="1124712" cy="301752"/>
          </a:xfrm>
          <a:prstGeom prst="rect">
            <a:avLst/>
          </a:prstGeom>
          <a:noFill/>
          <a:ln/>
        </p:spPr>
        <p:txBody>
          <a:bodyPr wrap="square" lIns="0" tIns="0" rIns="0" bIns="0" rtlCol="0" anchor="ctr"/>
          <a:lstStyle/>
          <a:p>
            <a:pPr marL="0" indent="0" algn="l">
              <a:buNone/>
            </a:pPr>
            <a:r>
              <a:rPr lang="en-US" sz="900" b="1" dirty="0">
                <a:solidFill>
                  <a:srgbClr val="D97706"/>
                </a:solidFill>
                <a:latin typeface="Arial" pitchFamily="34" charset="0"/>
                <a:ea typeface="Arial" pitchFamily="34" charset="-122"/>
                <a:cs typeface="Arial" pitchFamily="34" charset="-120"/>
              </a:rPr>
              <a:t>CR-03</a:t>
            </a:r>
            <a:endParaRPr lang="en-US" sz="900" dirty="0"/>
          </a:p>
        </p:txBody>
      </p:sp>
      <p:sp>
        <p:nvSpPr>
          <p:cNvPr id="78" name="Text 76"/>
          <p:cNvSpPr/>
          <p:nvPr/>
        </p:nvSpPr>
        <p:spPr>
          <a:xfrm>
            <a:off x="1792224" y="4023360"/>
            <a:ext cx="1691640" cy="301752"/>
          </a:xfrm>
          <a:prstGeom prst="rect">
            <a:avLst/>
          </a:prstGeom>
          <a:noFill/>
          <a:ln/>
        </p:spPr>
        <p:txBody>
          <a:bodyPr wrap="square" lIns="0" tIns="0" rIns="0" bIns="0" rtlCol="0" anchor="ctr"/>
          <a:lstStyle/>
          <a:p>
            <a:pPr marL="0" indent="0" algn="l">
              <a:buNone/>
            </a:pPr>
            <a:r>
              <a:rPr lang="en-US" sz="900" b="1" dirty="0">
                <a:solidFill>
                  <a:srgbClr val="D97706"/>
                </a:solidFill>
                <a:latin typeface="Arial" pitchFamily="34" charset="0"/>
                <a:ea typeface="Arial" pitchFamily="34" charset="-122"/>
                <a:cs typeface="Arial" pitchFamily="34" charset="-120"/>
              </a:rPr>
              <a:t>⏳ Phase 2</a:t>
            </a:r>
            <a:endParaRPr lang="en-US" sz="900" dirty="0"/>
          </a:p>
        </p:txBody>
      </p:sp>
      <p:sp>
        <p:nvSpPr>
          <p:cNvPr id="79" name="Text 77"/>
          <p:cNvSpPr/>
          <p:nvPr/>
        </p:nvSpPr>
        <p:spPr>
          <a:xfrm>
            <a:off x="3621024" y="402336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Contract generation</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workflow (pre-signature)</a:t>
            </a:r>
            <a:endParaRPr lang="en-US" sz="850" dirty="0"/>
          </a:p>
        </p:txBody>
      </p:sp>
      <p:sp>
        <p:nvSpPr>
          <p:cNvPr id="80" name="Text 78"/>
          <p:cNvSpPr/>
          <p:nvPr/>
        </p:nvSpPr>
        <p:spPr>
          <a:xfrm>
            <a:off x="5998464" y="402336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Scoped and agreed. Compliance research required before commitment</a:t>
            </a:r>
            <a:endParaRPr lang="en-US" sz="800" dirty="0"/>
          </a:p>
        </p:txBody>
      </p:sp>
      <p:sp>
        <p:nvSpPr>
          <p:cNvPr id="81" name="Shape 79"/>
          <p:cNvSpPr/>
          <p:nvPr/>
        </p:nvSpPr>
        <p:spPr>
          <a:xfrm>
            <a:off x="457200" y="4343400"/>
            <a:ext cx="1234440" cy="301752"/>
          </a:xfrm>
          <a:prstGeom prst="rect">
            <a:avLst/>
          </a:prstGeom>
          <a:solidFill>
            <a:srgbClr val="FFFFFF"/>
          </a:solidFill>
          <a:ln w="12700">
            <a:solidFill>
              <a:srgbClr val="E2E8F0"/>
            </a:solidFill>
            <a:prstDash val="solid"/>
          </a:ln>
        </p:spPr>
        <p:txBody>
          <a:bodyPr/>
          <a:lstStyle/>
          <a:p>
            <a:endParaRPr lang="de-DE"/>
          </a:p>
        </p:txBody>
      </p:sp>
      <p:sp>
        <p:nvSpPr>
          <p:cNvPr id="82" name="Shape 80"/>
          <p:cNvSpPr/>
          <p:nvPr/>
        </p:nvSpPr>
        <p:spPr>
          <a:xfrm>
            <a:off x="1737360" y="4343400"/>
            <a:ext cx="1783080" cy="301752"/>
          </a:xfrm>
          <a:prstGeom prst="rect">
            <a:avLst/>
          </a:prstGeom>
          <a:solidFill>
            <a:srgbClr val="FFFFFF"/>
          </a:solidFill>
          <a:ln w="12700">
            <a:solidFill>
              <a:srgbClr val="E2E8F0"/>
            </a:solidFill>
            <a:prstDash val="solid"/>
          </a:ln>
        </p:spPr>
        <p:txBody>
          <a:bodyPr/>
          <a:lstStyle/>
          <a:p>
            <a:endParaRPr lang="de-DE"/>
          </a:p>
        </p:txBody>
      </p:sp>
      <p:sp>
        <p:nvSpPr>
          <p:cNvPr id="83" name="Shape 81"/>
          <p:cNvSpPr/>
          <p:nvPr/>
        </p:nvSpPr>
        <p:spPr>
          <a:xfrm>
            <a:off x="3566160" y="4343400"/>
            <a:ext cx="2331720" cy="301752"/>
          </a:xfrm>
          <a:prstGeom prst="rect">
            <a:avLst/>
          </a:prstGeom>
          <a:solidFill>
            <a:srgbClr val="FFFFFF"/>
          </a:solidFill>
          <a:ln w="12700">
            <a:solidFill>
              <a:srgbClr val="E2E8F0"/>
            </a:solidFill>
            <a:prstDash val="solid"/>
          </a:ln>
        </p:spPr>
        <p:txBody>
          <a:bodyPr/>
          <a:lstStyle/>
          <a:p>
            <a:endParaRPr lang="de-DE"/>
          </a:p>
        </p:txBody>
      </p:sp>
      <p:sp>
        <p:nvSpPr>
          <p:cNvPr id="84" name="Shape 82"/>
          <p:cNvSpPr/>
          <p:nvPr/>
        </p:nvSpPr>
        <p:spPr>
          <a:xfrm>
            <a:off x="5943600" y="4343400"/>
            <a:ext cx="2743200" cy="301752"/>
          </a:xfrm>
          <a:prstGeom prst="rect">
            <a:avLst/>
          </a:prstGeom>
          <a:solidFill>
            <a:srgbClr val="FFFFFF"/>
          </a:solidFill>
          <a:ln w="12700">
            <a:solidFill>
              <a:srgbClr val="E2E8F0"/>
            </a:solidFill>
            <a:prstDash val="solid"/>
          </a:ln>
        </p:spPr>
        <p:txBody>
          <a:bodyPr/>
          <a:lstStyle/>
          <a:p>
            <a:endParaRPr lang="de-DE"/>
          </a:p>
        </p:txBody>
      </p:sp>
      <p:sp>
        <p:nvSpPr>
          <p:cNvPr id="85" name="Shape 83"/>
          <p:cNvSpPr/>
          <p:nvPr/>
        </p:nvSpPr>
        <p:spPr>
          <a:xfrm>
            <a:off x="457200" y="4343400"/>
            <a:ext cx="36576" cy="301752"/>
          </a:xfrm>
          <a:prstGeom prst="rect">
            <a:avLst/>
          </a:prstGeom>
          <a:solidFill>
            <a:srgbClr val="DC2626"/>
          </a:solidFill>
          <a:ln w="12700">
            <a:solidFill>
              <a:srgbClr val="DC2626"/>
            </a:solidFill>
            <a:prstDash val="solid"/>
          </a:ln>
        </p:spPr>
        <p:txBody>
          <a:bodyPr/>
          <a:lstStyle/>
          <a:p>
            <a:endParaRPr lang="de-DE"/>
          </a:p>
        </p:txBody>
      </p:sp>
      <p:sp>
        <p:nvSpPr>
          <p:cNvPr id="86" name="Text 84"/>
          <p:cNvSpPr/>
          <p:nvPr/>
        </p:nvSpPr>
        <p:spPr>
          <a:xfrm>
            <a:off x="530352" y="4343400"/>
            <a:ext cx="1124712" cy="301752"/>
          </a:xfrm>
          <a:prstGeom prst="rect">
            <a:avLst/>
          </a:prstGeom>
          <a:noFill/>
          <a:ln/>
        </p:spPr>
        <p:txBody>
          <a:bodyPr wrap="square" lIns="0" tIns="0" rIns="0" bIns="0" rtlCol="0" anchor="ctr"/>
          <a:lstStyle/>
          <a:p>
            <a:pPr marL="0" indent="0" algn="l">
              <a:buNone/>
            </a:pPr>
            <a:r>
              <a:rPr lang="en-US" sz="900" b="1" dirty="0">
                <a:solidFill>
                  <a:srgbClr val="DC2626"/>
                </a:solidFill>
                <a:latin typeface="Arial" pitchFamily="34" charset="0"/>
                <a:ea typeface="Arial" pitchFamily="34" charset="-122"/>
                <a:cs typeface="Arial" pitchFamily="34" charset="-120"/>
              </a:rPr>
              <a:t>Auto-sign</a:t>
            </a:r>
            <a:endParaRPr lang="en-US" sz="900" dirty="0"/>
          </a:p>
        </p:txBody>
      </p:sp>
      <p:sp>
        <p:nvSpPr>
          <p:cNvPr id="87" name="Text 85"/>
          <p:cNvSpPr/>
          <p:nvPr/>
        </p:nvSpPr>
        <p:spPr>
          <a:xfrm>
            <a:off x="1792224" y="4343400"/>
            <a:ext cx="1691640" cy="301752"/>
          </a:xfrm>
          <a:prstGeom prst="rect">
            <a:avLst/>
          </a:prstGeom>
          <a:noFill/>
          <a:ln/>
        </p:spPr>
        <p:txBody>
          <a:bodyPr wrap="square" lIns="0" tIns="0" rIns="0" bIns="0" rtlCol="0" anchor="ctr"/>
          <a:lstStyle/>
          <a:p>
            <a:pPr marL="0" indent="0" algn="l">
              <a:buNone/>
            </a:pPr>
            <a:r>
              <a:rPr lang="en-US" sz="900" b="1" dirty="0">
                <a:solidFill>
                  <a:srgbClr val="DC2626"/>
                </a:solidFill>
                <a:latin typeface="Arial" pitchFamily="34" charset="0"/>
                <a:ea typeface="Arial" pitchFamily="34" charset="-122"/>
                <a:cs typeface="Arial" pitchFamily="34" charset="-120"/>
              </a:rPr>
              <a:t>❌ Rejected</a:t>
            </a:r>
            <a:endParaRPr lang="en-US" sz="900" dirty="0"/>
          </a:p>
        </p:txBody>
      </p:sp>
      <p:sp>
        <p:nvSpPr>
          <p:cNvPr id="88" name="Text 86"/>
          <p:cNvSpPr/>
          <p:nvPr/>
        </p:nvSpPr>
        <p:spPr>
          <a:xfrm>
            <a:off x="3621024" y="4343400"/>
            <a:ext cx="2240280" cy="301752"/>
          </a:xfrm>
          <a:prstGeom prst="rect">
            <a:avLst/>
          </a:prstGeom>
          <a:noFill/>
          <a:ln/>
        </p:spPr>
        <p:txBody>
          <a:bodyPr wrap="square" lIns="0" tIns="0" rIns="0" bIns="0" rtlCol="0" anchor="ctr"/>
          <a:lstStyle/>
          <a:p>
            <a:pPr marL="0" indent="0" algn="l">
              <a:buNone/>
            </a:pPr>
            <a:r>
              <a:rPr lang="en-US" sz="850" dirty="0">
                <a:solidFill>
                  <a:srgbClr val="111111"/>
                </a:solidFill>
                <a:latin typeface="Arial" pitchFamily="34" charset="0"/>
                <a:ea typeface="Arial" pitchFamily="34" charset="-122"/>
                <a:cs typeface="Arial" pitchFamily="34" charset="-120"/>
              </a:rPr>
              <a:t>Automated contract</a:t>
            </a:r>
            <a:endParaRPr lang="en-US" sz="850" dirty="0"/>
          </a:p>
          <a:p>
            <a:pPr marL="0" indent="0" algn="l">
              <a:buNone/>
            </a:pPr>
            <a:r>
              <a:rPr lang="en-US" sz="850" dirty="0">
                <a:solidFill>
                  <a:srgbClr val="111111"/>
                </a:solidFill>
                <a:latin typeface="Arial" pitchFamily="34" charset="0"/>
                <a:ea typeface="Arial" pitchFamily="34" charset="-122"/>
                <a:cs typeface="Arial" pitchFamily="34" charset="-120"/>
              </a:rPr>
              <a:t>signature</a:t>
            </a:r>
            <a:endParaRPr lang="en-US" sz="850" dirty="0"/>
          </a:p>
        </p:txBody>
      </p:sp>
      <p:sp>
        <p:nvSpPr>
          <p:cNvPr id="89" name="Text 87"/>
          <p:cNvSpPr/>
          <p:nvPr/>
        </p:nvSpPr>
        <p:spPr>
          <a:xfrm>
            <a:off x="5998464" y="4343400"/>
            <a:ext cx="2651760" cy="301752"/>
          </a:xfrm>
          <a:prstGeom prst="rect">
            <a:avLst/>
          </a:prstGeom>
          <a:noFill/>
          <a:ln/>
        </p:spPr>
        <p:txBody>
          <a:bodyPr wrap="square" lIns="0" tIns="0" rIns="0" bIns="0" rtlCol="0" anchor="ctr"/>
          <a:lstStyle/>
          <a:p>
            <a:pPr marL="0" indent="0" algn="l">
              <a:buNone/>
            </a:pPr>
            <a:r>
              <a:rPr lang="en-US" sz="800" dirty="0">
                <a:solidFill>
                  <a:srgbClr val="4A4A4A"/>
                </a:solidFill>
                <a:latin typeface="Arial" pitchFamily="34" charset="0"/>
                <a:ea typeface="Arial" pitchFamily="34" charset="-122"/>
                <a:cs typeface="Arial" pitchFamily="34" charset="-120"/>
              </a:rPr>
              <a:t>Multi-jurisdictional employment contracts require human review — legal risk</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07  THE REVISED ASK</a:t>
            </a:r>
            <a:endParaRPr lang="en-US" sz="850" dirty="0"/>
          </a:p>
        </p:txBody>
      </p:sp>
      <p:sp>
        <p:nvSpPr>
          <p:cNvPr id="6" name="Text 4"/>
          <p:cNvSpPr/>
          <p:nvPr/>
        </p:nvSpPr>
        <p:spPr>
          <a:xfrm>
            <a:off x="457200" y="91440"/>
            <a:ext cx="7955280" cy="676656"/>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07  The Revised Ask — ContractOS v1.1</a:t>
            </a:r>
            <a:endParaRPr lang="en-US" sz="2400" dirty="0"/>
          </a:p>
        </p:txBody>
      </p:sp>
      <p:sp>
        <p:nvSpPr>
          <p:cNvPr id="7" name="Shape 5"/>
          <p:cNvSpPr/>
          <p:nvPr/>
        </p:nvSpPr>
        <p:spPr>
          <a:xfrm>
            <a:off x="457200" y="1143000"/>
            <a:ext cx="8229600" cy="4572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8" name="Shape 6"/>
          <p:cNvSpPr/>
          <p:nvPr/>
        </p:nvSpPr>
        <p:spPr>
          <a:xfrm>
            <a:off x="530352" y="1216152"/>
            <a:ext cx="310896" cy="310896"/>
          </a:xfrm>
          <a:prstGeom prst="ellipse">
            <a:avLst/>
          </a:prstGeom>
          <a:solidFill>
            <a:srgbClr val="16A34A"/>
          </a:solidFill>
          <a:ln w="12700">
            <a:solidFill>
              <a:srgbClr val="16A34A"/>
            </a:solidFill>
            <a:prstDash val="solid"/>
          </a:ln>
        </p:spPr>
        <p:txBody>
          <a:bodyPr/>
          <a:lstStyle/>
          <a:p>
            <a:endParaRPr lang="de-DE"/>
          </a:p>
        </p:txBody>
      </p:sp>
      <p:sp>
        <p:nvSpPr>
          <p:cNvPr id="9" name="Text 7"/>
          <p:cNvSpPr/>
          <p:nvPr/>
        </p:nvSpPr>
        <p:spPr>
          <a:xfrm>
            <a:off x="530352" y="121615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987552" y="1143000"/>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ContractOS v1.0 approved — five agents, compliance, LangSmith monitoring</a:t>
            </a:r>
            <a:endParaRPr lang="en-US" sz="1200" dirty="0"/>
          </a:p>
        </p:txBody>
      </p:sp>
      <p:sp>
        <p:nvSpPr>
          <p:cNvPr id="11" name="Shape 9"/>
          <p:cNvSpPr/>
          <p:nvPr/>
        </p:nvSpPr>
        <p:spPr>
          <a:xfrm>
            <a:off x="457200" y="1664208"/>
            <a:ext cx="8229600" cy="457200"/>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2" name="Shape 10"/>
          <p:cNvSpPr/>
          <p:nvPr/>
        </p:nvSpPr>
        <p:spPr>
          <a:xfrm>
            <a:off x="530352" y="1737360"/>
            <a:ext cx="310896" cy="310896"/>
          </a:xfrm>
          <a:prstGeom prst="ellipse">
            <a:avLst/>
          </a:prstGeom>
          <a:solidFill>
            <a:srgbClr val="16A34A"/>
          </a:solidFill>
          <a:ln w="12700">
            <a:solidFill>
              <a:srgbClr val="16A34A"/>
            </a:solidFill>
            <a:prstDash val="solid"/>
          </a:ln>
        </p:spPr>
        <p:txBody>
          <a:bodyPr/>
          <a:lstStyle/>
          <a:p>
            <a:endParaRPr lang="de-DE"/>
          </a:p>
        </p:txBody>
      </p:sp>
      <p:sp>
        <p:nvSpPr>
          <p:cNvPr id="13" name="Text 11"/>
          <p:cNvSpPr/>
          <p:nvPr/>
        </p:nvSpPr>
        <p:spPr>
          <a:xfrm>
            <a:off x="530352" y="17373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987552" y="1664208"/>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Seven change requests received and documented — all addressed in this revised proposal</a:t>
            </a:r>
            <a:endParaRPr lang="en-US" sz="1200" dirty="0"/>
          </a:p>
        </p:txBody>
      </p:sp>
      <p:sp>
        <p:nvSpPr>
          <p:cNvPr id="15" name="Shape 13"/>
          <p:cNvSpPr/>
          <p:nvPr/>
        </p:nvSpPr>
        <p:spPr>
          <a:xfrm>
            <a:off x="457200" y="2185416"/>
            <a:ext cx="8229600" cy="4572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6" name="Shape 14"/>
          <p:cNvSpPr/>
          <p:nvPr/>
        </p:nvSpPr>
        <p:spPr>
          <a:xfrm>
            <a:off x="530352" y="2258568"/>
            <a:ext cx="310896" cy="310896"/>
          </a:xfrm>
          <a:prstGeom prst="ellipse">
            <a:avLst/>
          </a:prstGeom>
          <a:solidFill>
            <a:srgbClr val="005AEE"/>
          </a:solidFill>
          <a:ln w="12700">
            <a:solidFill>
              <a:srgbClr val="005AEE"/>
            </a:solidFill>
            <a:prstDash val="solid"/>
          </a:ln>
        </p:spPr>
        <p:txBody>
          <a:bodyPr/>
          <a:lstStyle/>
          <a:p>
            <a:endParaRPr lang="de-DE"/>
          </a:p>
        </p:txBody>
      </p:sp>
      <p:sp>
        <p:nvSpPr>
          <p:cNvPr id="17" name="Text 15"/>
          <p:cNvSpPr/>
          <p:nvPr/>
        </p:nvSpPr>
        <p:spPr>
          <a:xfrm>
            <a:off x="530352" y="225856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18" name="Text 16"/>
          <p:cNvSpPr/>
          <p:nvPr/>
        </p:nvSpPr>
        <p:spPr>
          <a:xfrm>
            <a:off x="987552" y="2185416"/>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Phase 1 enhancements ready: EOR flagging · PO matching · intermediary cost tracking · accounting rules</a:t>
            </a:r>
            <a:endParaRPr lang="en-US" sz="1200" dirty="0"/>
          </a:p>
        </p:txBody>
      </p:sp>
      <p:sp>
        <p:nvSpPr>
          <p:cNvPr id="19" name="Shape 17"/>
          <p:cNvSpPr/>
          <p:nvPr/>
        </p:nvSpPr>
        <p:spPr>
          <a:xfrm>
            <a:off x="457200" y="2706624"/>
            <a:ext cx="8229600" cy="457200"/>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0" name="Shape 18"/>
          <p:cNvSpPr/>
          <p:nvPr/>
        </p:nvSpPr>
        <p:spPr>
          <a:xfrm>
            <a:off x="530352" y="2779776"/>
            <a:ext cx="310896" cy="310896"/>
          </a:xfrm>
          <a:prstGeom prst="ellipse">
            <a:avLst/>
          </a:prstGeom>
          <a:solidFill>
            <a:srgbClr val="D97706"/>
          </a:solidFill>
          <a:ln w="12700">
            <a:solidFill>
              <a:srgbClr val="D97706"/>
            </a:solidFill>
            <a:prstDash val="solid"/>
          </a:ln>
        </p:spPr>
        <p:txBody>
          <a:bodyPr/>
          <a:lstStyle/>
          <a:p>
            <a:endParaRPr lang="de-DE"/>
          </a:p>
        </p:txBody>
      </p:sp>
      <p:sp>
        <p:nvSpPr>
          <p:cNvPr id="21" name="Text 19"/>
          <p:cNvSpPr/>
          <p:nvPr/>
        </p:nvSpPr>
        <p:spPr>
          <a:xfrm>
            <a:off x="530352" y="277977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2" name="Text 20"/>
          <p:cNvSpPr/>
          <p:nvPr/>
        </p:nvSpPr>
        <p:spPr>
          <a:xfrm>
            <a:off x="987552" y="2706624"/>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Phase 2 scoped: social registration automation + contract generation workflow (post go-live)</a:t>
            </a:r>
            <a:endParaRPr lang="en-US" sz="1200" dirty="0"/>
          </a:p>
        </p:txBody>
      </p:sp>
      <p:sp>
        <p:nvSpPr>
          <p:cNvPr id="23" name="Shape 21"/>
          <p:cNvSpPr/>
          <p:nvPr/>
        </p:nvSpPr>
        <p:spPr>
          <a:xfrm>
            <a:off x="457200" y="3227832"/>
            <a:ext cx="8229600" cy="457200"/>
          </a:xfrm>
          <a:prstGeom prst="rect">
            <a:avLst/>
          </a:prstGeom>
          <a:solidFill>
            <a:srgbClr val="FFFFFF"/>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4" name="Shape 22"/>
          <p:cNvSpPr/>
          <p:nvPr/>
        </p:nvSpPr>
        <p:spPr>
          <a:xfrm>
            <a:off x="530352" y="3300984"/>
            <a:ext cx="310896" cy="310896"/>
          </a:xfrm>
          <a:prstGeom prst="ellipse">
            <a:avLst/>
          </a:prstGeom>
          <a:solidFill>
            <a:srgbClr val="005AEE"/>
          </a:solidFill>
          <a:ln w="12700">
            <a:solidFill>
              <a:srgbClr val="005AEE"/>
            </a:solidFill>
            <a:prstDash val="solid"/>
          </a:ln>
        </p:spPr>
        <p:txBody>
          <a:bodyPr/>
          <a:lstStyle/>
          <a:p>
            <a:endParaRPr lang="de-DE"/>
          </a:p>
        </p:txBody>
      </p:sp>
      <p:sp>
        <p:nvSpPr>
          <p:cNvPr id="25" name="Text 23"/>
          <p:cNvSpPr/>
          <p:nvPr/>
        </p:nvSpPr>
        <p:spPr>
          <a:xfrm>
            <a:off x="530352" y="33009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26" name="Text 24"/>
          <p:cNvSpPr/>
          <p:nvPr/>
        </p:nvSpPr>
        <p:spPr>
          <a:xfrm>
            <a:off x="987552" y="3227832"/>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Multilingual QA plan formalised: 3 phases, acceptance criteria per language, 7 languages covered</a:t>
            </a:r>
            <a:endParaRPr lang="en-US" sz="1200" dirty="0"/>
          </a:p>
        </p:txBody>
      </p:sp>
      <p:sp>
        <p:nvSpPr>
          <p:cNvPr id="27" name="Shape 25"/>
          <p:cNvSpPr/>
          <p:nvPr/>
        </p:nvSpPr>
        <p:spPr>
          <a:xfrm>
            <a:off x="457200" y="3749040"/>
            <a:ext cx="8229600" cy="457200"/>
          </a:xfrm>
          <a:prstGeom prst="rect">
            <a:avLst/>
          </a:prstGeom>
          <a:solidFill>
            <a:srgbClr val="F5F6F8"/>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8" name="Shape 26"/>
          <p:cNvSpPr/>
          <p:nvPr/>
        </p:nvSpPr>
        <p:spPr>
          <a:xfrm>
            <a:off x="530352" y="3822192"/>
            <a:ext cx="310896" cy="310896"/>
          </a:xfrm>
          <a:prstGeom prst="ellipse">
            <a:avLst/>
          </a:prstGeom>
          <a:solidFill>
            <a:srgbClr val="16A34A"/>
          </a:solidFill>
          <a:ln w="12700">
            <a:solidFill>
              <a:srgbClr val="16A34A"/>
            </a:solidFill>
            <a:prstDash val="solid"/>
          </a:ln>
        </p:spPr>
        <p:txBody>
          <a:bodyPr/>
          <a:lstStyle/>
          <a:p>
            <a:endParaRPr lang="de-DE"/>
          </a:p>
        </p:txBody>
      </p:sp>
      <p:sp>
        <p:nvSpPr>
          <p:cNvPr id="29" name="Text 27"/>
          <p:cNvSpPr/>
          <p:nvPr/>
        </p:nvSpPr>
        <p:spPr>
          <a:xfrm>
            <a:off x="530352" y="382219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0" name="Text 28"/>
          <p:cNvSpPr/>
          <p:nvPr/>
        </p:nvSpPr>
        <p:spPr>
          <a:xfrm>
            <a:off x="987552" y="3749040"/>
            <a:ext cx="7607808" cy="457200"/>
          </a:xfrm>
          <a:prstGeom prst="rect">
            <a:avLst/>
          </a:prstGeom>
          <a:noFill/>
          <a:ln/>
        </p:spPr>
        <p:txBody>
          <a:bodyPr wrap="square" lIns="0" tIns="0" rIns="0" bIns="0" rtlCol="0" anchor="ctr"/>
          <a:lstStyle/>
          <a:p>
            <a:pPr marL="0" indent="0" algn="l">
              <a:buNone/>
            </a:pPr>
            <a:r>
              <a:rPr lang="en-US" sz="1200" dirty="0">
                <a:solidFill>
                  <a:srgbClr val="111111"/>
                </a:solidFill>
                <a:latin typeface="Arial" pitchFamily="34" charset="0"/>
                <a:ea typeface="Arial" pitchFamily="34" charset="-122"/>
                <a:cs typeface="Arial" pitchFamily="34" charset="-120"/>
              </a:rPr>
              <a:t>Auto-signing out of scope — human signature always required — accepted by client</a:t>
            </a:r>
            <a:endParaRPr lang="en-US" sz="1200" dirty="0"/>
          </a:p>
        </p:txBody>
      </p:sp>
      <p:sp>
        <p:nvSpPr>
          <p:cNvPr id="31" name="Shape 29"/>
          <p:cNvSpPr/>
          <p:nvPr/>
        </p:nvSpPr>
        <p:spPr>
          <a:xfrm>
            <a:off x="0" y="4242816"/>
            <a:ext cx="9144000" cy="640080"/>
          </a:xfrm>
          <a:prstGeom prst="rect">
            <a:avLst/>
          </a:prstGeom>
          <a:solidFill>
            <a:srgbClr val="005AEE"/>
          </a:solidFill>
          <a:ln w="12700">
            <a:solidFill>
              <a:srgbClr val="005AEE"/>
            </a:solidFill>
            <a:prstDash val="solid"/>
          </a:ln>
        </p:spPr>
        <p:txBody>
          <a:bodyPr/>
          <a:lstStyle/>
          <a:p>
            <a:endParaRPr lang="de-DE"/>
          </a:p>
        </p:txBody>
      </p:sp>
      <p:sp>
        <p:nvSpPr>
          <p:cNvPr id="32" name="Text 30"/>
          <p:cNvSpPr/>
          <p:nvPr/>
        </p:nvSpPr>
        <p:spPr>
          <a:xfrm>
            <a:off x="457200" y="4242816"/>
            <a:ext cx="8229600" cy="640080"/>
          </a:xfrm>
          <a:prstGeom prst="rect">
            <a:avLst/>
          </a:prstGeom>
          <a:noFill/>
          <a:ln/>
        </p:spPr>
        <p:txBody>
          <a:bodyPr wrap="square" lIns="0" tIns="0" rIns="0" bIns="0"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Do you approve ContractOS v1.1 for Oracle Game Studio?</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430768" y="4681728"/>
            <a:ext cx="530352" cy="329184"/>
          </a:xfrm>
          <a:prstGeom prst="rect">
            <a:avLst/>
          </a:prstGeom>
          <a:solidFill>
            <a:srgbClr val="005AEE"/>
          </a:solidFill>
          <a:ln w="12700">
            <a:solidFill>
              <a:srgbClr val="005AEE"/>
            </a:solidFill>
            <a:prstDash val="solid"/>
          </a:ln>
        </p:spPr>
        <p:txBody>
          <a:bodyPr/>
          <a:lstStyle/>
          <a:p>
            <a:endParaRPr lang="de-DE"/>
          </a:p>
        </p:txBody>
      </p:sp>
      <p:sp>
        <p:nvSpPr>
          <p:cNvPr id="3" name="Text 1"/>
          <p:cNvSpPr/>
          <p:nvPr/>
        </p:nvSpPr>
        <p:spPr>
          <a:xfrm>
            <a:off x="8430768" y="4681728"/>
            <a:ext cx="530352"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ih</a:t>
            </a:r>
            <a:endParaRPr lang="en-US" sz="1200" dirty="0"/>
          </a:p>
        </p:txBody>
      </p:sp>
      <p:sp>
        <p:nvSpPr>
          <p:cNvPr id="4" name="Shape 2"/>
          <p:cNvSpPr/>
          <p:nvPr/>
        </p:nvSpPr>
        <p:spPr>
          <a:xfrm>
            <a:off x="457200" y="822960"/>
            <a:ext cx="8229600" cy="27432"/>
          </a:xfrm>
          <a:prstGeom prst="rect">
            <a:avLst/>
          </a:prstGeom>
          <a:solidFill>
            <a:srgbClr val="005AEE"/>
          </a:solidFill>
          <a:ln w="12700">
            <a:solidFill>
              <a:srgbClr val="005AEE"/>
            </a:solidFill>
            <a:prstDash val="solid"/>
          </a:ln>
        </p:spPr>
        <p:txBody>
          <a:bodyPr/>
          <a:lstStyle/>
          <a:p>
            <a:endParaRPr lang="de-DE"/>
          </a:p>
        </p:txBody>
      </p:sp>
      <p:sp>
        <p:nvSpPr>
          <p:cNvPr id="5" name="Text 3"/>
          <p:cNvSpPr/>
          <p:nvPr/>
        </p:nvSpPr>
        <p:spPr>
          <a:xfrm>
            <a:off x="457200" y="91440"/>
            <a:ext cx="7955280" cy="694944"/>
          </a:xfrm>
          <a:prstGeom prst="rect">
            <a:avLst/>
          </a:prstGeom>
          <a:noFill/>
          <a:ln/>
        </p:spPr>
        <p:txBody>
          <a:bodyPr wrap="square" lIns="0" tIns="0" rIns="0" bIns="0" rtlCol="0" anchor="ctr"/>
          <a:lstStyle/>
          <a:p>
            <a:pPr marL="0" indent="0" algn="l">
              <a:buNone/>
            </a:pPr>
            <a:r>
              <a:rPr lang="en-US" sz="2400" b="1" dirty="0">
                <a:solidFill>
                  <a:srgbClr val="111111"/>
                </a:solidFill>
                <a:latin typeface="Arial" pitchFamily="34" charset="0"/>
                <a:ea typeface="Arial" pitchFamily="34" charset="-122"/>
                <a:cs typeface="Arial" pitchFamily="34" charset="-120"/>
              </a:rPr>
              <a:t>Debrief — four honest reflections</a:t>
            </a:r>
            <a:endParaRPr lang="en-US" sz="2400" dirty="0"/>
          </a:p>
        </p:txBody>
      </p:sp>
      <p:sp>
        <p:nvSpPr>
          <p:cNvPr id="6" name="Text 4"/>
          <p:cNvSpPr/>
          <p:nvPr/>
        </p:nvSpPr>
        <p:spPr>
          <a:xfrm>
            <a:off x="457200" y="868680"/>
            <a:ext cx="8229600" cy="237744"/>
          </a:xfrm>
          <a:prstGeom prst="rect">
            <a:avLst/>
          </a:prstGeom>
          <a:noFill/>
          <a:ln/>
        </p:spPr>
        <p:txBody>
          <a:bodyPr wrap="square" lIns="0" tIns="0" rIns="0" bIns="0" rtlCol="0" anchor="ctr"/>
          <a:lstStyle/>
          <a:p>
            <a:pPr marL="0" indent="0" algn="r">
              <a:buNone/>
            </a:pPr>
            <a:r>
              <a:rPr lang="en-US" sz="850" b="1" dirty="0">
                <a:solidFill>
                  <a:srgbClr val="005AEE"/>
                </a:solidFill>
                <a:latin typeface="Arial" pitchFamily="34" charset="0"/>
                <a:ea typeface="Arial" pitchFamily="34" charset="-122"/>
                <a:cs typeface="Arial" pitchFamily="34" charset="-120"/>
              </a:rPr>
              <a:t>DEBRIEF</a:t>
            </a:r>
            <a:endParaRPr lang="en-US" sz="850" dirty="0"/>
          </a:p>
        </p:txBody>
      </p:sp>
      <p:sp>
        <p:nvSpPr>
          <p:cNvPr id="7" name="Shape 5"/>
          <p:cNvSpPr/>
          <p:nvPr/>
        </p:nvSpPr>
        <p:spPr>
          <a:xfrm>
            <a:off x="457200" y="1261872"/>
            <a:ext cx="8229600" cy="402336"/>
          </a:xfrm>
          <a:prstGeom prst="rect">
            <a:avLst/>
          </a:prstGeom>
          <a:solidFill>
            <a:srgbClr val="E8F0FD"/>
          </a:solidFill>
          <a:ln w="12700">
            <a:solidFill>
              <a:srgbClr val="005AEE"/>
            </a:solidFill>
            <a:prstDash val="solid"/>
          </a:ln>
        </p:spPr>
        <p:txBody>
          <a:bodyPr/>
          <a:lstStyle/>
          <a:p>
            <a:endParaRPr lang="de-DE"/>
          </a:p>
        </p:txBody>
      </p:sp>
      <p:sp>
        <p:nvSpPr>
          <p:cNvPr id="8" name="Shape 6"/>
          <p:cNvSpPr/>
          <p:nvPr/>
        </p:nvSpPr>
        <p:spPr>
          <a:xfrm>
            <a:off x="457200" y="1261872"/>
            <a:ext cx="45720" cy="402336"/>
          </a:xfrm>
          <a:prstGeom prst="rect">
            <a:avLst/>
          </a:prstGeom>
          <a:solidFill>
            <a:srgbClr val="005AEE"/>
          </a:solidFill>
          <a:ln w="12700">
            <a:solidFill>
              <a:srgbClr val="005AEE"/>
            </a:solidFill>
            <a:prstDash val="solid"/>
          </a:ln>
        </p:spPr>
        <p:txBody>
          <a:bodyPr/>
          <a:lstStyle/>
          <a:p>
            <a:endParaRPr lang="de-DE"/>
          </a:p>
        </p:txBody>
      </p:sp>
      <p:sp>
        <p:nvSpPr>
          <p:cNvPr id="9" name="Text 7"/>
          <p:cNvSpPr/>
          <p:nvPr/>
        </p:nvSpPr>
        <p:spPr>
          <a:xfrm>
            <a:off x="621792" y="1261872"/>
            <a:ext cx="7955280" cy="402336"/>
          </a:xfrm>
          <a:prstGeom prst="rect">
            <a:avLst/>
          </a:prstGeom>
          <a:noFill/>
          <a:ln/>
        </p:spPr>
        <p:txBody>
          <a:bodyPr wrap="square" lIns="0" tIns="0" rIns="0" bIns="0" rtlCol="0" anchor="ctr"/>
          <a:lstStyle/>
          <a:p>
            <a:pPr marL="0" indent="0" algn="l">
              <a:buNone/>
            </a:pPr>
            <a:r>
              <a:rPr lang="en-US" sz="1250" b="1" i="1" dirty="0">
                <a:solidFill>
                  <a:srgbClr val="222222"/>
                </a:solidFill>
                <a:latin typeface="Arial" pitchFamily="34" charset="0"/>
                <a:ea typeface="Arial" pitchFamily="34" charset="-122"/>
                <a:cs typeface="Arial" pitchFamily="34" charset="-120"/>
              </a:rPr>
              <a:t>The goal was judgement under review, not a flawless first draft. Here is what we actually learned.</a:t>
            </a:r>
            <a:endParaRPr lang="en-US" sz="1250" dirty="0"/>
          </a:p>
        </p:txBody>
      </p:sp>
      <p:sp>
        <p:nvSpPr>
          <p:cNvPr id="10" name="Shape 8"/>
          <p:cNvSpPr/>
          <p:nvPr/>
        </p:nvSpPr>
        <p:spPr>
          <a:xfrm>
            <a:off x="457200" y="1783080"/>
            <a:ext cx="4069080" cy="1316736"/>
          </a:xfrm>
          <a:prstGeom prst="rect">
            <a:avLst/>
          </a:prstGeom>
          <a:solidFill>
            <a:srgbClr val="FEF2F2"/>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1" name="Shape 9"/>
          <p:cNvSpPr/>
          <p:nvPr/>
        </p:nvSpPr>
        <p:spPr>
          <a:xfrm>
            <a:off x="566928" y="1892808"/>
            <a:ext cx="384048" cy="384048"/>
          </a:xfrm>
          <a:prstGeom prst="ellipse">
            <a:avLst/>
          </a:prstGeom>
          <a:solidFill>
            <a:srgbClr val="DC2626"/>
          </a:solidFill>
          <a:ln w="12700">
            <a:solidFill>
              <a:srgbClr val="DC2626"/>
            </a:solidFill>
            <a:prstDash val="solid"/>
          </a:ln>
        </p:spPr>
        <p:txBody>
          <a:bodyPr/>
          <a:lstStyle/>
          <a:p>
            <a:endParaRPr lang="de-DE"/>
          </a:p>
        </p:txBody>
      </p:sp>
      <p:sp>
        <p:nvSpPr>
          <p:cNvPr id="12" name="Text 10"/>
          <p:cNvSpPr/>
          <p:nvPr/>
        </p:nvSpPr>
        <p:spPr>
          <a:xfrm>
            <a:off x="566928" y="18928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01</a:t>
            </a:r>
            <a:endParaRPr lang="en-US" sz="1300" dirty="0"/>
          </a:p>
        </p:txBody>
      </p:sp>
      <p:sp>
        <p:nvSpPr>
          <p:cNvPr id="13" name="Text 11"/>
          <p:cNvSpPr/>
          <p:nvPr/>
        </p:nvSpPr>
        <p:spPr>
          <a:xfrm>
            <a:off x="1042416" y="1892808"/>
            <a:ext cx="3383280" cy="384048"/>
          </a:xfrm>
          <a:prstGeom prst="rect">
            <a:avLst/>
          </a:prstGeom>
          <a:noFill/>
          <a:ln/>
        </p:spPr>
        <p:txBody>
          <a:bodyPr wrap="square" lIns="0" tIns="0" rIns="0" bIns="0" rtlCol="0" anchor="ctr"/>
          <a:lstStyle/>
          <a:p>
            <a:pPr marL="0" indent="0" algn="l">
              <a:buNone/>
            </a:pPr>
            <a:r>
              <a:rPr lang="en-US" sz="1000" b="1" dirty="0">
                <a:solidFill>
                  <a:srgbClr val="DC2626"/>
                </a:solidFill>
                <a:latin typeface="Arial" pitchFamily="34" charset="0"/>
                <a:ea typeface="Arial" pitchFamily="34" charset="-122"/>
                <a:cs typeface="Arial" pitchFamily="34" charset="-120"/>
              </a:rPr>
              <a:t>One thing our compliance analysis missed</a:t>
            </a:r>
            <a:endParaRPr lang="en-US" sz="1000" dirty="0"/>
          </a:p>
        </p:txBody>
      </p:sp>
      <p:sp>
        <p:nvSpPr>
          <p:cNvPr id="14" name="Text 12"/>
          <p:cNvSpPr/>
          <p:nvPr/>
        </p:nvSpPr>
        <p:spPr>
          <a:xfrm>
            <a:off x="566928" y="2313432"/>
            <a:ext cx="3840480" cy="713232"/>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We did not address EOR at all in v1.0 — even though Oracle told us in discovery they operate in 5 countries without legal entities. We had the information and missed the gap. Review board caught it via CR-01. Fixed: EOR flag added to Agent 4.</a:t>
            </a:r>
            <a:endParaRPr lang="en-US" sz="900" dirty="0"/>
          </a:p>
        </p:txBody>
      </p:sp>
      <p:sp>
        <p:nvSpPr>
          <p:cNvPr id="15" name="Shape 13"/>
          <p:cNvSpPr/>
          <p:nvPr/>
        </p:nvSpPr>
        <p:spPr>
          <a:xfrm>
            <a:off x="4663440" y="1783080"/>
            <a:ext cx="4069080" cy="1316736"/>
          </a:xfrm>
          <a:prstGeom prst="rect">
            <a:avLst/>
          </a:prstGeom>
          <a:solidFill>
            <a:srgbClr val="F0FDF4"/>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16" name="Shape 14"/>
          <p:cNvSpPr/>
          <p:nvPr/>
        </p:nvSpPr>
        <p:spPr>
          <a:xfrm>
            <a:off x="4773168" y="1892808"/>
            <a:ext cx="384048" cy="384048"/>
          </a:xfrm>
          <a:prstGeom prst="ellipse">
            <a:avLst/>
          </a:prstGeom>
          <a:solidFill>
            <a:srgbClr val="16A34A"/>
          </a:solidFill>
          <a:ln w="12700">
            <a:solidFill>
              <a:srgbClr val="16A34A"/>
            </a:solidFill>
            <a:prstDash val="solid"/>
          </a:ln>
        </p:spPr>
        <p:txBody>
          <a:bodyPr/>
          <a:lstStyle/>
          <a:p>
            <a:endParaRPr lang="de-DE"/>
          </a:p>
        </p:txBody>
      </p:sp>
      <p:sp>
        <p:nvSpPr>
          <p:cNvPr id="17" name="Text 15"/>
          <p:cNvSpPr/>
          <p:nvPr/>
        </p:nvSpPr>
        <p:spPr>
          <a:xfrm>
            <a:off x="4773168" y="189280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02</a:t>
            </a:r>
            <a:endParaRPr lang="en-US" sz="1300" dirty="0"/>
          </a:p>
        </p:txBody>
      </p:sp>
      <p:sp>
        <p:nvSpPr>
          <p:cNvPr id="18" name="Text 16"/>
          <p:cNvSpPr/>
          <p:nvPr/>
        </p:nvSpPr>
        <p:spPr>
          <a:xfrm>
            <a:off x="5248656" y="1892808"/>
            <a:ext cx="3383280" cy="384048"/>
          </a:xfrm>
          <a:prstGeom prst="rect">
            <a:avLst/>
          </a:prstGeom>
          <a:noFill/>
          <a:ln/>
        </p:spPr>
        <p:txBody>
          <a:bodyPr wrap="square" lIns="0" tIns="0" rIns="0" bIns="0" rtlCol="0" anchor="ctr"/>
          <a:lstStyle/>
          <a:p>
            <a:pPr marL="0" indent="0" algn="l">
              <a:buNone/>
            </a:pPr>
            <a:r>
              <a:rPr lang="en-US" sz="1000" b="1" dirty="0">
                <a:solidFill>
                  <a:srgbClr val="16A34A"/>
                </a:solidFill>
                <a:latin typeface="Arial" pitchFamily="34" charset="0"/>
                <a:ea typeface="Arial" pitchFamily="34" charset="-122"/>
                <a:cs typeface="Arial" pitchFamily="34" charset="-120"/>
              </a:rPr>
              <a:t>One thing that made LangSmith land with the client</a:t>
            </a:r>
            <a:endParaRPr lang="en-US" sz="1000" dirty="0"/>
          </a:p>
        </p:txBody>
      </p:sp>
      <p:sp>
        <p:nvSpPr>
          <p:cNvPr id="19" name="Text 17"/>
          <p:cNvSpPr/>
          <p:nvPr/>
        </p:nvSpPr>
        <p:spPr>
          <a:xfrm>
            <a:off x="4773168" y="2313432"/>
            <a:ext cx="3840480" cy="713232"/>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Showing the per-call cost in the LangSmith trace ($0.0068 for the compliance agent). Eugen's implicit concern was that AI would cost more than their current tools. Seeing the actual number — not a promise, an audit log — answered the question before it was asked.</a:t>
            </a:r>
            <a:endParaRPr lang="en-US" sz="900" dirty="0"/>
          </a:p>
        </p:txBody>
      </p:sp>
      <p:sp>
        <p:nvSpPr>
          <p:cNvPr id="20" name="Shape 18"/>
          <p:cNvSpPr/>
          <p:nvPr/>
        </p:nvSpPr>
        <p:spPr>
          <a:xfrm>
            <a:off x="457200" y="3246120"/>
            <a:ext cx="4069080" cy="1316736"/>
          </a:xfrm>
          <a:prstGeom prst="rect">
            <a:avLst/>
          </a:prstGeom>
          <a:solidFill>
            <a:srgbClr val="FFF7ED"/>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1" name="Shape 19"/>
          <p:cNvSpPr/>
          <p:nvPr/>
        </p:nvSpPr>
        <p:spPr>
          <a:xfrm>
            <a:off x="566928" y="3355848"/>
            <a:ext cx="384048" cy="384048"/>
          </a:xfrm>
          <a:prstGeom prst="ellipse">
            <a:avLst/>
          </a:prstGeom>
          <a:solidFill>
            <a:srgbClr val="D97706"/>
          </a:solidFill>
          <a:ln w="12700">
            <a:solidFill>
              <a:srgbClr val="D97706"/>
            </a:solidFill>
            <a:prstDash val="solid"/>
          </a:ln>
        </p:spPr>
        <p:txBody>
          <a:bodyPr/>
          <a:lstStyle/>
          <a:p>
            <a:endParaRPr lang="de-DE"/>
          </a:p>
        </p:txBody>
      </p:sp>
      <p:sp>
        <p:nvSpPr>
          <p:cNvPr id="22" name="Text 20"/>
          <p:cNvSpPr/>
          <p:nvPr/>
        </p:nvSpPr>
        <p:spPr>
          <a:xfrm>
            <a:off x="566928" y="33558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03</a:t>
            </a:r>
            <a:endParaRPr lang="en-US" sz="1300" dirty="0"/>
          </a:p>
        </p:txBody>
      </p:sp>
      <p:sp>
        <p:nvSpPr>
          <p:cNvPr id="23" name="Text 21"/>
          <p:cNvSpPr/>
          <p:nvPr/>
        </p:nvSpPr>
        <p:spPr>
          <a:xfrm>
            <a:off x="1042416" y="3355848"/>
            <a:ext cx="3383280" cy="384048"/>
          </a:xfrm>
          <a:prstGeom prst="rect">
            <a:avLst/>
          </a:prstGeom>
          <a:noFill/>
          <a:ln/>
        </p:spPr>
        <p:txBody>
          <a:bodyPr wrap="square" lIns="0" tIns="0" rIns="0" bIns="0" rtlCol="0" anchor="ctr"/>
          <a:lstStyle/>
          <a:p>
            <a:pPr marL="0" indent="0" algn="l">
              <a:buNone/>
            </a:pPr>
            <a:r>
              <a:rPr lang="en-US" sz="1000" b="1" dirty="0">
                <a:solidFill>
                  <a:srgbClr val="D97706"/>
                </a:solidFill>
                <a:latin typeface="Arial" pitchFamily="34" charset="0"/>
                <a:ea typeface="Arial" pitchFamily="34" charset="-122"/>
                <a:cs typeface="Arial" pitchFamily="34" charset="-120"/>
              </a:rPr>
              <a:t>One change request we disagreed with, and how we handled it</a:t>
            </a:r>
            <a:endParaRPr lang="en-US" sz="1000" dirty="0"/>
          </a:p>
        </p:txBody>
      </p:sp>
      <p:sp>
        <p:nvSpPr>
          <p:cNvPr id="24" name="Text 22"/>
          <p:cNvSpPr/>
          <p:nvPr/>
        </p:nvSpPr>
        <p:spPr>
          <a:xfrm>
            <a:off x="566928" y="3776472"/>
            <a:ext cx="3840480" cy="713232"/>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CR-03 (auto-signing). Client wanted the entire contract workflow automated including signature. We pushed back: multi-jurisdictional employment contracts signed without human review create unacceptable legal risk. We offered pre-signature automation instead. Client accepted.</a:t>
            </a:r>
            <a:endParaRPr lang="en-US" sz="900" dirty="0"/>
          </a:p>
        </p:txBody>
      </p:sp>
      <p:sp>
        <p:nvSpPr>
          <p:cNvPr id="25" name="Shape 23"/>
          <p:cNvSpPr/>
          <p:nvPr/>
        </p:nvSpPr>
        <p:spPr>
          <a:xfrm>
            <a:off x="4663440" y="3246120"/>
            <a:ext cx="4069080" cy="1316736"/>
          </a:xfrm>
          <a:prstGeom prst="rect">
            <a:avLst/>
          </a:prstGeom>
          <a:solidFill>
            <a:srgbClr val="E8F0FD"/>
          </a:solidFill>
          <a:ln w="12700">
            <a:solidFill>
              <a:srgbClr val="E2E8F0"/>
            </a:solidFill>
            <a:prstDash val="solid"/>
          </a:ln>
          <a:effectLst>
            <a:outerShdw blurRad="101600" dist="25400" dir="8100000" algn="bl" rotWithShape="0">
              <a:srgbClr val="000000">
                <a:alpha val="7000"/>
              </a:srgbClr>
            </a:outerShdw>
          </a:effectLst>
        </p:spPr>
        <p:txBody>
          <a:bodyPr/>
          <a:lstStyle/>
          <a:p>
            <a:endParaRPr lang="de-DE"/>
          </a:p>
        </p:txBody>
      </p:sp>
      <p:sp>
        <p:nvSpPr>
          <p:cNvPr id="26" name="Shape 24"/>
          <p:cNvSpPr/>
          <p:nvPr/>
        </p:nvSpPr>
        <p:spPr>
          <a:xfrm>
            <a:off x="4773168" y="3355848"/>
            <a:ext cx="384048" cy="384048"/>
          </a:xfrm>
          <a:prstGeom prst="ellipse">
            <a:avLst/>
          </a:prstGeom>
          <a:solidFill>
            <a:srgbClr val="005AEE"/>
          </a:solidFill>
          <a:ln w="12700">
            <a:solidFill>
              <a:srgbClr val="005AEE"/>
            </a:solidFill>
            <a:prstDash val="solid"/>
          </a:ln>
        </p:spPr>
        <p:txBody>
          <a:bodyPr/>
          <a:lstStyle/>
          <a:p>
            <a:endParaRPr lang="de-DE"/>
          </a:p>
        </p:txBody>
      </p:sp>
      <p:sp>
        <p:nvSpPr>
          <p:cNvPr id="27" name="Text 25"/>
          <p:cNvSpPr/>
          <p:nvPr/>
        </p:nvSpPr>
        <p:spPr>
          <a:xfrm>
            <a:off x="4773168" y="335584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04</a:t>
            </a:r>
            <a:endParaRPr lang="en-US" sz="1300" dirty="0"/>
          </a:p>
        </p:txBody>
      </p:sp>
      <p:sp>
        <p:nvSpPr>
          <p:cNvPr id="28" name="Text 26"/>
          <p:cNvSpPr/>
          <p:nvPr/>
        </p:nvSpPr>
        <p:spPr>
          <a:xfrm>
            <a:off x="5248656" y="3355848"/>
            <a:ext cx="3383280" cy="384048"/>
          </a:xfrm>
          <a:prstGeom prst="rect">
            <a:avLst/>
          </a:prstGeom>
          <a:noFill/>
          <a:ln/>
        </p:spPr>
        <p:txBody>
          <a:bodyPr wrap="square" lIns="0" tIns="0" rIns="0" bIns="0" rtlCol="0" anchor="ctr"/>
          <a:lstStyle/>
          <a:p>
            <a:pPr marL="0" indent="0" algn="l">
              <a:buNone/>
            </a:pPr>
            <a:r>
              <a:rPr lang="en-US" sz="1000" b="1" dirty="0">
                <a:solidFill>
                  <a:srgbClr val="005AEE"/>
                </a:solidFill>
                <a:latin typeface="Arial" pitchFamily="34" charset="0"/>
                <a:ea typeface="Arial" pitchFamily="34" charset="-122"/>
                <a:cs typeface="Arial" pitchFamily="34" charset="-120"/>
              </a:rPr>
              <a:t>One thing we'd do differently in a real, paid engagement</a:t>
            </a:r>
            <a:endParaRPr lang="en-US" sz="1000" dirty="0"/>
          </a:p>
        </p:txBody>
      </p:sp>
      <p:sp>
        <p:nvSpPr>
          <p:cNvPr id="29" name="Text 27"/>
          <p:cNvSpPr/>
          <p:nvPr/>
        </p:nvSpPr>
        <p:spPr>
          <a:xfrm>
            <a:off x="4773168" y="3776472"/>
            <a:ext cx="3840480" cy="713232"/>
          </a:xfrm>
          <a:prstGeom prst="rect">
            <a:avLst/>
          </a:prstGeom>
          <a:noFill/>
          <a:ln/>
        </p:spPr>
        <p:txBody>
          <a:bodyPr wrap="square" lIns="0" tIns="0" rIns="0" bIns="0" rtlCol="0" anchor="ctr"/>
          <a:lstStyle/>
          <a:p>
            <a:pPr marL="0" indent="0" algn="l">
              <a:buNone/>
            </a:pPr>
            <a:r>
              <a:rPr lang="en-US" sz="900" dirty="0">
                <a:solidFill>
                  <a:srgbClr val="111111"/>
                </a:solidFill>
                <a:latin typeface="Arial" pitchFamily="34" charset="0"/>
                <a:ea typeface="Arial" pitchFamily="34" charset="-122"/>
                <a:cs typeface="Arial" pitchFamily="34" charset="-120"/>
              </a:rPr>
              <a:t>Run the technical demo 48 hours before the pitch, not on the day. The LangSmith setup required three rounds of debugging (wrong model name, wrong env var names, JSON parse errors). In a paid engagement that debugging time is billed to the client and damages trust.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2565</Words>
  <Application>Microsoft Office PowerPoint</Application>
  <PresentationFormat>On-screen Show (16:9)</PresentationFormat>
  <Paragraphs>353</Paragraphs>
  <Slides>17</Slides>
  <Notes>17</Notes>
  <HiddenSlides>4</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17</vt:i4>
      </vt:variant>
    </vt:vector>
  </HeadingPairs>
  <TitlesOfParts>
    <vt:vector size="19"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ContractOS — SilverTrust Final Pitch</dc:title>
  <dc:subject>PptxGenJS Presentation</dc:subject>
  <dc:creator>PptxGenJS</dc:creator>
  <cp:lastModifiedBy>Daria Bystrova</cp:lastModifiedBy>
  <cp:revision>2</cp:revision>
  <dcterms:created xsi:type="dcterms:W3CDTF">2026-06-02T14:13:26Z</dcterms:created>
  <dcterms:modified xsi:type="dcterms:W3CDTF">2026-06-02T15:41:50Z</dcterms:modified>
</cp:coreProperties>
</file>