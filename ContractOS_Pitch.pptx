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6" r:id="rId6"/>
    <p:sldId id="261" r:id="rId7"/>
    <p:sldId id="267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3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12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ContractOS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548640" y="2304288"/>
            <a:ext cx="256032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8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Contract &amp; Payroll Intelligence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8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Oracle Game Studio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3375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A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Daria Bystrova &amp; Julian Granados  ·  SilverTrust  ·  Pitch to Review Board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4315968"/>
            <a:ext cx="9144000" cy="850392"/>
          </a:xfrm>
          <a:prstGeom prst="rect">
            <a:avLst/>
          </a:prstGeom>
          <a:solidFill>
            <a:srgbClr val="003FA8"/>
          </a:solidFill>
          <a:ln w="12700">
            <a:solidFill>
              <a:srgbClr val="003F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201168" y="4416552"/>
            <a:ext cx="1627632" cy="640080"/>
          </a:xfrm>
          <a:prstGeom prst="rect">
            <a:avLst/>
          </a:prstGeom>
          <a:solidFill>
            <a:srgbClr val="1A50C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201168" y="4416552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Client &amp; Problem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984248" y="4416552"/>
            <a:ext cx="1627632" cy="640080"/>
          </a:xfrm>
          <a:prstGeom prst="rect">
            <a:avLst/>
          </a:prstGeom>
          <a:solidFill>
            <a:srgbClr val="003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1984248" y="4416552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A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Solution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67328" y="4416552"/>
            <a:ext cx="1627632" cy="640080"/>
          </a:xfrm>
          <a:prstGeom prst="rect">
            <a:avLst/>
          </a:prstGeom>
          <a:solidFill>
            <a:srgbClr val="003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3767328" y="4416552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A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Compliance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50408" y="4416552"/>
            <a:ext cx="1627632" cy="640080"/>
          </a:xfrm>
          <a:prstGeom prst="rect">
            <a:avLst/>
          </a:prstGeom>
          <a:solidFill>
            <a:srgbClr val="003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550408" y="4416552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A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Monitoring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33488" y="4416552"/>
            <a:ext cx="1627632" cy="640080"/>
          </a:xfrm>
          <a:prstGeom prst="rect">
            <a:avLst/>
          </a:prstGeom>
          <a:solidFill>
            <a:srgbClr val="003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7333488" y="4416552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A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Ask</a:t>
            </a:r>
            <a:endParaRPr lang="en-US" sz="1000" dirty="0"/>
          </a:p>
        </p:txBody>
      </p:sp>
      <p:pic>
        <p:nvPicPr>
          <p:cNvPr id="1026" name="Picture 2" descr="Ironhack Reviews | Course Report">
            <a:extLst>
              <a:ext uri="{FF2B5EF4-FFF2-40B4-BE49-F238E27FC236}">
                <a16:creationId xmlns:a16="http://schemas.microsoft.com/office/drawing/2014/main" id="{4901FB2F-E234-EE6B-F135-654037BC9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8053" y="1498387"/>
            <a:ext cx="1516291" cy="1639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Recommendation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621792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4864" cy="62179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Oracle's burn crisis is a cost visibility problem — ContractOS solves it with five AI agents that read every contract, catch every invoice error, and show exactly where the money is going.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9933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supporting arguments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95728"/>
            <a:ext cx="263347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457200" y="2395728"/>
            <a:ext cx="2633472" cy="731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1481328" y="2578608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481328" y="257860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5216" y="3264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real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" y="37673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pain points discovered blind. Revenue side cannot be fixed. Only lever is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2395728"/>
            <a:ext cx="263347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3246120" y="2395728"/>
            <a:ext cx="2633472" cy="731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270248" y="2578608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270248" y="257860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74136" y="3264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is defensible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74136" y="37673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AI agents, one per capability. Human-in-the-loop technically enforced. EU AI Act minimal/limited risk.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35040" y="2395728"/>
            <a:ext cx="263347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6035040" y="2395728"/>
            <a:ext cx="2633472" cy="731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7059168" y="2578608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059168" y="257860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63056" y="3264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is observable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63056" y="37673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live — 6 runs complete, all 5 agents traced, PII redacted, full audit trail for regulators.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has no visibility over where the money goes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Discovered blind — 10 indirect questions, 0 direct pain-point asks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CLIENT &amp; PROBLEM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8229600" cy="420624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457200" y="1261872"/>
            <a:ext cx="54864" cy="42062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640080" y="1261872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people · 5 jurisdictions · high burn · no contract register · no single cost view.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801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/ CTO: </a:t>
            </a: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Eugen </a:t>
            </a:r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CFO: </a:t>
            </a: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Thibaud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5877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</a:t>
            </a: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~900 FTEs, part-time, contractors, interns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98094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Countries: </a:t>
            </a: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Russia · India · Pakistan · Bangladesh · Philippines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7413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</a:t>
            </a: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games, one-time purchase, no subscriptions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7673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Lever: </a:t>
            </a: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side is structurally fixed — only cost can move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18013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 uncovered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2176272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120640" y="2148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contract visibility — 900 contracts unread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46320" y="2505456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120640" y="2478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invoicing — amounts not matching contracts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46320" y="2834640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5120640" y="2807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contractors — duplicate or inactive payments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3163824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120640" y="31363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twice — contractor = internal role scope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46320" y="3493008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5120640" y="34655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cost visibility — burn untraceable by category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46320" y="3822192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120640" y="37947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Multi-country payroll bottleneck + intermediaries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46320" y="4151376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120640" y="41239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unknown — asked unprompted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46320" y="44805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120640" y="44531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at risk — ambiguous contractor IP clauses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pain point was earned through indirect questioning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DISCOVERY EVIDENCE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420624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4864" cy="42062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direct asks. These verbatim quotes from the transcript confirm the problem is real.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457200" y="1810512"/>
            <a:ext cx="45720" cy="658368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58368" y="181051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Eugen  </a:t>
            </a:r>
            <a:r>
              <a:rPr lang="en-US" sz="1150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cannot really tell you what kind of tools we're using... people just want a tool and then we give it to them."  </a:t>
            </a:r>
            <a:r>
              <a:rPr lang="en-US" sz="11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Zero cost visibility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457200" y="2560320"/>
            <a:ext cx="45720" cy="658368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58368" y="256032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Thibaud  </a:t>
            </a:r>
            <a:r>
              <a:rPr lang="en-US" sz="1150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stack is absolutely a mess. Wrong invoicing, pay cycles. There are a lot of problems."  </a:t>
            </a:r>
            <a:r>
              <a:rPr lang="en-US" sz="11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Core pain confirmed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310128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45720" cy="658368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58368" y="33101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Thibaud  </a:t>
            </a:r>
            <a:r>
              <a:rPr lang="en-US" sz="1150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kind of lost track of all the subcontractors we have and we're working with."  </a:t>
            </a:r>
            <a:r>
              <a:rPr lang="en-US" sz="11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Duplicate payments likely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059936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57200" y="4059936"/>
            <a:ext cx="45720" cy="658368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58368" y="4059936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 </a:t>
            </a:r>
            <a:r>
              <a:rPr lang="en-US" sz="1150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"Are we actually compliant by doing what we are doing?" — asked unprompted.  </a:t>
            </a:r>
            <a:r>
              <a:rPr lang="en-US" sz="11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Compliance anxiety real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SOLUTION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7955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ContractOS — five agents, one per capability, zero automated decisions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402336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170432"/>
            <a:ext cx="45720" cy="402336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21792" y="11704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interface. Five AI agents orchestrated by LangGraph. Every output goes to a human before any action.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2608" y="1682496"/>
            <a:ext cx="15910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292608" y="1682496"/>
            <a:ext cx="1591056" cy="5486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795528" y="1810512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795528" y="181051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" y="24871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" y="29809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1</a:t>
            </a:r>
            <a:endParaRPr lang="en-US" sz="900" dirty="0">
              <a:solidFill>
                <a:srgbClr val="005AEE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9768" y="3255264"/>
            <a:ext cx="1316736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365760" y="3328416"/>
            <a:ext cx="1444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ingests contract documents. </a:t>
            </a:r>
          </a:p>
          <a:p>
            <a:pPr marL="171450" indent="-171450" algn="l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extraction prompt returns JSON: name, role, rate, currency, jurisdiction, notice period, IP clause status, GDPR clause status, working arrangement description. </a:t>
            </a:r>
          </a:p>
          <a:p>
            <a:pPr marL="171450" indent="-171450" algn="l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stored in Contract Register DB.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2011680" y="1682496"/>
            <a:ext cx="15910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2011680" y="1682496"/>
            <a:ext cx="1591056" cy="5486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2514600" y="1810512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2514600" y="181051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066544" y="24871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066544" y="29809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48840" y="3255264"/>
            <a:ext cx="1316736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2084832" y="3328416"/>
            <a:ext cx="1444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2075" indent="-92075" algn="l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reads incoming invoice text and compares it against extracted contract terms.</a:t>
            </a:r>
          </a:p>
          <a:p>
            <a:pPr marL="92075" indent="-92075" algn="l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discrepancies in amount, currency, scope, and billing period.</a:t>
            </a:r>
          </a:p>
          <a:p>
            <a:pPr marL="92075" indent="-92075" algn="l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Output: validated / flagged + specific mismatch detail.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3730752" y="1682496"/>
            <a:ext cx="15910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3730752" y="1682496"/>
            <a:ext cx="1591056" cy="5486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233672" y="1810512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4233672" y="181051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785616" y="24871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785616" y="29809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867912" y="3255264"/>
            <a:ext cx="1316736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5"/>
          <p:cNvSpPr/>
          <p:nvPr/>
        </p:nvSpPr>
        <p:spPr>
          <a:xfrm>
            <a:off x="3803904" y="3328416"/>
            <a:ext cx="1444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2075" indent="-92075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LLM compares contractor working arrangement descriptions against internal job role descriptions using semantic similarity. </a:t>
            </a:r>
          </a:p>
          <a:p>
            <a:pPr marL="92075" indent="-92075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Flags pairs where scope overlap exceeds threshold.</a:t>
            </a:r>
          </a:p>
          <a:p>
            <a:pPr marL="92075" indent="-92075">
              <a:buFont typeface="Wingdings" panose="05000000000000000000" pitchFamily="2" charset="2"/>
              <a:buChar char="§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Output: overlap alert with contractor name, internal role, estimated duplicate cost.</a:t>
            </a:r>
          </a:p>
        </p:txBody>
      </p:sp>
      <p:sp>
        <p:nvSpPr>
          <p:cNvPr id="40" name="Shape 38"/>
          <p:cNvSpPr/>
          <p:nvPr/>
        </p:nvSpPr>
        <p:spPr>
          <a:xfrm>
            <a:off x="5449824" y="1682496"/>
            <a:ext cx="15910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5449824" y="1682496"/>
            <a:ext cx="1591056" cy="5486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5952744" y="1810512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Text 41"/>
          <p:cNvSpPr/>
          <p:nvPr/>
        </p:nvSpPr>
        <p:spPr>
          <a:xfrm>
            <a:off x="5952744" y="181051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504688" y="24871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504688" y="29809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4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6984" y="3255264"/>
            <a:ext cx="1316736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Text 45"/>
          <p:cNvSpPr/>
          <p:nvPr/>
        </p:nvSpPr>
        <p:spPr>
          <a:xfrm>
            <a:off x="5522976" y="3328416"/>
            <a:ext cx="1444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LLM checks extracted contract data against jurisdiction-specific rule sets: GDPR clause presence, IP assignment clarity, misclassification indicators, notice period minimums. Output: Red / Amber / Green status + specific flags per contract.</a:t>
            </a:r>
          </a:p>
        </p:txBody>
      </p:sp>
      <p:sp>
        <p:nvSpPr>
          <p:cNvPr id="50" name="Shape 48"/>
          <p:cNvSpPr/>
          <p:nvPr/>
        </p:nvSpPr>
        <p:spPr>
          <a:xfrm>
            <a:off x="7168896" y="1682496"/>
            <a:ext cx="15910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7168896" y="1682496"/>
            <a:ext cx="1591056" cy="5486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Shape 50"/>
          <p:cNvSpPr/>
          <p:nvPr/>
        </p:nvSpPr>
        <p:spPr>
          <a:xfrm>
            <a:off x="7671816" y="1810512"/>
            <a:ext cx="585216" cy="585216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3" name="Text 51"/>
          <p:cNvSpPr/>
          <p:nvPr/>
        </p:nvSpPr>
        <p:spPr>
          <a:xfrm>
            <a:off x="7671816" y="181051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223760" y="24871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Categorisation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23760" y="29809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5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06056" y="3255264"/>
            <a:ext cx="1316736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7" name="Text 55"/>
          <p:cNvSpPr/>
          <p:nvPr/>
        </p:nvSpPr>
        <p:spPr>
          <a:xfrm>
            <a:off x="7242048" y="3328416"/>
            <a:ext cx="1444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LLM normalises ambiguous spend descriptions and categorises all payments by country, contract type, team, and intermediary.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Plain software aggregates and renders the dashboard.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78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Output: categorised cost register + burn trend.</a:t>
            </a:r>
          </a:p>
        </p:txBody>
      </p:sp>
      <p:sp>
        <p:nvSpPr>
          <p:cNvPr id="60" name="Shape 58"/>
          <p:cNvSpPr/>
          <p:nvPr/>
        </p:nvSpPr>
        <p:spPr>
          <a:xfrm>
            <a:off x="0" y="4809744"/>
            <a:ext cx="9144000" cy="347472"/>
          </a:xfrm>
          <a:prstGeom prst="rect">
            <a:avLst/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" name="Shape 59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2" name="Text 60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Human approves every flag before any payment is sent or any contractor is reclassified — this is technically enforced, not just policy.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only where language understanding is required — everything else is plain software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AI vs SOFTWARE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402336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4864" cy="402336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boundary is what keeps the system auditable, maintainable, and cost-efficient.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7739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LLM reasoning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7739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software sufficient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4023360" cy="438912"/>
          </a:xfrm>
          <a:prstGeom prst="rect">
            <a:avLst/>
          </a:prstGeom>
          <a:solidFill>
            <a:srgbClr val="E8F0FD"/>
          </a:solidFill>
          <a:ln w="12700">
            <a:solidFill>
              <a:srgbClr val="C5D9FA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94360" y="21579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Extracting data from unstructured multilingual contract templates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670048"/>
            <a:ext cx="4023360" cy="438912"/>
          </a:xfrm>
          <a:prstGeom prst="rect">
            <a:avLst/>
          </a:prstGeom>
          <a:solidFill>
            <a:srgbClr val="E8F0FD"/>
          </a:solidFill>
          <a:ln w="12700">
            <a:solidFill>
              <a:srgbClr val="C5D9FA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594360" y="267004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Semantic overlap: contractor scope vs internal job role descriptions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82112"/>
            <a:ext cx="4023360" cy="438912"/>
          </a:xfrm>
          <a:prstGeom prst="rect">
            <a:avLst/>
          </a:prstGeom>
          <a:solidFill>
            <a:srgbClr val="E8F0FD"/>
          </a:solidFill>
          <a:ln w="12700">
            <a:solidFill>
              <a:srgbClr val="C5D9FA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94360" y="318211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Misclassification risk from natural language working arrangements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4023360" cy="438912"/>
          </a:xfrm>
          <a:prstGeom prst="rect">
            <a:avLst/>
          </a:prstGeom>
          <a:solidFill>
            <a:srgbClr val="E8F0FD"/>
          </a:solidFill>
          <a:ln w="12700">
            <a:solidFill>
              <a:srgbClr val="C5D9FA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94360" y="369417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Missing clause detection using jurisdiction-specific legal knowledge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4023360" cy="438912"/>
          </a:xfrm>
          <a:prstGeom prst="rect">
            <a:avLst/>
          </a:prstGeom>
          <a:solidFill>
            <a:srgbClr val="E8F0FD"/>
          </a:solidFill>
          <a:ln w="12700">
            <a:solidFill>
              <a:srgbClr val="C5D9FA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94360" y="42062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Invoice anomaly detection across inconsistent multilingual formats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54880" y="2157984"/>
            <a:ext cx="4023360" cy="43891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892040" y="21579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Structured database storage of extracted fields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2670048"/>
            <a:ext cx="4023360" cy="43891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892040" y="267004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Cost dashboard charts and aggregation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3182112"/>
            <a:ext cx="4023360" cy="43891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892040" y="318211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Payment routing via Wise API or local rails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3694176"/>
            <a:ext cx="4023360" cy="43891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4892040" y="369417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Role-based access control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0" y="4206240"/>
            <a:ext cx="4023360" cy="43891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892040" y="42062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Audit trail logging and notifications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7955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Infrastructure 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SOLUTION DESIGN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347472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170432"/>
            <a:ext cx="45720" cy="3474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21792" y="11704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EU-hosted, privacy-first AI intelligence layer — n8n · LangChain · LangGraph · LangSmith — all data stays in EU infrastructure.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609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457200" y="1938528"/>
            <a:ext cx="45720" cy="475488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457200" y="1938528"/>
            <a:ext cx="822960" cy="475488"/>
          </a:xfrm>
          <a:prstGeom prst="rect">
            <a:avLst/>
          </a:prstGeom>
          <a:solidFill>
            <a:srgbClr val="E8F0F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75488" y="1938528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25880" y="197510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&amp; Integration  </a:t>
            </a:r>
            <a:r>
              <a:rPr lang="en-US" sz="9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all data sources: contracts, invoices, payroll exports, HR records, payment confirmations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487168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457200" y="2487168"/>
            <a:ext cx="45720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457200" y="2487168"/>
            <a:ext cx="822960" cy="475488"/>
          </a:xfrm>
          <a:prstGeom prst="rect">
            <a:avLst/>
          </a:prstGeom>
          <a:solidFill>
            <a:srgbClr val="E8F0F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475488" y="2487168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325880" y="252374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Processing  </a:t>
            </a:r>
            <a:r>
              <a:rPr lang="en-US" sz="9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loading, text extraction, chunking, retrieval, structured extraction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035808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457200" y="3035808"/>
            <a:ext cx="4572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57200" y="3035808"/>
            <a:ext cx="822960" cy="475488"/>
          </a:xfrm>
          <a:prstGeom prst="rect">
            <a:avLst/>
          </a:prstGeom>
          <a:solidFill>
            <a:srgbClr val="E8F0F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75488" y="3035808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325880" y="307238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Orchestration  </a:t>
            </a:r>
            <a:r>
              <a:rPr lang="en-US" sz="9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Coordinates 5 AI agents, manages state, routes outputs to human review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584448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57200" y="3584448"/>
            <a:ext cx="45720" cy="4754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57200" y="3584448"/>
            <a:ext cx="822960" cy="475488"/>
          </a:xfrm>
          <a:prstGeom prst="rect">
            <a:avLst/>
          </a:prstGeom>
          <a:solidFill>
            <a:srgbClr val="E8F0F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475488" y="3584448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325880" y="362102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 </a:t>
            </a:r>
            <a:r>
              <a:rPr lang="en-US" sz="9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Traces every LLM call, audit trail, error analysis, model behaviour, prompt versioning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33088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57200" y="4133088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457200" y="4133088"/>
            <a:ext cx="822960" cy="475488"/>
          </a:xfrm>
          <a:prstGeom prst="rect">
            <a:avLst/>
          </a:prstGeom>
          <a:solidFill>
            <a:srgbClr val="E8F0F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475488" y="4133088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Infra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325880" y="416966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 </a:t>
            </a:r>
            <a:r>
              <a:rPr lang="en-US" sz="9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access, encrypted storage, minimal data retention, human approval gates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16093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 Layer — Non-Negotiable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3440" y="1938528"/>
            <a:ext cx="4023360" cy="310896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/>
          <p:cNvSpPr/>
          <p:nvPr/>
        </p:nvSpPr>
        <p:spPr>
          <a:xfrm>
            <a:off x="4709160" y="193852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All agent outputs → human approval queue → only then action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2304288"/>
            <a:ext cx="4023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36592" y="2432304"/>
            <a:ext cx="164592" cy="164592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9"/>
          <p:cNvSpPr/>
          <p:nvPr/>
        </p:nvSpPr>
        <p:spPr>
          <a:xfrm>
            <a:off x="4983480" y="230428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Team:  </a:t>
            </a: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/ reject invoice payments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663440" y="2779776"/>
            <a:ext cx="4023360" cy="42062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4736592" y="2907792"/>
            <a:ext cx="164592" cy="164592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Text 42"/>
          <p:cNvSpPr/>
          <p:nvPr/>
        </p:nvSpPr>
        <p:spPr>
          <a:xfrm>
            <a:off x="4983480" y="27797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/ Compliance:  </a:t>
            </a: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Escalate compliance risks, review misclassification flags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3255264"/>
            <a:ext cx="4023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36592" y="3383280"/>
            <a:ext cx="164592" cy="164592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Text 45"/>
          <p:cNvSpPr/>
          <p:nvPr/>
        </p:nvSpPr>
        <p:spPr>
          <a:xfrm>
            <a:off x="4983480" y="325526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 </a:t>
            </a: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 duplicate work, update contractor register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3730752"/>
            <a:ext cx="4023360" cy="42062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4736592" y="3858768"/>
            <a:ext cx="164592" cy="164592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Text 48"/>
          <p:cNvSpPr/>
          <p:nvPr/>
        </p:nvSpPr>
        <p:spPr>
          <a:xfrm>
            <a:off x="4983480" y="373075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/ CTO (Eugen):  </a:t>
            </a: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cost dashboard, approve strategic decisions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206240"/>
            <a:ext cx="4023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2" name="Shape 50"/>
          <p:cNvSpPr/>
          <p:nvPr/>
        </p:nvSpPr>
        <p:spPr>
          <a:xfrm>
            <a:off x="4736592" y="4334256"/>
            <a:ext cx="164592" cy="164592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3" name="Text 51"/>
          <p:cNvSpPr/>
          <p:nvPr/>
        </p:nvSpPr>
        <p:spPr>
          <a:xfrm>
            <a:off x="4983480" y="420624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(Thibaud):  </a:t>
            </a: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payment holds, review cost reduction flags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ContractOS is minimal/limited risk — justified, not asserted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COMPLIANCE — EU AI ACT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512064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4864" cy="51206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agent executes a decision. Every output goes to a named human before action. This is what keeps the classification defensible.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83664"/>
            <a:ext cx="3931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457200" y="1883664"/>
            <a:ext cx="39319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1883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RISK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23957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extraction · Cost dashboard · Payment tracking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Surfaces information only. No decisions affecting individuals.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00600" y="1883664"/>
            <a:ext cx="3931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800600" y="1883664"/>
            <a:ext cx="393192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23957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detection · Misclassification flagging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Touches Annex III pt.4 territory — human legal review required before any reclassification.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4290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&amp; Obligations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22192"/>
            <a:ext cx="3931920" cy="126187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457200" y="3822192"/>
            <a:ext cx="45720" cy="12618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658368" y="3877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SilverTrust = PROVIDER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42062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Maintain technical documentation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" y="4480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Implement quality management + logging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" y="47548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Ensure human oversight is technically enforced — not just policy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00600" y="3822192"/>
            <a:ext cx="3931920" cy="1261872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00600" y="3822192"/>
            <a:ext cx="45720" cy="12618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01768" y="3877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Game Studio = DEPLOYER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01768" y="42062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Maintain human review for all flags before action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01768" y="4480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Inform workers AI analyses their contracts (transparency obligation)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01768" y="47548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Conduct own DPIA before deployment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data use has a named lawful basis — three LIAs completed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GDPR &amp; OTHER LAW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402336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4864" cy="402336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personal data leaves EU infrastructure. LLM processing runs under documented legitimate interest.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73936"/>
            <a:ext cx="2788920" cy="3474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17739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data use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1773936"/>
            <a:ext cx="1874520" cy="3474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3319272" y="177393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Lawful basis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1773936"/>
            <a:ext cx="1280160" cy="3474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5193792" y="177393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1773936"/>
            <a:ext cx="2286000" cy="34747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6473952" y="17739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/ 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157984"/>
            <a:ext cx="2788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30352" y="21579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Employment contracts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157984"/>
            <a:ext cx="18745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3319272" y="2157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performance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20640" y="2157984"/>
            <a:ext cx="12801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5193792" y="21579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6(1)(b)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2157984"/>
            <a:ext cx="2286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6473952" y="21579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consent needed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542032"/>
            <a:ext cx="278892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530352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Payroll records &amp; invoices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542032"/>
            <a:ext cx="187452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3319272" y="25420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obligation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120640" y="2542032"/>
            <a:ext cx="128016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193792" y="2542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6(1)(c)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2542032"/>
            <a:ext cx="228600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6473952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+ labour law retention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2926080"/>
            <a:ext cx="2788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3"/>
          <p:cNvSpPr/>
          <p:nvPr/>
        </p:nvSpPr>
        <p:spPr>
          <a:xfrm>
            <a:off x="530352" y="2926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contract processing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926080"/>
            <a:ext cx="18745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5"/>
          <p:cNvSpPr/>
          <p:nvPr/>
        </p:nvSpPr>
        <p:spPr>
          <a:xfrm>
            <a:off x="3319272" y="2926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interest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120640" y="2926080"/>
            <a:ext cx="12801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Text 37"/>
          <p:cNvSpPr/>
          <p:nvPr/>
        </p:nvSpPr>
        <p:spPr>
          <a:xfrm>
            <a:off x="5193792" y="2926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6(1)(f)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2926080"/>
            <a:ext cx="2286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9"/>
          <p:cNvSpPr/>
          <p:nvPr/>
        </p:nvSpPr>
        <p:spPr>
          <a:xfrm>
            <a:off x="6473952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 completed · EU infra only · DPA signed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310128"/>
            <a:ext cx="278892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Text 41"/>
          <p:cNvSpPr/>
          <p:nvPr/>
        </p:nvSpPr>
        <p:spPr>
          <a:xfrm>
            <a:off x="530352" y="3310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traces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46120" y="3310128"/>
            <a:ext cx="187452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Text 43"/>
          <p:cNvSpPr/>
          <p:nvPr/>
        </p:nvSpPr>
        <p:spPr>
          <a:xfrm>
            <a:off x="3319272" y="33101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interest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20640" y="3310128"/>
            <a:ext cx="128016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Text 45"/>
          <p:cNvSpPr/>
          <p:nvPr/>
        </p:nvSpPr>
        <p:spPr>
          <a:xfrm>
            <a:off x="5193792" y="33101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6(1)(f)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0" y="3310128"/>
            <a:ext cx="2286000" cy="365760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6473952" y="3310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redacted · 90-day retention max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376732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Applicable Law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4133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DBA Act (2025):  </a:t>
            </a: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4 flags misclassification — human + legal review before reclassification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 BetrVG:  </a:t>
            </a: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council consulted before go-live — SilverTrust provides technical documentation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57200" y="460857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DPDP / Philippines DPA:  </a:t>
            </a: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stays EU-side — local counsel for processing obligations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Russia:  </a:t>
            </a:r>
            <a:r>
              <a:rPr lang="en-US" sz="10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 v1 — sanctions + data localisation require specialist legal advice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black box has windows — every AI decision is logged and auditable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MONITORING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475488"/>
          </a:xfrm>
          <a:prstGeom prst="rect">
            <a:avLst/>
          </a:prstGeom>
          <a:solidFill>
            <a:srgbClr val="E8F0FD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4864" cy="475488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regulator asks what happened with a specific contractor's data, we show the complete chain in under five minutes.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47088"/>
            <a:ext cx="4023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457200" y="1847088"/>
            <a:ext cx="45720" cy="5303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21792" y="18470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confidence  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&lt; 0.80 on rate, jurisdiction, IP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450592"/>
            <a:ext cx="4023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457200" y="2450592"/>
            <a:ext cx="45720" cy="5303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21792" y="2450592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override rate  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&gt; 20% in 7-day window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4023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457200" y="3054096"/>
            <a:ext cx="45720" cy="5303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21792" y="3054096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per agent  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p95 &gt; 30 seconds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847088"/>
            <a:ext cx="4023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663440" y="1847088"/>
            <a:ext cx="45720" cy="5303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828032" y="18470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extractions  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tolerance — immediate alert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450592"/>
            <a:ext cx="4023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663440" y="2450592"/>
            <a:ext cx="45720" cy="5303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828032" y="2450592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flag trend  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if Red &gt; 10% of new contracts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054096"/>
            <a:ext cx="4023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4663440" y="3054096"/>
            <a:ext cx="45720" cy="53035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828032" y="3054096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redaction audit  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— zero tolerance for PII in traces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712464"/>
            <a:ext cx="8229600" cy="1353312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45720" cy="13533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640080" y="376732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Live — contractos-oracle-prod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114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runs complete  ·  All 5 agents traced  ·  EU endpoint: eu.api.smith.langchain.com  ·  PII redacted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44348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"Here is where you can see everything the AI did, catch a mistake before it costs you money, and prove to an auditor exactly what happened — in under five minutes."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8430768" y="468172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5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ASK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109728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Ask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530352" y="1216152"/>
            <a:ext cx="329184" cy="329184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1216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114300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discovered blind — 9 pain points confirmed by verbatim transcript evidence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475488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30352" y="1764792"/>
            <a:ext cx="329184" cy="329184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169164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addresses all 9 pain points with 5 dedicated AI agents — each maps to exactly one capability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24028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530352" y="2313432"/>
            <a:ext cx="329184" cy="329184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2313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5840" y="224028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Act: Minimal / Limited risk — justified, not asserted — human-in-the-loop technically enforced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475488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530352" y="2862072"/>
            <a:ext cx="329184" cy="329184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30352" y="2862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27889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GDPR: 3 lawful bases documented, 3 LIAs completed, subject rights handled, data stays EU-side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530352" y="3410712"/>
            <a:ext cx="329184" cy="329184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30352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" y="333756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LangSmith: 6 runs live, all 5 agents traced, PII redacted, complete audit trail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5F6F8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530352" y="3959352"/>
            <a:ext cx="329184" cy="329184"/>
          </a:xfrm>
          <a:prstGeom prst="ellipse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30352" y="3959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05840" y="388620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ContractOS gets Oracle back to black numbers — cost reduction measurable from day 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572000"/>
            <a:ext cx="9144000" cy="621792"/>
          </a:xfrm>
          <a:prstGeom prst="rect">
            <a:avLst/>
          </a:prstGeom>
          <a:solidFill>
            <a:srgbClr val="005AEE"/>
          </a:solidFill>
          <a:ln w="12700">
            <a:solidFill>
              <a:srgbClr val="005AE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457200" y="45720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approve ContractOS for Oracle Game Studio — or what needs to change?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1612</Words>
  <Application>Microsoft Office PowerPoint</Application>
  <PresentationFormat>On-screen Show (16:9)</PresentationFormat>
  <Paragraphs>215</Paragraphs>
  <Slides>11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ContractOS — SilverTrust Pitch</dc:title>
  <dc:subject>PptxGenJS Presentation</dc:subject>
  <dc:creator>PptxGenJS</dc:creator>
  <cp:lastModifiedBy>Daria Bystrova</cp:lastModifiedBy>
  <cp:revision>6</cp:revision>
  <dcterms:created xsi:type="dcterms:W3CDTF">2026-06-01T20:33:28Z</dcterms:created>
  <dcterms:modified xsi:type="dcterms:W3CDTF">2026-06-02T09:07:07Z</dcterms:modified>
</cp:coreProperties>
</file>